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và các bạn! Em là [tên], học sinh lớp [..]. Hôm nay chúng em xin trình bày chủ đề: phát triển mối quan hệ hòa đồng, hợp tác với thầy cô và bạn bè. Chúng em chia làm 2 phần: Tiết 1 kết nối và chia sẻ, Tiết 2 cùng nhau thực hành xử lí tình huống. Rất mong cả lớp tham gia nhiệt tình!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trình bày gồm 2 tiết như trên màn hình. Các bạn nhìn theo dõi và giúp chúng em bằng cách tham gia thật nhiệt tình nhé!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mong sau buổi này cả lớp hiểu hơn và thân nhau hơn. Nên rất cần các bạn cùng lắng nghe và tham gia.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ta chơi nhỏ: quay sang bạn bên cạnh chia sẻ 1 phút theo 3 câu hỏi. Bạn nào xung phong nói với cả lớp? Những điều các bạn vừa kể - như trò chuyện, giúp đỡ, dám hỏi - chính là kĩ năng hòa đồng và hợp tác mà hôm nay chúng em muốn cả lớp cùng rèn.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cách hiểu của chúng em: hòa đồng là cởi mở, thân thiện; hợp tác là cùng chung sức và cùng chịu trách nhiệm. Lớp nào hòa đồng, hợp tác thì ai cũng vui và học tốt hơn. Các bạn có đồng ý không?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thấy chỉ cần 4 việc rất gần gũi là bạn bè thân nhau hơn: trò chuyện, cùng học, cùng chơi, lắng nghe nhau. Các bạn còn cách nào nữa không? Mọi người góp thêm nhé - ví dụ nhắn tin hỏi thăm bạn ốm, khen bạn làm bài tốt, rủ bạn ăn sáng cùng…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Kinh nghiệm nhóm của chúng em gói trong 4 bước: lên kế hoạch, phân công, lắng nghe, giúp nhau về đích. Thử nghĩ: nếu thiếu bước phân công thì sao? Sẽ có bạn làm, bạn chơi! Các bạn thường vướng bước nào nhất?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bạn ngại nói chuyện với thầy cô - chúng em hiểu cảm giác đó. Nhưng khi mạnh dạn hỏi, chúng em nhận ra thầy cô luôn sẵn sàng giúp đỡ. Chỉ cần lễ phép, lắng nghe và thành thật chia sẻ là mọi chuyện dễ hơn nhiều!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kể một kỉ niệm nhỏ của em: ... (kể theo 3 phần). Bạn nào cũng có một kỉ niệm như vậy - hãy thay câu chuyện mẫu bằng chuyện thật của mình khi trình bày nhé!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Bây giờ tới phần trao đổi cùng cả lớp! Với mỗi tình huống, nhóm em sẽ đọc đề và đặt ba câu hỏi ngắn. Các bạn suy nghĩ khoảng 30 giây, sau đó giơ tay trả lời. Nhóm em lắng nghe, ghi ý chính rồi chốt lại kĩ năng. Mời thầy cô và các bạn cùng tham gia 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1,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2,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3,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kịch bản mẫu nhóm em dùng để hỏi cả lớp, không phải kịch diễn. Bạn dẫn chuyện đọc đề; bạn hỏi lần lượt đặt câu; chờ khoảng 30 giây để các bạn giơ tay. Bạn tổng hợp ghi ý chính, cảm ơn cả lớp rồi chốt kĩ năng.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ba tình huống vừa rồi, chúng em rút ra bốn điều: nhắc khéo thay vì trách móc; quan tâm bạn đúng lúc; đón bạn mới cởi mở; và chuyển từ việc của tôi thành việc của chúng ta. Các bạn thấy điều nào gần gũi với mình nhất?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ví lớp như một cỗ máy hoàn hảo: mỗi bạn một vai trò. Hãy chọn điều mình làm tốt nhất để giúp lớp - chẳng hạn lắng nghe, rủ bạn chơi, hay động viên mọi người. Bạn nào giơ tay kể điểm mạnh của mình nào?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lời nói đi đôi với việc làm, chúng em đề nghị mỗi bạn chọn một trong bốn hành động và thực hiện trong tuần này. Tuần sau ai cũng có thể chia sẻ kết quả của mình. Chúng em tin lớp mình làm được!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 cô và các bạn đã lắng nghe và tham gia nhiệt tình! Nếu ai có câu hỏi hay góp ý, chúng em rất vui được trao đổi. Đừng quên cam kết nhỏ của cả lớp trong tuần này nhé!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3.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eart-circle-fill.png"/>
          <p:cNvPicPr>
            <a:picLocks noChangeAspect="1"/>
          </p:cNvPicPr>
          <p:nvPr/>
        </p:nvPicPr>
        <p:blipFill>
          <a:blip r:embed="rId2"/>
          <a:stretch>
            <a:fillRect/>
          </a:stretch>
        </p:blipFill>
        <p:spPr>
          <a:xfrm>
            <a:off x="603504" y="722376"/>
            <a:ext cx="365760" cy="347472"/>
          </a:xfrm>
          <a:prstGeom prst="rect">
            <a:avLst/>
          </a:prstGeom>
        </p:spPr>
      </p:pic>
      <p:sp>
        <p:nvSpPr>
          <p:cNvPr id="15" name="Rounded Rectangle 14"/>
          <p:cNvSpPr/>
          <p:nvPr/>
        </p:nvSpPr>
        <p:spPr>
          <a:xfrm>
            <a:off x="1115568" y="713232"/>
            <a:ext cx="4238864"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spc="160">
                <a:solidFill>
                  <a:srgbClr val="0A66E0"/>
                </a:solidFill>
                <a:latin typeface="Liberation Sans"/>
              </a:rPr>
              <a:t>HOẠT ĐỘNG TRẢI NGHIỆM · HƯỚNG NGHIỆP — THCS</a:t>
            </a:r>
          </a:p>
        </p:txBody>
      </p:sp>
      <p:sp>
        <p:nvSpPr>
          <p:cNvPr id="16" name="TextBox 15"/>
          <p:cNvSpPr txBox="1"/>
          <p:nvPr/>
        </p:nvSpPr>
        <p:spPr>
          <a:xfrm>
            <a:off x="603504" y="1371600"/>
            <a:ext cx="6949440" cy="548640"/>
          </a:xfrm>
          <a:prstGeom prst="rect">
            <a:avLst/>
          </a:prstGeom>
          <a:noFill/>
        </p:spPr>
        <p:txBody>
          <a:bodyPr wrap="square" anchor="t" lIns="0" rIns="0" tIns="0" bIns="0">
            <a:spAutoFit/>
          </a:bodyPr>
          <a:lstStyle/>
          <a:p>
            <a:pPr algn="l"/>
            <a:r>
              <a:rPr sz="3700" b="1" i="0">
                <a:solidFill>
                  <a:srgbClr val="101631"/>
                </a:solidFill>
                <a:latin typeface="Liberation Sans"/>
              </a:rPr>
              <a:t>Phát triển mối quan hệ</a:t>
            </a:r>
          </a:p>
        </p:txBody>
      </p:sp>
      <p:sp>
        <p:nvSpPr>
          <p:cNvPr id="17" name="TextBox 16"/>
          <p:cNvSpPr txBox="1"/>
          <p:nvPr/>
        </p:nvSpPr>
        <p:spPr>
          <a:xfrm>
            <a:off x="603504" y="1956816"/>
            <a:ext cx="7223760" cy="548640"/>
          </a:xfrm>
          <a:prstGeom prst="rect">
            <a:avLst/>
          </a:prstGeom>
          <a:noFill/>
        </p:spPr>
        <p:txBody>
          <a:bodyPr wrap="square" anchor="t" lIns="0" rIns="0" tIns="0" bIns="0">
            <a:spAutoFit/>
          </a:bodyPr>
          <a:lstStyle/>
          <a:p>
            <a:pPr algn="l"/>
            <a:r>
              <a:rPr sz="3700" b="1" i="0">
                <a:solidFill>
                  <a:srgbClr val="5A54D6"/>
                </a:solidFill>
                <a:latin typeface="Liberation Sans"/>
              </a:rPr>
              <a:t>hòa đồng, hợp tác</a:t>
            </a:r>
          </a:p>
        </p:txBody>
      </p:sp>
      <p:sp>
        <p:nvSpPr>
          <p:cNvPr id="18" name="TextBox 17"/>
          <p:cNvSpPr txBox="1"/>
          <p:nvPr/>
        </p:nvSpPr>
        <p:spPr>
          <a:xfrm>
            <a:off x="603504" y="2542032"/>
            <a:ext cx="7223760" cy="548640"/>
          </a:xfrm>
          <a:prstGeom prst="rect">
            <a:avLst/>
          </a:prstGeom>
          <a:noFill/>
        </p:spPr>
        <p:txBody>
          <a:bodyPr wrap="square" anchor="t" lIns="0" rIns="0" tIns="0" bIns="0">
            <a:spAutoFit/>
          </a:bodyPr>
          <a:lstStyle/>
          <a:p>
            <a:pPr algn="l"/>
            <a:r>
              <a:rPr sz="3700" b="1" i="0">
                <a:solidFill>
                  <a:srgbClr val="101631"/>
                </a:solidFill>
                <a:latin typeface="Liberation Sans"/>
              </a:rPr>
              <a:t>với thầy cô và bạn bè</a:t>
            </a:r>
          </a:p>
        </p:txBody>
      </p:sp>
      <p:sp>
        <p:nvSpPr>
          <p:cNvPr id="19" name="TextBox 18"/>
          <p:cNvSpPr txBox="1"/>
          <p:nvPr/>
        </p:nvSpPr>
        <p:spPr>
          <a:xfrm>
            <a:off x="603504" y="3273552"/>
            <a:ext cx="6675120" cy="365760"/>
          </a:xfrm>
          <a:prstGeom prst="rect">
            <a:avLst/>
          </a:prstGeom>
          <a:noFill/>
        </p:spPr>
        <p:txBody>
          <a:bodyPr wrap="square" anchor="t" lIns="0" rIns="0" tIns="0" bIns="0">
            <a:spAutoFit/>
          </a:bodyPr>
          <a:lstStyle/>
          <a:p>
            <a:pPr algn="l"/>
            <a:r>
              <a:rPr sz="1450" b="0" i="1">
                <a:solidFill>
                  <a:srgbClr val="4E5879"/>
                </a:solidFill>
                <a:latin typeface="Liberation Sans"/>
              </a:rPr>
              <a:t>Kết nối thật nhiều, để lớp mình gần nhau hơn mỗi ngày.</a:t>
            </a:r>
          </a:p>
        </p:txBody>
      </p:sp>
      <p:sp>
        <p:nvSpPr>
          <p:cNvPr id="20" name="Rounded Rectangle 19"/>
          <p:cNvSpPr/>
          <p:nvPr/>
        </p:nvSpPr>
        <p:spPr>
          <a:xfrm>
            <a:off x="603504" y="3803904"/>
            <a:ext cx="2518772"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0E9E96"/>
                </a:solidFill>
                <a:latin typeface="Liberation Sans"/>
              </a:rPr>
              <a:t>TIẾT 1 · KẾT NỐI VÀ CHIA SẺ</a:t>
            </a:r>
          </a:p>
        </p:txBody>
      </p:sp>
      <p:sp>
        <p:nvSpPr>
          <p:cNvPr id="21" name="Rounded Rectangle 20"/>
          <p:cNvSpPr/>
          <p:nvPr/>
        </p:nvSpPr>
        <p:spPr>
          <a:xfrm>
            <a:off x="3305156" y="3803904"/>
            <a:ext cx="2391346"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DE1F8B"/>
                </a:solidFill>
                <a:latin typeface="Liberation Sans"/>
              </a:rPr>
              <a:t>TIẾT 2 · CÙNG THỰC HÀNH</a:t>
            </a:r>
          </a:p>
        </p:txBody>
      </p:sp>
      <p:sp>
        <p:nvSpPr>
          <p:cNvPr id="22" name="Rounded Rectangle 21"/>
          <p:cNvSpPr/>
          <p:nvPr/>
        </p:nvSpPr>
        <p:spPr>
          <a:xfrm>
            <a:off x="603504" y="4572000"/>
            <a:ext cx="6126480" cy="120700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773168"/>
            <a:ext cx="5669280" cy="868680"/>
          </a:xfrm>
          <a:prstGeom prst="rect">
            <a:avLst/>
          </a:prstGeom>
          <a:noFill/>
        </p:spPr>
        <p:txBody>
          <a:bodyPr wrap="square" anchor="t" lIns="0" rIns="0" tIns="0" bIns="0">
            <a:spAutoFit/>
          </a:bodyPr>
          <a:lstStyle/>
          <a:p>
            <a:pPr algn="l">
              <a:spcAft>
                <a:spcPts val="500"/>
              </a:spcAft>
            </a:pPr>
            <a:r>
              <a:rPr sz="1250" b="0" i="0">
                <a:solidFill>
                  <a:srgbClr val="4E5879"/>
                </a:solidFill>
                <a:latin typeface="Liberation Sans"/>
              </a:rPr>
              <a:t>Người trình bày:  </a:t>
            </a:r>
            <a:r>
              <a:rPr sz="1250" b="1" i="0">
                <a:solidFill>
                  <a:srgbClr val="101631"/>
                </a:solidFill>
                <a:latin typeface="Liberation Sans"/>
              </a:rPr>
              <a:t>[Tên em / nhóm em]</a:t>
            </a:r>
          </a:p>
          <a:p>
            <a:pPr algn="l">
              <a:spcAft>
                <a:spcPts val="500"/>
              </a:spcAft>
            </a:pPr>
            <a:r>
              <a:rPr sz="1250" b="0" i="0">
                <a:solidFill>
                  <a:srgbClr val="4E5879"/>
                </a:solidFill>
                <a:latin typeface="Liberation Sans"/>
              </a:rPr>
              <a:t>Lớp – Trường:  </a:t>
            </a:r>
            <a:r>
              <a:rPr sz="1250" b="1" i="0">
                <a:solidFill>
                  <a:srgbClr val="101631"/>
                </a:solidFill>
                <a:latin typeface="Liberation Sans"/>
              </a:rPr>
              <a:t>[Lớp … – Tên trường]</a:t>
            </a:r>
          </a:p>
          <a:p>
            <a:pPr algn="l"/>
            <a:r>
              <a:rPr sz="1250" b="0" i="0">
                <a:solidFill>
                  <a:srgbClr val="4E5879"/>
                </a:solidFill>
                <a:latin typeface="Liberation Sans"/>
              </a:rPr>
              <a:t>Ngày trình bày:  </a:t>
            </a:r>
            <a:r>
              <a:rPr sz="1250" b="1" i="0">
                <a:solidFill>
                  <a:srgbClr val="101631"/>
                </a:solidFill>
                <a:latin typeface="Liberation Sans"/>
              </a:rPr>
              <a:t>[… / … / 2026]</a:t>
            </a:r>
          </a:p>
        </p:txBody>
      </p:sp>
      <p:sp>
        <p:nvSpPr>
          <p:cNvPr id="24" name="Oval 23"/>
          <p:cNvSpPr/>
          <p:nvPr/>
        </p:nvSpPr>
        <p:spPr>
          <a:xfrm>
            <a:off x="7955279" y="1691640"/>
            <a:ext cx="3017520" cy="3017520"/>
          </a:xfrm>
          <a:prstGeom prst="ellipse">
            <a:avLst/>
          </a:prstGeom>
          <a:effectLst/>
          <a:solidFill>
            <a:srgbClr val="FFFFFF">
              <a:alpha val="26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58200" y="1828799"/>
            <a:ext cx="2377440" cy="2377440"/>
          </a:xfrm>
          <a:prstGeom prst="ellipse">
            <a:avLst/>
          </a:prstGeom>
          <a:effectLst/>
          <a:solidFill>
            <a:srgbClr val="FFFFFF">
              <a:alpha val="22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343900" y="2491740"/>
            <a:ext cx="1783080" cy="1783080"/>
          </a:xfrm>
          <a:prstGeom prst="ellipse">
            <a:avLst/>
          </a:prstGeom>
          <a:effectLst/>
          <a:solidFill>
            <a:srgbClr val="FFFFFF">
              <a:alpha val="18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rot="21120000">
            <a:off x="8549640" y="2348179"/>
            <a:ext cx="658368" cy="625449"/>
          </a:xfrm>
          <a:prstGeom prst="rect">
            <a:avLst/>
          </a:prstGeom>
        </p:spPr>
      </p:pic>
      <p:pic>
        <p:nvPicPr>
          <p:cNvPr id="28" name="Picture 27" descr="bubble-left-fill.png"/>
          <p:cNvPicPr>
            <a:picLocks noChangeAspect="1"/>
          </p:cNvPicPr>
          <p:nvPr/>
        </p:nvPicPr>
        <p:blipFill>
          <a:blip r:embed="rId3"/>
          <a:stretch>
            <a:fillRect/>
          </a:stretch>
        </p:blipFill>
        <p:spPr>
          <a:xfrm>
            <a:off x="10195560" y="2826715"/>
            <a:ext cx="566928" cy="491337"/>
          </a:xfrm>
          <a:prstGeom prst="rect">
            <a:avLst/>
          </a:prstGeom>
        </p:spPr>
      </p:pic>
      <p:pic>
        <p:nvPicPr>
          <p:cNvPr id="29" name="Picture 28" descr="person-2-fill.png"/>
          <p:cNvPicPr>
            <a:picLocks noChangeAspect="1"/>
          </p:cNvPicPr>
          <p:nvPr/>
        </p:nvPicPr>
        <p:blipFill>
          <a:blip r:embed="rId4"/>
          <a:stretch>
            <a:fillRect/>
          </a:stretch>
        </p:blipFill>
        <p:spPr>
          <a:xfrm rot="480000">
            <a:off x="8869680" y="3984413"/>
            <a:ext cx="530352" cy="333925"/>
          </a:xfrm>
          <a:prstGeom prst="rect">
            <a:avLst/>
          </a:prstGeom>
        </p:spPr>
      </p:pic>
      <p:pic>
        <p:nvPicPr>
          <p:cNvPr id="30" name="Picture 29" descr="sparkles.png"/>
          <p:cNvPicPr>
            <a:picLocks noChangeAspect="1"/>
          </p:cNvPicPr>
          <p:nvPr/>
        </p:nvPicPr>
        <p:blipFill>
          <a:blip r:embed="rId5"/>
          <a:stretch>
            <a:fillRect/>
          </a:stretch>
        </p:blipFill>
        <p:spPr>
          <a:xfrm>
            <a:off x="10405654" y="4343400"/>
            <a:ext cx="402771" cy="457200"/>
          </a:xfrm>
          <a:prstGeom prst="rect">
            <a:avLst/>
          </a:prstGeom>
        </p:spPr>
      </p:pic>
      <p:sp>
        <p:nvSpPr>
          <p:cNvPr id="31" name="Rounded Rectangle 30"/>
          <p:cNvSpPr/>
          <p:nvPr/>
        </p:nvSpPr>
        <p:spPr>
          <a:xfrm>
            <a:off x="7635240" y="5138928"/>
            <a:ext cx="921893"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0E9E96"/>
                </a:solidFill>
                <a:latin typeface="Liberation Sans"/>
              </a:rPr>
              <a:t>Hòa đồng</a:t>
            </a:r>
          </a:p>
        </p:txBody>
      </p:sp>
      <p:sp>
        <p:nvSpPr>
          <p:cNvPr id="32" name="Rounded Rectangle 31"/>
          <p:cNvSpPr/>
          <p:nvPr/>
        </p:nvSpPr>
        <p:spPr>
          <a:xfrm>
            <a:off x="10058400" y="5358384"/>
            <a:ext cx="794321"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DE1F8B"/>
                </a:solidFill>
                <a:latin typeface="Liberation Sans"/>
              </a:rPr>
              <a:t>Hợp tác</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NỘI DUNG BUỔI TRÌNH BÀY</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Liberation Sans"/>
              </a:rPr>
              <a:t>Chúng em sẽ chia sẻ những gì?</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02</a:t>
            </a:r>
          </a:p>
        </p:txBody>
      </p:sp>
      <p:sp>
        <p:nvSpPr>
          <p:cNvPr id="24" name="Rounded Rectangle 23"/>
          <p:cNvSpPr/>
          <p:nvPr/>
        </p:nvSpPr>
        <p:spPr>
          <a:xfrm>
            <a:off x="603504" y="1737360"/>
            <a:ext cx="5300319"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parkles.png"/>
          <p:cNvPicPr>
            <a:picLocks noChangeAspect="1"/>
          </p:cNvPicPr>
          <p:nvPr/>
        </p:nvPicPr>
        <p:blipFill>
          <a:blip r:embed="rId3"/>
          <a:stretch>
            <a:fillRect/>
          </a:stretch>
        </p:blipFill>
        <p:spPr>
          <a:xfrm>
            <a:off x="957289" y="2057400"/>
            <a:ext cx="499436" cy="566928"/>
          </a:xfrm>
          <a:prstGeom prst="rect">
            <a:avLst/>
          </a:prstGeom>
        </p:spPr>
      </p:pic>
      <p:sp>
        <p:nvSpPr>
          <p:cNvPr id="26" name="TextBox 25"/>
          <p:cNvSpPr txBox="1"/>
          <p:nvPr/>
        </p:nvSpPr>
        <p:spPr>
          <a:xfrm>
            <a:off x="1682495" y="2148840"/>
            <a:ext cx="4020159" cy="411480"/>
          </a:xfrm>
          <a:prstGeom prst="rect">
            <a:avLst/>
          </a:prstGeom>
          <a:noFill/>
        </p:spPr>
        <p:txBody>
          <a:bodyPr wrap="square" anchor="t" lIns="0" rIns="0" tIns="0" bIns="0">
            <a:spAutoFit/>
          </a:bodyPr>
          <a:lstStyle/>
          <a:p>
            <a:pPr algn="l"/>
            <a:r>
              <a:rPr sz="1700" b="1" i="0">
                <a:solidFill>
                  <a:srgbClr val="101631"/>
                </a:solidFill>
                <a:latin typeface="Liberation Sans"/>
              </a:rPr>
              <a:t>Tiết 1 · Khám phá &amp; chia sẻ</a:t>
            </a:r>
          </a:p>
        </p:txBody>
      </p:sp>
      <p:sp>
        <p:nvSpPr>
          <p:cNvPr id="27" name="Rounded Rectangle 26"/>
          <p:cNvSpPr/>
          <p:nvPr/>
        </p:nvSpPr>
        <p:spPr>
          <a:xfrm>
            <a:off x="923544" y="2926080"/>
            <a:ext cx="2075497"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0E9E96"/>
                </a:solidFill>
                <a:latin typeface="Liberation Sans"/>
              </a:rPr>
              <a:t>CHÚNG EM CÙNG TÌM HIỂU</a:t>
            </a:r>
          </a:p>
        </p:txBody>
      </p:sp>
      <p:sp>
        <p:nvSpPr>
          <p:cNvPr id="28" name="TextBox 27"/>
          <p:cNvSpPr txBox="1"/>
          <p:nvPr/>
        </p:nvSpPr>
        <p:spPr>
          <a:xfrm>
            <a:off x="969264"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Hiểu hòa đồng, hợp tác là gì và vì sao cần có.</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4 “chìa khóa” kết nối + cách làm việc nhóm.</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Hợp tác với thầy cô: lắng nghe, mạnh dạn hỏi.</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Kể câu chuyện kỉ niệm về tinh thần hợp tác.</a:t>
            </a:r>
          </a:p>
        </p:txBody>
      </p:sp>
      <p:sp>
        <p:nvSpPr>
          <p:cNvPr id="29" name="Rounded Rectangle 28"/>
          <p:cNvSpPr/>
          <p:nvPr/>
        </p:nvSpPr>
        <p:spPr>
          <a:xfrm>
            <a:off x="6287871" y="1737360"/>
            <a:ext cx="5300319"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tar-fill.png"/>
          <p:cNvPicPr>
            <a:picLocks noChangeAspect="1"/>
          </p:cNvPicPr>
          <p:nvPr/>
        </p:nvPicPr>
        <p:blipFill>
          <a:blip r:embed="rId4"/>
          <a:stretch>
            <a:fillRect/>
          </a:stretch>
        </p:blipFill>
        <p:spPr>
          <a:xfrm>
            <a:off x="6607911" y="2083169"/>
            <a:ext cx="566928" cy="515389"/>
          </a:xfrm>
          <a:prstGeom prst="rect">
            <a:avLst/>
          </a:prstGeom>
        </p:spPr>
      </p:pic>
      <p:sp>
        <p:nvSpPr>
          <p:cNvPr id="31" name="TextBox 30"/>
          <p:cNvSpPr txBox="1"/>
          <p:nvPr/>
        </p:nvSpPr>
        <p:spPr>
          <a:xfrm>
            <a:off x="7366863" y="2148840"/>
            <a:ext cx="4020159" cy="411480"/>
          </a:xfrm>
          <a:prstGeom prst="rect">
            <a:avLst/>
          </a:prstGeom>
          <a:noFill/>
        </p:spPr>
        <p:txBody>
          <a:bodyPr wrap="square" anchor="t" lIns="0" rIns="0" tIns="0" bIns="0">
            <a:spAutoFit/>
          </a:bodyPr>
          <a:lstStyle/>
          <a:p>
            <a:pPr algn="l"/>
            <a:r>
              <a:rPr sz="1700" b="1" i="0">
                <a:solidFill>
                  <a:srgbClr val="101631"/>
                </a:solidFill>
                <a:latin typeface="Liberation Sans"/>
              </a:rPr>
              <a:t>Tiết 2 · Cùng thực hành</a:t>
            </a:r>
          </a:p>
        </p:txBody>
      </p:sp>
      <p:sp>
        <p:nvSpPr>
          <p:cNvPr id="32" name="Rounded Rectangle 31"/>
          <p:cNvSpPr/>
          <p:nvPr/>
        </p:nvSpPr>
        <p:spPr>
          <a:xfrm>
            <a:off x="6607911" y="2926080"/>
            <a:ext cx="1895030"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DE1F8B"/>
                </a:solidFill>
                <a:latin typeface="Liberation Sans"/>
              </a:rPr>
              <a:t>CẢ LỚP CÙNG THAM GIA</a:t>
            </a:r>
          </a:p>
        </p:txBody>
      </p:sp>
      <p:sp>
        <p:nvSpPr>
          <p:cNvPr id="33" name="TextBox 32"/>
          <p:cNvSpPr txBox="1"/>
          <p:nvPr/>
        </p:nvSpPr>
        <p:spPr>
          <a:xfrm>
            <a:off x="6653631"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3 tình huống SGK — nhóm em lần lượt đặt câu hỏi.</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Cả lớp suy nghĩ, giơ tay và nêu cách ứng xử.</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Nhóm em ghi ý, cảm ơn rồi chốt kĩ năng.</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Chọn một hành động hợp tác cho tuần tới.</a:t>
            </a:r>
          </a:p>
        </p:txBody>
      </p:sp>
      <p:sp>
        <p:nvSpPr>
          <p:cNvPr id="34" name="Rounded Rectangle 33"/>
          <p:cNvSpPr/>
          <p:nvPr/>
        </p:nvSpPr>
        <p:spPr>
          <a:xfrm>
            <a:off x="3331565" y="5806440"/>
            <a:ext cx="5528564" cy="420624"/>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Liberation Sans"/>
              </a:rPr>
              <a:t>Mong muốn của chúng em: cả lớp tham gia thật sôi nổi nhé!</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cope.png"/>
          <p:cNvPicPr>
            <a:picLocks noChangeAspect="1"/>
          </p:cNvPicPr>
          <p:nvPr/>
        </p:nvPicPr>
        <p:blipFill>
          <a:blip r:embed="rId2"/>
          <a:stretch>
            <a:fillRect/>
          </a:stretch>
        </p:blipFill>
        <p:spPr>
          <a:xfrm>
            <a:off x="621792" y="407005"/>
            <a:ext cx="219456" cy="210117"/>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Liberation Sans"/>
              </a:rPr>
              <a:t>ĐIỀU CHÚNG EM MONG MUỐN</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Liberation Sans"/>
              </a:rPr>
              <a:t>Sau buổi hôm nay, lớp mình sẽ…</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03</a:t>
            </a:r>
          </a:p>
        </p:txBody>
      </p:sp>
      <p:sp>
        <p:nvSpPr>
          <p:cNvPr id="24" name="Rounded Rectangle 23"/>
          <p:cNvSpPr/>
          <p:nvPr/>
        </p:nvSpPr>
        <p:spPr>
          <a:xfrm>
            <a:off x="603504"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2-fill.png"/>
          <p:cNvPicPr>
            <a:picLocks noChangeAspect="1"/>
          </p:cNvPicPr>
          <p:nvPr/>
        </p:nvPicPr>
        <p:blipFill>
          <a:blip r:embed="rId3"/>
          <a:stretch>
            <a:fillRect/>
          </a:stretch>
        </p:blipFill>
        <p:spPr>
          <a:xfrm>
            <a:off x="1571967" y="2324608"/>
            <a:ext cx="603504" cy="379984"/>
          </a:xfrm>
          <a:prstGeom prst="rect">
            <a:avLst/>
          </a:prstGeom>
        </p:spPr>
      </p:pic>
      <p:sp>
        <p:nvSpPr>
          <p:cNvPr id="26" name="TextBox 25"/>
          <p:cNvSpPr txBox="1"/>
          <p:nvPr/>
        </p:nvSpPr>
        <p:spPr>
          <a:xfrm>
            <a:off x="713232"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Hiểu đúng hơn</a:t>
            </a:r>
          </a:p>
        </p:txBody>
      </p:sp>
      <p:sp>
        <p:nvSpPr>
          <p:cNvPr id="27" name="TextBox 26"/>
          <p:cNvSpPr txBox="1"/>
          <p:nvPr/>
        </p:nvSpPr>
        <p:spPr>
          <a:xfrm>
            <a:off x="804672"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Hòa đồng, hợp tác là gì và vì sao nó quan trọng.</a:t>
            </a:r>
          </a:p>
        </p:txBody>
      </p:sp>
      <p:sp>
        <p:nvSpPr>
          <p:cNvPr id="28" name="Rounded Rectangle 27"/>
          <p:cNvSpPr/>
          <p:nvPr/>
        </p:nvSpPr>
        <p:spPr>
          <a:xfrm>
            <a:off x="3418255"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bble-left-fill.png"/>
          <p:cNvPicPr>
            <a:picLocks noChangeAspect="1"/>
          </p:cNvPicPr>
          <p:nvPr/>
        </p:nvPicPr>
        <p:blipFill>
          <a:blip r:embed="rId4"/>
          <a:stretch>
            <a:fillRect/>
          </a:stretch>
        </p:blipFill>
        <p:spPr>
          <a:xfrm>
            <a:off x="4386719" y="2253081"/>
            <a:ext cx="603504" cy="523036"/>
          </a:xfrm>
          <a:prstGeom prst="rect">
            <a:avLst/>
          </a:prstGeom>
        </p:spPr>
      </p:pic>
      <p:sp>
        <p:nvSpPr>
          <p:cNvPr id="30" name="TextBox 29"/>
          <p:cNvSpPr txBox="1"/>
          <p:nvPr/>
        </p:nvSpPr>
        <p:spPr>
          <a:xfrm>
            <a:off x="3527983"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Gần nhau hơn</a:t>
            </a:r>
          </a:p>
        </p:txBody>
      </p:sp>
      <p:sp>
        <p:nvSpPr>
          <p:cNvPr id="31" name="TextBox 30"/>
          <p:cNvSpPr txBox="1"/>
          <p:nvPr/>
        </p:nvSpPr>
        <p:spPr>
          <a:xfrm>
            <a:off x="3619423"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Biết thêm nhiều cách nhỏ để kết nối với bạn bè.</a:t>
            </a:r>
          </a:p>
        </p:txBody>
      </p:sp>
      <p:sp>
        <p:nvSpPr>
          <p:cNvPr id="32" name="Rounded Rectangle 31"/>
          <p:cNvSpPr/>
          <p:nvPr/>
        </p:nvSpPr>
        <p:spPr>
          <a:xfrm>
            <a:off x="6233007"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2-fill.png"/>
          <p:cNvPicPr>
            <a:picLocks noChangeAspect="1"/>
          </p:cNvPicPr>
          <p:nvPr/>
        </p:nvPicPr>
        <p:blipFill>
          <a:blip r:embed="rId3"/>
          <a:stretch>
            <a:fillRect/>
          </a:stretch>
        </p:blipFill>
        <p:spPr>
          <a:xfrm>
            <a:off x="7201471" y="2324608"/>
            <a:ext cx="603504" cy="379984"/>
          </a:xfrm>
          <a:prstGeom prst="rect">
            <a:avLst/>
          </a:prstGeom>
        </p:spPr>
      </p:pic>
      <p:sp>
        <p:nvSpPr>
          <p:cNvPr id="34" name="TextBox 33"/>
          <p:cNvSpPr txBox="1"/>
          <p:nvPr/>
        </p:nvSpPr>
        <p:spPr>
          <a:xfrm>
            <a:off x="6342735"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Phối hợp ăn ý</a:t>
            </a:r>
          </a:p>
        </p:txBody>
      </p:sp>
      <p:sp>
        <p:nvSpPr>
          <p:cNvPr id="35" name="TextBox 34"/>
          <p:cNvSpPr txBox="1"/>
          <p:nvPr/>
        </p:nvSpPr>
        <p:spPr>
          <a:xfrm>
            <a:off x="6434175"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Làm việc nhóm vui và hiệu quả, ai cũng được tham gia.</a:t>
            </a:r>
          </a:p>
        </p:txBody>
      </p:sp>
      <p:sp>
        <p:nvSpPr>
          <p:cNvPr id="36" name="Rounded Rectangle 35"/>
          <p:cNvSpPr/>
          <p:nvPr/>
        </p:nvSpPr>
        <p:spPr>
          <a:xfrm>
            <a:off x="9047759"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cope.png"/>
          <p:cNvPicPr>
            <a:picLocks noChangeAspect="1"/>
          </p:cNvPicPr>
          <p:nvPr/>
        </p:nvPicPr>
        <p:blipFill>
          <a:blip r:embed="rId2"/>
          <a:stretch>
            <a:fillRect/>
          </a:stretch>
        </p:blipFill>
        <p:spPr>
          <a:xfrm>
            <a:off x="10016223" y="2225688"/>
            <a:ext cx="603504" cy="577822"/>
          </a:xfrm>
          <a:prstGeom prst="rect">
            <a:avLst/>
          </a:prstGeom>
        </p:spPr>
      </p:pic>
      <p:sp>
        <p:nvSpPr>
          <p:cNvPr id="38" name="TextBox 37"/>
          <p:cNvSpPr txBox="1"/>
          <p:nvPr/>
        </p:nvSpPr>
        <p:spPr>
          <a:xfrm>
            <a:off x="9157487"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Tự tin ứng xử</a:t>
            </a:r>
          </a:p>
        </p:txBody>
      </p:sp>
      <p:sp>
        <p:nvSpPr>
          <p:cNvPr id="39" name="TextBox 38"/>
          <p:cNvSpPr txBox="1"/>
          <p:nvPr/>
        </p:nvSpPr>
        <p:spPr>
          <a:xfrm>
            <a:off x="9248927"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Xử lí khéo léo khi gặp tình huống khó ở lớp.</a:t>
            </a:r>
          </a:p>
        </p:txBody>
      </p:sp>
      <p:sp>
        <p:nvSpPr>
          <p:cNvPr id="40" name="Rounded Rectangle 39"/>
          <p:cNvSpPr/>
          <p:nvPr/>
        </p:nvSpPr>
        <p:spPr>
          <a:xfrm>
            <a:off x="3471202" y="5440680"/>
            <a:ext cx="5249290" cy="384048"/>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4E5879"/>
                </a:solidFill>
                <a:latin typeface="Liberation Sans"/>
              </a:rPr>
              <a:t>Các bạn giúp chúng em bằng cách lắng nghe và góp ý chân thành!</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miley-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97600"/>
                </a:solidFill>
                <a:latin typeface="Liberation Sans"/>
              </a:rPr>
              <a:t>KHỞI ĐỘNG</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Các bạn thử nhớ lại xem…</a:t>
            </a:r>
          </a:p>
        </p:txBody>
      </p:sp>
      <p:sp>
        <p:nvSpPr>
          <p:cNvPr id="17" name="~hdrRounded Rectangle 16"/>
          <p:cNvSpPr/>
          <p:nvPr/>
        </p:nvSpPr>
        <p:spPr>
          <a:xfrm>
            <a:off x="608076" y="1408176"/>
            <a:ext cx="658368" cy="45720"/>
          </a:xfrm>
          <a:prstGeom prst="roundRect">
            <a:avLst>
              <a:gd name="adj" fmla="val 50000"/>
            </a:avLst>
          </a:prstGeom>
          <a:effectLst/>
          <a:solidFill>
            <a:srgbClr val="D9760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04</a:t>
            </a:r>
          </a:p>
        </p:txBody>
      </p:sp>
      <p:sp>
        <p:nvSpPr>
          <p:cNvPr id="24" name="Rounded Rectangle 23"/>
          <p:cNvSpPr/>
          <p:nvPr/>
        </p:nvSpPr>
        <p:spPr>
          <a:xfrm>
            <a:off x="603504" y="1719072"/>
            <a:ext cx="10984687" cy="425196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1947672"/>
            <a:ext cx="9978847" cy="365760"/>
          </a:xfrm>
          <a:prstGeom prst="rect">
            <a:avLst/>
          </a:prstGeom>
          <a:noFill/>
        </p:spPr>
        <p:txBody>
          <a:bodyPr wrap="square" anchor="t" lIns="0" rIns="0" tIns="0" bIns="0">
            <a:spAutoFit/>
          </a:bodyPr>
          <a:lstStyle/>
          <a:p>
            <a:pPr algn="l"/>
            <a:r>
              <a:rPr sz="1450" b="1" i="0">
                <a:solidFill>
                  <a:srgbClr val="101631"/>
                </a:solidFill>
                <a:latin typeface="Liberation Sans"/>
              </a:rPr>
              <a:t>Quay sang bạn kế bên, chia sẻ nhanh trong 1 phút nhé:</a:t>
            </a:r>
          </a:p>
        </p:txBody>
      </p:sp>
      <p:pic>
        <p:nvPicPr>
          <p:cNvPr id="26" name="Picture 25" descr="smiley-fill.png"/>
          <p:cNvPicPr>
            <a:picLocks noChangeAspect="1"/>
          </p:cNvPicPr>
          <p:nvPr/>
        </p:nvPicPr>
        <p:blipFill>
          <a:blip r:embed="rId2"/>
          <a:stretch>
            <a:fillRect/>
          </a:stretch>
        </p:blipFill>
        <p:spPr>
          <a:xfrm>
            <a:off x="1060704" y="2571750"/>
            <a:ext cx="457200" cy="434340"/>
          </a:xfrm>
          <a:prstGeom prst="rect">
            <a:avLst/>
          </a:prstGeom>
        </p:spPr>
      </p:pic>
      <p:sp>
        <p:nvSpPr>
          <p:cNvPr id="27" name="TextBox 26"/>
          <p:cNvSpPr txBox="1"/>
          <p:nvPr/>
        </p:nvSpPr>
        <p:spPr>
          <a:xfrm>
            <a:off x="1746504" y="2569463"/>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Bạn nào trong lớp mình luôn vui vẻ, thân thiện với tất cả mọi người? Vì sao bạn ấy được yêu quý?</a:t>
            </a:r>
          </a:p>
        </p:txBody>
      </p:sp>
      <p:pic>
        <p:nvPicPr>
          <p:cNvPr id="28" name="Picture 27" descr="person-2-fill.png"/>
          <p:cNvPicPr>
            <a:picLocks noChangeAspect="1"/>
          </p:cNvPicPr>
          <p:nvPr/>
        </p:nvPicPr>
        <p:blipFill>
          <a:blip r:embed="rId3"/>
          <a:stretch>
            <a:fillRect/>
          </a:stretch>
        </p:blipFill>
        <p:spPr>
          <a:xfrm>
            <a:off x="1060704" y="3504522"/>
            <a:ext cx="457200" cy="287866"/>
          </a:xfrm>
          <a:prstGeom prst="rect">
            <a:avLst/>
          </a:prstGeom>
        </p:spPr>
      </p:pic>
      <p:sp>
        <p:nvSpPr>
          <p:cNvPr id="29" name="TextBox 28"/>
          <p:cNvSpPr txBox="1"/>
          <p:nvPr/>
        </p:nvSpPr>
        <p:spPr>
          <a:xfrm>
            <a:off x="1746504" y="3428999"/>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Các bạn đã cùng nhau hoàn thành một việc khó bao giờ chưa? Lúc đó cảm thấy thế nào?</a:t>
            </a:r>
          </a:p>
        </p:txBody>
      </p:sp>
      <p:pic>
        <p:nvPicPr>
          <p:cNvPr id="30" name="Picture 29" descr="person-crop-circle-fill.png"/>
          <p:cNvPicPr>
            <a:picLocks noChangeAspect="1"/>
          </p:cNvPicPr>
          <p:nvPr/>
        </p:nvPicPr>
        <p:blipFill>
          <a:blip r:embed="rId4"/>
          <a:stretch>
            <a:fillRect/>
          </a:stretch>
        </p:blipFill>
        <p:spPr>
          <a:xfrm>
            <a:off x="1060704" y="4290822"/>
            <a:ext cx="457200" cy="434340"/>
          </a:xfrm>
          <a:prstGeom prst="rect">
            <a:avLst/>
          </a:prstGeom>
        </p:spPr>
      </p:pic>
      <p:sp>
        <p:nvSpPr>
          <p:cNvPr id="31" name="TextBox 30"/>
          <p:cNvSpPr txBox="1"/>
          <p:nvPr/>
        </p:nvSpPr>
        <p:spPr>
          <a:xfrm>
            <a:off x="1746504" y="4288536"/>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Các bạn từng mạnh dạn nhờ thầy cô giúp đỡ chưa? Điều gì khiến mình dám hỏi?</a:t>
            </a:r>
          </a:p>
        </p:txBody>
      </p:sp>
      <p:sp>
        <p:nvSpPr>
          <p:cNvPr id="32" name="Rounded Rectangle 31"/>
          <p:cNvSpPr/>
          <p:nvPr/>
        </p:nvSpPr>
        <p:spPr>
          <a:xfrm>
            <a:off x="1060704" y="5440680"/>
            <a:ext cx="5969522" cy="365760"/>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D97600"/>
                </a:solidFill>
                <a:latin typeface="Liberation Sans"/>
              </a:rPr>
              <a:t>Mỗi câu trả lời đều hé lộ một kĩ năng mà hôm nay chúng ta cùng rèn!</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quote-bubble-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Liberation Sans"/>
              </a:rPr>
              <a:t>TIẾT 1 · CHÚNG EM HIỂU</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Hòa đồng và hợp tác là gì?</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05</a:t>
            </a:r>
          </a:p>
        </p:txBody>
      </p:sp>
      <p:sp>
        <p:nvSpPr>
          <p:cNvPr id="24" name="Rounded Rectangle 23"/>
          <p:cNvSpPr/>
          <p:nvPr/>
        </p:nvSpPr>
        <p:spPr>
          <a:xfrm>
            <a:off x="603504" y="1783080"/>
            <a:ext cx="5300319" cy="2331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eart-circle-fill.png"/>
          <p:cNvPicPr>
            <a:picLocks noChangeAspect="1"/>
          </p:cNvPicPr>
          <p:nvPr/>
        </p:nvPicPr>
        <p:blipFill>
          <a:blip r:embed="rId3"/>
          <a:stretch>
            <a:fillRect/>
          </a:stretch>
        </p:blipFill>
        <p:spPr>
          <a:xfrm>
            <a:off x="950976" y="2116836"/>
            <a:ext cx="548640" cy="521207"/>
          </a:xfrm>
          <a:prstGeom prst="rect">
            <a:avLst/>
          </a:prstGeom>
        </p:spPr>
      </p:pic>
      <p:sp>
        <p:nvSpPr>
          <p:cNvPr id="26" name="TextBox 25"/>
          <p:cNvSpPr txBox="1"/>
          <p:nvPr/>
        </p:nvSpPr>
        <p:spPr>
          <a:xfrm>
            <a:off x="1700784" y="2167128"/>
            <a:ext cx="4020159" cy="411480"/>
          </a:xfrm>
          <a:prstGeom prst="rect">
            <a:avLst/>
          </a:prstGeom>
          <a:noFill/>
        </p:spPr>
        <p:txBody>
          <a:bodyPr wrap="square" anchor="t" lIns="0" rIns="0" tIns="0" bIns="0">
            <a:spAutoFit/>
          </a:bodyPr>
          <a:lstStyle/>
          <a:p>
            <a:pPr algn="l"/>
            <a:r>
              <a:rPr sz="1800" b="1" i="0">
                <a:solidFill>
                  <a:srgbClr val="101631"/>
                </a:solidFill>
                <a:latin typeface="Liberation Sans"/>
              </a:rPr>
              <a:t>Hòa đồng là…</a:t>
            </a:r>
          </a:p>
        </p:txBody>
      </p:sp>
      <p:sp>
        <p:nvSpPr>
          <p:cNvPr id="27" name="TextBox 26"/>
          <p:cNvSpPr txBox="1"/>
          <p:nvPr/>
        </p:nvSpPr>
        <p:spPr>
          <a:xfrm>
            <a:off x="969264"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Liberation Sans"/>
              </a:rPr>
              <a:t>Cởi mở, thân thiện, vui vẻ với mọi người; tôn trọng sự khác biệt; sẵn sàng trò chuyện, chia sẻ và giúp đỡ nhau.</a:t>
            </a:r>
          </a:p>
        </p:txBody>
      </p:sp>
      <p:sp>
        <p:nvSpPr>
          <p:cNvPr id="28" name="Rounded Rectangle 27"/>
          <p:cNvSpPr/>
          <p:nvPr/>
        </p:nvSpPr>
        <p:spPr>
          <a:xfrm>
            <a:off x="6287871" y="1783080"/>
            <a:ext cx="5300319" cy="2331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erson-2-fill.png"/>
          <p:cNvPicPr>
            <a:picLocks noChangeAspect="1"/>
          </p:cNvPicPr>
          <p:nvPr/>
        </p:nvPicPr>
        <p:blipFill>
          <a:blip r:embed="rId4"/>
          <a:stretch>
            <a:fillRect/>
          </a:stretch>
        </p:blipFill>
        <p:spPr>
          <a:xfrm>
            <a:off x="6635343" y="2204720"/>
            <a:ext cx="548640" cy="345440"/>
          </a:xfrm>
          <a:prstGeom prst="rect">
            <a:avLst/>
          </a:prstGeom>
        </p:spPr>
      </p:pic>
      <p:sp>
        <p:nvSpPr>
          <p:cNvPr id="30" name="TextBox 29"/>
          <p:cNvSpPr txBox="1"/>
          <p:nvPr/>
        </p:nvSpPr>
        <p:spPr>
          <a:xfrm>
            <a:off x="7385151" y="2167128"/>
            <a:ext cx="4020159" cy="411480"/>
          </a:xfrm>
          <a:prstGeom prst="rect">
            <a:avLst/>
          </a:prstGeom>
          <a:noFill/>
        </p:spPr>
        <p:txBody>
          <a:bodyPr wrap="square" anchor="t" lIns="0" rIns="0" tIns="0" bIns="0">
            <a:spAutoFit/>
          </a:bodyPr>
          <a:lstStyle/>
          <a:p>
            <a:pPr algn="l"/>
            <a:r>
              <a:rPr sz="1800" b="1" i="0">
                <a:solidFill>
                  <a:srgbClr val="101631"/>
                </a:solidFill>
                <a:latin typeface="Liberation Sans"/>
              </a:rPr>
              <a:t>Hợp tác là…</a:t>
            </a:r>
          </a:p>
        </p:txBody>
      </p:sp>
      <p:sp>
        <p:nvSpPr>
          <p:cNvPr id="31" name="TextBox 30"/>
          <p:cNvSpPr txBox="1"/>
          <p:nvPr/>
        </p:nvSpPr>
        <p:spPr>
          <a:xfrm>
            <a:off x="6653631"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Liberation Sans"/>
              </a:rPr>
              <a:t>Cùng bàn bạc, chung sức làm một việc chung và cùng chịu trách nhiệm về kết quả — không phải làm hộ cho nhau.</a:t>
            </a:r>
          </a:p>
        </p:txBody>
      </p:sp>
      <p:sp>
        <p:nvSpPr>
          <p:cNvPr id="32" name="TextBox 31"/>
          <p:cNvSpPr txBox="1"/>
          <p:nvPr/>
        </p:nvSpPr>
        <p:spPr>
          <a:xfrm>
            <a:off x="603504" y="4434840"/>
            <a:ext cx="8229600" cy="384048"/>
          </a:xfrm>
          <a:prstGeom prst="rect">
            <a:avLst/>
          </a:prstGeom>
          <a:noFill/>
        </p:spPr>
        <p:txBody>
          <a:bodyPr wrap="square" anchor="t" lIns="0" rIns="0" tIns="0" bIns="0">
            <a:spAutoFit/>
          </a:bodyPr>
          <a:lstStyle/>
          <a:p>
            <a:pPr algn="l"/>
            <a:r>
              <a:rPr sz="1650" b="1" i="0">
                <a:solidFill>
                  <a:srgbClr val="101631"/>
                </a:solidFill>
                <a:latin typeface="Liberation Sans"/>
              </a:rPr>
              <a:t>Vì sao lớp mình nên hòa đồng và hợp tác?</a:t>
            </a:r>
          </a:p>
        </p:txBody>
      </p:sp>
      <p:sp>
        <p:nvSpPr>
          <p:cNvPr id="33" name="Rounded Rectangle 32"/>
          <p:cNvSpPr/>
          <p:nvPr/>
        </p:nvSpPr>
        <p:spPr>
          <a:xfrm>
            <a:off x="603504"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tar-fill.png"/>
          <p:cNvPicPr>
            <a:picLocks noChangeAspect="1"/>
          </p:cNvPicPr>
          <p:nvPr/>
        </p:nvPicPr>
        <p:blipFill>
          <a:blip r:embed="rId5"/>
          <a:stretch>
            <a:fillRect/>
          </a:stretch>
        </p:blipFill>
        <p:spPr>
          <a:xfrm>
            <a:off x="859536" y="5111495"/>
            <a:ext cx="402336" cy="365760"/>
          </a:xfrm>
          <a:prstGeom prst="rect">
            <a:avLst/>
          </a:prstGeom>
        </p:spPr>
      </p:pic>
      <p:sp>
        <p:nvSpPr>
          <p:cNvPr id="35" name="TextBox 34"/>
          <p:cNvSpPr txBox="1"/>
          <p:nvPr/>
        </p:nvSpPr>
        <p:spPr>
          <a:xfrm>
            <a:off x="1408176"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Lớp vui hơn</a:t>
            </a:r>
          </a:p>
        </p:txBody>
      </p:sp>
      <p:sp>
        <p:nvSpPr>
          <p:cNvPr id="36" name="TextBox 35"/>
          <p:cNvSpPr txBox="1"/>
          <p:nvPr/>
        </p:nvSpPr>
        <p:spPr>
          <a:xfrm>
            <a:off x="1408176"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Ai cũng thấy mình được kết nối.</a:t>
            </a:r>
          </a:p>
        </p:txBody>
      </p:sp>
      <p:sp>
        <p:nvSpPr>
          <p:cNvPr id="37" name="Rounded Rectangle 36"/>
          <p:cNvSpPr/>
          <p:nvPr/>
        </p:nvSpPr>
        <p:spPr>
          <a:xfrm>
            <a:off x="4368698"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ok-fill.png"/>
          <p:cNvPicPr>
            <a:picLocks noChangeAspect="1"/>
          </p:cNvPicPr>
          <p:nvPr/>
        </p:nvPicPr>
        <p:blipFill>
          <a:blip r:embed="rId6"/>
          <a:stretch>
            <a:fillRect/>
          </a:stretch>
        </p:blipFill>
        <p:spPr>
          <a:xfrm>
            <a:off x="4624730" y="5136315"/>
            <a:ext cx="402336" cy="316121"/>
          </a:xfrm>
          <a:prstGeom prst="rect">
            <a:avLst/>
          </a:prstGeom>
        </p:spPr>
      </p:pic>
      <p:sp>
        <p:nvSpPr>
          <p:cNvPr id="39" name="TextBox 38"/>
          <p:cNvSpPr txBox="1"/>
          <p:nvPr/>
        </p:nvSpPr>
        <p:spPr>
          <a:xfrm>
            <a:off x="5173370"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Học tốt hơn</a:t>
            </a:r>
          </a:p>
        </p:txBody>
      </p:sp>
      <p:sp>
        <p:nvSpPr>
          <p:cNvPr id="40" name="TextBox 39"/>
          <p:cNvSpPr txBox="1"/>
          <p:nvPr/>
        </p:nvSpPr>
        <p:spPr>
          <a:xfrm>
            <a:off x="5173370"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Kèm cặp, giúp nhau cùng tiến bộ.</a:t>
            </a:r>
          </a:p>
        </p:txBody>
      </p:sp>
      <p:sp>
        <p:nvSpPr>
          <p:cNvPr id="41" name="Rounded Rectangle 40"/>
          <p:cNvSpPr/>
          <p:nvPr/>
        </p:nvSpPr>
        <p:spPr>
          <a:xfrm>
            <a:off x="8133892"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lt-fill.png"/>
          <p:cNvPicPr>
            <a:picLocks noChangeAspect="1"/>
          </p:cNvPicPr>
          <p:nvPr/>
        </p:nvPicPr>
        <p:blipFill>
          <a:blip r:embed="rId7"/>
          <a:stretch>
            <a:fillRect/>
          </a:stretch>
        </p:blipFill>
        <p:spPr>
          <a:xfrm>
            <a:off x="8432029" y="5093207"/>
            <a:ext cx="318126" cy="402336"/>
          </a:xfrm>
          <a:prstGeom prst="rect">
            <a:avLst/>
          </a:prstGeom>
        </p:spPr>
      </p:pic>
      <p:sp>
        <p:nvSpPr>
          <p:cNvPr id="43" name="TextBox 42"/>
          <p:cNvSpPr txBox="1"/>
          <p:nvPr/>
        </p:nvSpPr>
        <p:spPr>
          <a:xfrm>
            <a:off x="8938564"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Mạnh hơn</a:t>
            </a:r>
          </a:p>
        </p:txBody>
      </p:sp>
      <p:sp>
        <p:nvSpPr>
          <p:cNvPr id="44" name="TextBox 43"/>
          <p:cNvSpPr txBox="1"/>
          <p:nvPr/>
        </p:nvSpPr>
        <p:spPr>
          <a:xfrm>
            <a:off x="8938564"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Khó khăn nào cũng có tập thể chung vai.</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ubble-left-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Liberation Sans"/>
              </a:rPr>
              <a:t>TIẾT 1 · KẾT NỐI VỚI BẠN BÈ</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Bốn “chìa khóa” kết nối với bạn bè</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06</a:t>
            </a:r>
          </a:p>
        </p:txBody>
      </p:sp>
      <p:sp>
        <p:nvSpPr>
          <p:cNvPr id="24" name="Rounded Rectangle 23"/>
          <p:cNvSpPr/>
          <p:nvPr/>
        </p:nvSpPr>
        <p:spPr>
          <a:xfrm>
            <a:off x="603504" y="1783080"/>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ubble-left-fill.png"/>
          <p:cNvPicPr>
            <a:picLocks noChangeAspect="1"/>
          </p:cNvPicPr>
          <p:nvPr/>
        </p:nvPicPr>
        <p:blipFill>
          <a:blip r:embed="rId2"/>
          <a:stretch>
            <a:fillRect/>
          </a:stretch>
        </p:blipFill>
        <p:spPr>
          <a:xfrm>
            <a:off x="877824" y="2073249"/>
            <a:ext cx="512064" cy="443788"/>
          </a:xfrm>
          <a:prstGeom prst="rect">
            <a:avLst/>
          </a:prstGeom>
        </p:spPr>
      </p:pic>
      <p:sp>
        <p:nvSpPr>
          <p:cNvPr id="26" name="TextBox 25"/>
          <p:cNvSpPr txBox="1"/>
          <p:nvPr/>
        </p:nvSpPr>
        <p:spPr>
          <a:xfrm>
            <a:off x="1563624" y="2093976"/>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Trò chuyện, tâm sự</a:t>
            </a:r>
          </a:p>
        </p:txBody>
      </p:sp>
      <p:sp>
        <p:nvSpPr>
          <p:cNvPr id="27" name="TextBox 26"/>
          <p:cNvSpPr txBox="1"/>
          <p:nvPr/>
        </p:nvSpPr>
        <p:spPr>
          <a:xfrm>
            <a:off x="896112"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Chủ động hỏi thăm bạn; chia sẻ niềm vui, nỗi buồn và khó khăn của mình.</a:t>
            </a:r>
          </a:p>
        </p:txBody>
      </p:sp>
      <p:sp>
        <p:nvSpPr>
          <p:cNvPr id="28" name="Rounded Rectangle 27"/>
          <p:cNvSpPr/>
          <p:nvPr/>
        </p:nvSpPr>
        <p:spPr>
          <a:xfrm>
            <a:off x="6242151" y="1783080"/>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ook-fill.png"/>
          <p:cNvPicPr>
            <a:picLocks noChangeAspect="1"/>
          </p:cNvPicPr>
          <p:nvPr/>
        </p:nvPicPr>
        <p:blipFill>
          <a:blip r:embed="rId3"/>
          <a:stretch>
            <a:fillRect/>
          </a:stretch>
        </p:blipFill>
        <p:spPr>
          <a:xfrm>
            <a:off x="6516471" y="2093976"/>
            <a:ext cx="512064" cy="402336"/>
          </a:xfrm>
          <a:prstGeom prst="rect">
            <a:avLst/>
          </a:prstGeom>
        </p:spPr>
      </p:pic>
      <p:sp>
        <p:nvSpPr>
          <p:cNvPr id="30" name="TextBox 29"/>
          <p:cNvSpPr txBox="1"/>
          <p:nvPr/>
        </p:nvSpPr>
        <p:spPr>
          <a:xfrm>
            <a:off x="7202271" y="2093976"/>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Cùng học</a:t>
            </a:r>
          </a:p>
        </p:txBody>
      </p:sp>
      <p:sp>
        <p:nvSpPr>
          <p:cNvPr id="31" name="TextBox 30"/>
          <p:cNvSpPr txBox="1"/>
          <p:nvPr/>
        </p:nvSpPr>
        <p:spPr>
          <a:xfrm>
            <a:off x="6534759"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Học nhóm, giảng bài cho nhau, cùng chinh phục những bài khó.</a:t>
            </a:r>
          </a:p>
        </p:txBody>
      </p:sp>
      <p:sp>
        <p:nvSpPr>
          <p:cNvPr id="32" name="Rounded Rectangle 31"/>
          <p:cNvSpPr/>
          <p:nvPr/>
        </p:nvSpPr>
        <p:spPr>
          <a:xfrm>
            <a:off x="603504" y="3904487"/>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ar-fill.png"/>
          <p:cNvPicPr>
            <a:picLocks noChangeAspect="1"/>
          </p:cNvPicPr>
          <p:nvPr/>
        </p:nvPicPr>
        <p:blipFill>
          <a:blip r:embed="rId4"/>
          <a:stretch>
            <a:fillRect/>
          </a:stretch>
        </p:blipFill>
        <p:spPr>
          <a:xfrm>
            <a:off x="877824" y="4183795"/>
            <a:ext cx="512064" cy="465512"/>
          </a:xfrm>
          <a:prstGeom prst="rect">
            <a:avLst/>
          </a:prstGeom>
        </p:spPr>
      </p:pic>
      <p:sp>
        <p:nvSpPr>
          <p:cNvPr id="34" name="TextBox 33"/>
          <p:cNvSpPr txBox="1"/>
          <p:nvPr/>
        </p:nvSpPr>
        <p:spPr>
          <a:xfrm>
            <a:off x="1563624" y="4215383"/>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Cùng tham gia hoạt động</a:t>
            </a:r>
          </a:p>
        </p:txBody>
      </p:sp>
      <p:sp>
        <p:nvSpPr>
          <p:cNvPr id="35" name="TextBox 34"/>
          <p:cNvSpPr txBox="1"/>
          <p:nvPr/>
        </p:nvSpPr>
        <p:spPr>
          <a:xfrm>
            <a:off x="896112"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Thể thao, văn nghệ, trực nhật, câu lạc bộ… vui gấp đôi khi có bạn cùng chơi.</a:t>
            </a:r>
          </a:p>
        </p:txBody>
      </p:sp>
      <p:sp>
        <p:nvSpPr>
          <p:cNvPr id="36" name="Rounded Rectangle 35"/>
          <p:cNvSpPr/>
          <p:nvPr/>
        </p:nvSpPr>
        <p:spPr>
          <a:xfrm>
            <a:off x="6242151" y="3904487"/>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ear.png"/>
          <p:cNvPicPr>
            <a:picLocks noChangeAspect="1"/>
          </p:cNvPicPr>
          <p:nvPr/>
        </p:nvPicPr>
        <p:blipFill>
          <a:blip r:embed="rId5"/>
          <a:stretch>
            <a:fillRect/>
          </a:stretch>
        </p:blipFill>
        <p:spPr>
          <a:xfrm>
            <a:off x="6561277" y="4160520"/>
            <a:ext cx="422452" cy="512064"/>
          </a:xfrm>
          <a:prstGeom prst="rect">
            <a:avLst/>
          </a:prstGeom>
        </p:spPr>
      </p:pic>
      <p:sp>
        <p:nvSpPr>
          <p:cNvPr id="38" name="TextBox 37"/>
          <p:cNvSpPr txBox="1"/>
          <p:nvPr/>
        </p:nvSpPr>
        <p:spPr>
          <a:xfrm>
            <a:off x="7202271" y="4215383"/>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Lắng nghe – tôn trọng</a:t>
            </a:r>
          </a:p>
        </p:txBody>
      </p:sp>
      <p:sp>
        <p:nvSpPr>
          <p:cNvPr id="39" name="TextBox 38"/>
          <p:cNvSpPr txBox="1"/>
          <p:nvPr/>
        </p:nvSpPr>
        <p:spPr>
          <a:xfrm>
            <a:off x="6534759"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Lắng nghe để thấu hiểu; tôn trọng ý kiến và sự khác biệt của nhau.</a:t>
            </a:r>
          </a:p>
        </p:txBody>
      </p:sp>
      <p:sp>
        <p:nvSpPr>
          <p:cNvPr id="40" name="Rounded Rectangle 39"/>
          <p:cNvSpPr/>
          <p:nvPr/>
        </p:nvSpPr>
        <p:spPr>
          <a:xfrm>
            <a:off x="603504" y="5989320"/>
            <a:ext cx="6103366"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Liberation Sans"/>
              </a:rPr>
              <a:t>Bí quyết nhỏ: một nụ cười và lời chào buổi sáng là chìa khóa vạn năng!</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2-fill.png"/>
          <p:cNvPicPr>
            <a:picLocks noChangeAspect="1"/>
          </p:cNvPicPr>
          <p:nvPr/>
        </p:nvPicPr>
        <p:blipFill>
          <a:blip r:embed="rId2"/>
          <a:stretch>
            <a:fillRect/>
          </a:stretch>
        </p:blipFill>
        <p:spPr>
          <a:xfrm>
            <a:off x="621792" y="442976"/>
            <a:ext cx="219456" cy="13817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Liberation Sans"/>
              </a:rPr>
              <a:t>TIẾT 1 · KINH NGHIỆM LÀM VIỆC NHÓM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Bốn bước nhỏ để nhóm nào cũng ăn ý</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07</a:t>
            </a:r>
          </a:p>
        </p:txBody>
      </p:sp>
      <p:sp>
        <p:nvSpPr>
          <p:cNvPr id="24" name="Rounded Rectangle 23"/>
          <p:cNvSpPr/>
          <p:nvPr/>
        </p:nvSpPr>
        <p:spPr>
          <a:xfrm>
            <a:off x="603504"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79409"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A66E0"/>
                </a:solidFill>
                <a:latin typeface="Liberation Sans"/>
              </a:rPr>
              <a:t>1</a:t>
            </a:r>
          </a:p>
        </p:txBody>
      </p:sp>
      <p:pic>
        <p:nvPicPr>
          <p:cNvPr id="26" name="Picture 25" descr="doc-on-clipboard-fill.png"/>
          <p:cNvPicPr>
            <a:picLocks noChangeAspect="1"/>
          </p:cNvPicPr>
          <p:nvPr/>
        </p:nvPicPr>
        <p:blipFill>
          <a:blip r:embed="rId3"/>
          <a:stretch>
            <a:fillRect/>
          </a:stretch>
        </p:blipFill>
        <p:spPr>
          <a:xfrm>
            <a:off x="1657036" y="2788920"/>
            <a:ext cx="501947" cy="548640"/>
          </a:xfrm>
          <a:prstGeom prst="rect">
            <a:avLst/>
          </a:prstGeom>
        </p:spPr>
      </p:pic>
      <p:sp>
        <p:nvSpPr>
          <p:cNvPr id="27" name="TextBox 26"/>
          <p:cNvSpPr txBox="1"/>
          <p:nvPr/>
        </p:nvSpPr>
        <p:spPr>
          <a:xfrm>
            <a:off x="694944"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Lên kế hoạch</a:t>
            </a:r>
          </a:p>
        </p:txBody>
      </p:sp>
      <p:sp>
        <p:nvSpPr>
          <p:cNvPr id="28" name="TextBox 27"/>
          <p:cNvSpPr txBox="1"/>
          <p:nvPr/>
        </p:nvSpPr>
        <p:spPr>
          <a:xfrm>
            <a:off x="786384"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Xác định mục tiêu, việc cần làm và thời hạn.</a:t>
            </a:r>
          </a:p>
        </p:txBody>
      </p:sp>
      <p:sp>
        <p:nvSpPr>
          <p:cNvPr id="29" name="Chevron 28"/>
          <p:cNvSpPr/>
          <p:nvPr/>
        </p:nvSpPr>
        <p:spPr>
          <a:xfrm>
            <a:off x="3157651"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395395"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471301"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E9E96"/>
                </a:solidFill>
                <a:latin typeface="Liberation Sans"/>
              </a:rPr>
              <a:t>2</a:t>
            </a:r>
          </a:p>
        </p:txBody>
      </p:sp>
      <p:pic>
        <p:nvPicPr>
          <p:cNvPr id="32" name="Picture 31" descr="person-2-fill.png"/>
          <p:cNvPicPr>
            <a:picLocks noChangeAspect="1"/>
          </p:cNvPicPr>
          <p:nvPr/>
        </p:nvPicPr>
        <p:blipFill>
          <a:blip r:embed="rId2"/>
          <a:stretch>
            <a:fillRect/>
          </a:stretch>
        </p:blipFill>
        <p:spPr>
          <a:xfrm>
            <a:off x="4425581" y="2890520"/>
            <a:ext cx="548640" cy="345440"/>
          </a:xfrm>
          <a:prstGeom prst="rect">
            <a:avLst/>
          </a:prstGeom>
        </p:spPr>
      </p:pic>
      <p:sp>
        <p:nvSpPr>
          <p:cNvPr id="33" name="TextBox 32"/>
          <p:cNvSpPr txBox="1"/>
          <p:nvPr/>
        </p:nvSpPr>
        <p:spPr>
          <a:xfrm>
            <a:off x="3486835"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Phân công việc</a:t>
            </a:r>
          </a:p>
        </p:txBody>
      </p:sp>
      <p:sp>
        <p:nvSpPr>
          <p:cNvPr id="34" name="TextBox 33"/>
          <p:cNvSpPr txBox="1"/>
          <p:nvPr/>
        </p:nvSpPr>
        <p:spPr>
          <a:xfrm>
            <a:off x="3578275"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Chia việc hợp khả năng từng bạn, ai cũng có việc.</a:t>
            </a:r>
          </a:p>
        </p:txBody>
      </p:sp>
      <p:sp>
        <p:nvSpPr>
          <p:cNvPr id="35" name="Chevron 34"/>
          <p:cNvSpPr/>
          <p:nvPr/>
        </p:nvSpPr>
        <p:spPr>
          <a:xfrm>
            <a:off x="5949543"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87287"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63193"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A24AD6"/>
                </a:solidFill>
                <a:latin typeface="Liberation Sans"/>
              </a:rPr>
              <a:t>3</a:t>
            </a:r>
          </a:p>
        </p:txBody>
      </p:sp>
      <p:pic>
        <p:nvPicPr>
          <p:cNvPr id="38" name="Picture 37" descr="bubble-pair-fill.png"/>
          <p:cNvPicPr>
            <a:picLocks noChangeAspect="1"/>
          </p:cNvPicPr>
          <p:nvPr/>
        </p:nvPicPr>
        <p:blipFill>
          <a:blip r:embed="rId4"/>
          <a:stretch>
            <a:fillRect/>
          </a:stretch>
        </p:blipFill>
        <p:spPr>
          <a:xfrm>
            <a:off x="7217473" y="2853759"/>
            <a:ext cx="548640" cy="418961"/>
          </a:xfrm>
          <a:prstGeom prst="rect">
            <a:avLst/>
          </a:prstGeom>
        </p:spPr>
      </p:pic>
      <p:sp>
        <p:nvSpPr>
          <p:cNvPr id="39" name="TextBox 38"/>
          <p:cNvSpPr txBox="1"/>
          <p:nvPr/>
        </p:nvSpPr>
        <p:spPr>
          <a:xfrm>
            <a:off x="6278727"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Lắng nghe nhau</a:t>
            </a:r>
          </a:p>
        </p:txBody>
      </p:sp>
      <p:sp>
        <p:nvSpPr>
          <p:cNvPr id="40" name="TextBox 39"/>
          <p:cNvSpPr txBox="1"/>
          <p:nvPr/>
        </p:nvSpPr>
        <p:spPr>
          <a:xfrm>
            <a:off x="6370167"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Tiếp thu ý kiến, bàn bạc rồi thống nhất.</a:t>
            </a:r>
          </a:p>
        </p:txBody>
      </p:sp>
      <p:sp>
        <p:nvSpPr>
          <p:cNvPr id="41" name="Chevron 40"/>
          <p:cNvSpPr/>
          <p:nvPr/>
        </p:nvSpPr>
        <p:spPr>
          <a:xfrm>
            <a:off x="8741435"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979179"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055085"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D97600"/>
                </a:solidFill>
                <a:latin typeface="Liberation Sans"/>
              </a:rPr>
              <a:t>4</a:t>
            </a:r>
          </a:p>
        </p:txBody>
      </p:sp>
      <p:pic>
        <p:nvPicPr>
          <p:cNvPr id="44" name="Picture 43" descr="flag-fill.png"/>
          <p:cNvPicPr>
            <a:picLocks noChangeAspect="1"/>
          </p:cNvPicPr>
          <p:nvPr/>
        </p:nvPicPr>
        <p:blipFill>
          <a:blip r:embed="rId5"/>
          <a:stretch>
            <a:fillRect/>
          </a:stretch>
        </p:blipFill>
        <p:spPr>
          <a:xfrm>
            <a:off x="10009365" y="2802987"/>
            <a:ext cx="548640" cy="520504"/>
          </a:xfrm>
          <a:prstGeom prst="rect">
            <a:avLst/>
          </a:prstGeom>
        </p:spPr>
      </p:pic>
      <p:sp>
        <p:nvSpPr>
          <p:cNvPr id="45" name="TextBox 44"/>
          <p:cNvSpPr txBox="1"/>
          <p:nvPr/>
        </p:nvSpPr>
        <p:spPr>
          <a:xfrm>
            <a:off x="9070619"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Giúp nhau về đích</a:t>
            </a:r>
          </a:p>
        </p:txBody>
      </p:sp>
      <p:sp>
        <p:nvSpPr>
          <p:cNvPr id="46" name="TextBox 45"/>
          <p:cNvSpPr txBox="1"/>
          <p:nvPr/>
        </p:nvSpPr>
        <p:spPr>
          <a:xfrm>
            <a:off x="9162059"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Hỗ trợ lúc khó; cùng kiểm tra kết quả.</a:t>
            </a:r>
          </a:p>
        </p:txBody>
      </p:sp>
      <p:sp>
        <p:nvSpPr>
          <p:cNvPr id="47" name="Rounded Rectangle 46"/>
          <p:cNvSpPr/>
          <p:nvPr/>
        </p:nvSpPr>
        <p:spPr>
          <a:xfrm>
            <a:off x="603504" y="5760720"/>
            <a:ext cx="6910832" cy="402336"/>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Liberation Sans"/>
              </a:rPr>
              <a:t>Nhóm mạnh nhất không phải nhóm toàn ngôi sao, mà là nhóm biết phối hợp!</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crop-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Liberation Sans"/>
              </a:rPr>
              <a:t>TIẾT 1 · HỢP TÁC VỚI THẦY CÔ</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600" b="1" i="0" spc="20">
                <a:solidFill>
                  <a:srgbClr val="101631"/>
                </a:solidFill>
                <a:latin typeface="Liberation Sans"/>
              </a:rPr>
              <a:t>Thầy cô — người đồng hành của chúng em</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08</a:t>
            </a:r>
          </a:p>
        </p:txBody>
      </p:sp>
      <p:sp>
        <p:nvSpPr>
          <p:cNvPr id="24" name="Rounded Rectangle 23"/>
          <p:cNvSpPr/>
          <p:nvPr/>
        </p:nvSpPr>
        <p:spPr>
          <a:xfrm>
            <a:off x="603504"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ar.png"/>
          <p:cNvPicPr>
            <a:picLocks noChangeAspect="1"/>
          </p:cNvPicPr>
          <p:nvPr/>
        </p:nvPicPr>
        <p:blipFill>
          <a:blip r:embed="rId3"/>
          <a:stretch>
            <a:fillRect/>
          </a:stretch>
        </p:blipFill>
        <p:spPr>
          <a:xfrm>
            <a:off x="2096795" y="2103120"/>
            <a:ext cx="467715" cy="566928"/>
          </a:xfrm>
          <a:prstGeom prst="rect">
            <a:avLst/>
          </a:prstGeom>
        </p:spPr>
      </p:pic>
      <p:sp>
        <p:nvSpPr>
          <p:cNvPr id="26" name="TextBox 25"/>
          <p:cNvSpPr txBox="1"/>
          <p:nvPr/>
        </p:nvSpPr>
        <p:spPr>
          <a:xfrm>
            <a:off x="731520"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Lắng nghe và làm theo hướng dẫn</a:t>
            </a:r>
          </a:p>
        </p:txBody>
      </p:sp>
      <p:sp>
        <p:nvSpPr>
          <p:cNvPr id="27" name="TextBox 26"/>
          <p:cNvSpPr txBox="1"/>
          <p:nvPr/>
        </p:nvSpPr>
        <p:spPr>
          <a:xfrm>
            <a:off x="822960"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Chú ý nghe thầy cô giao việc; chưa rõ thì hỏi lại; làm bài đúng và đầy đủ.</a:t>
            </a:r>
          </a:p>
        </p:txBody>
      </p:sp>
      <p:sp>
        <p:nvSpPr>
          <p:cNvPr id="28" name="Rounded Rectangle 27"/>
          <p:cNvSpPr/>
          <p:nvPr/>
        </p:nvSpPr>
        <p:spPr>
          <a:xfrm>
            <a:off x="4368698"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bble-left-fill.png"/>
          <p:cNvPicPr>
            <a:picLocks noChangeAspect="1"/>
          </p:cNvPicPr>
          <p:nvPr/>
        </p:nvPicPr>
        <p:blipFill>
          <a:blip r:embed="rId4"/>
          <a:stretch>
            <a:fillRect/>
          </a:stretch>
        </p:blipFill>
        <p:spPr>
          <a:xfrm>
            <a:off x="5812383" y="2140915"/>
            <a:ext cx="566928" cy="491337"/>
          </a:xfrm>
          <a:prstGeom prst="rect">
            <a:avLst/>
          </a:prstGeom>
        </p:spPr>
      </p:pic>
      <p:sp>
        <p:nvSpPr>
          <p:cNvPr id="30" name="TextBox 29"/>
          <p:cNvSpPr txBox="1"/>
          <p:nvPr/>
        </p:nvSpPr>
        <p:spPr>
          <a:xfrm>
            <a:off x="4496714"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Mạnh dạn xin ý kiến</a:t>
            </a:r>
          </a:p>
        </p:txBody>
      </p:sp>
      <p:sp>
        <p:nvSpPr>
          <p:cNvPr id="31" name="TextBox 30"/>
          <p:cNvSpPr txBox="1"/>
          <p:nvPr/>
        </p:nvSpPr>
        <p:spPr>
          <a:xfrm>
            <a:off x="4588154"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Câu hỏi “ngại” nhất thường là câu nhiều bạn cùng thắc mắc. Cứ hỏi, thầy cô luôn sẵn lòng góp ý!</a:t>
            </a:r>
          </a:p>
        </p:txBody>
      </p:sp>
      <p:sp>
        <p:nvSpPr>
          <p:cNvPr id="32" name="Rounded Rectangle 31"/>
          <p:cNvSpPr/>
          <p:nvPr/>
        </p:nvSpPr>
        <p:spPr>
          <a:xfrm>
            <a:off x="8133892"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eckmark-circle-fill.png"/>
          <p:cNvPicPr>
            <a:picLocks noChangeAspect="1"/>
          </p:cNvPicPr>
          <p:nvPr/>
        </p:nvPicPr>
        <p:blipFill>
          <a:blip r:embed="rId5"/>
          <a:stretch>
            <a:fillRect/>
          </a:stretch>
        </p:blipFill>
        <p:spPr>
          <a:xfrm>
            <a:off x="9577578" y="2117293"/>
            <a:ext cx="566928" cy="538581"/>
          </a:xfrm>
          <a:prstGeom prst="rect">
            <a:avLst/>
          </a:prstGeom>
        </p:spPr>
      </p:pic>
      <p:sp>
        <p:nvSpPr>
          <p:cNvPr id="34" name="TextBox 33"/>
          <p:cNvSpPr txBox="1"/>
          <p:nvPr/>
        </p:nvSpPr>
        <p:spPr>
          <a:xfrm>
            <a:off x="8261908"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Lễ phép, có trách nhiệm</a:t>
            </a:r>
          </a:p>
        </p:txBody>
      </p:sp>
      <p:sp>
        <p:nvSpPr>
          <p:cNvPr id="35" name="TextBox 34"/>
          <p:cNvSpPr txBox="1"/>
          <p:nvPr/>
        </p:nvSpPr>
        <p:spPr>
          <a:xfrm>
            <a:off x="8353348"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Chào hỏi lễ phép, giữ lời hứa, hoàn thành tốt việc thầy cô giao.</a:t>
            </a:r>
          </a:p>
        </p:txBody>
      </p:sp>
      <p:sp>
        <p:nvSpPr>
          <p:cNvPr id="36" name="TextBox 35"/>
          <p:cNvSpPr txBox="1"/>
          <p:nvPr/>
        </p:nvSpPr>
        <p:spPr>
          <a:xfrm>
            <a:off x="603504" y="5440680"/>
            <a:ext cx="10984687" cy="457200"/>
          </a:xfrm>
          <a:prstGeom prst="rect">
            <a:avLst/>
          </a:prstGeom>
          <a:noFill/>
        </p:spPr>
        <p:txBody>
          <a:bodyPr wrap="square" anchor="t" lIns="0" rIns="0" tIns="0" bIns="0">
            <a:spAutoFit/>
          </a:bodyPr>
          <a:lstStyle/>
          <a:p>
            <a:pPr algn="ctr"/>
            <a:r>
              <a:rPr sz="1500" b="0" i="1">
                <a:solidFill>
                  <a:srgbClr val="101631"/>
                </a:solidFill>
                <a:latin typeface="Liberation Sans"/>
              </a:rPr>
              <a:t>Đừng ngại nhé — </a:t>
            </a:r>
            <a:r>
              <a:rPr sz="1500" b="1" i="0">
                <a:solidFill>
                  <a:srgbClr val="101631"/>
                </a:solidFill>
                <a:latin typeface="Liberation Sans"/>
              </a:rPr>
              <a:t>thầy cô luôn lắng nghe chúng em!</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ook-fill.png"/>
          <p:cNvPicPr>
            <a:picLocks noChangeAspect="1"/>
          </p:cNvPicPr>
          <p:nvPr/>
        </p:nvPicPr>
        <p:blipFill>
          <a:blip r:embed="rId2"/>
          <a:stretch>
            <a:fillRect/>
          </a:stretch>
        </p:blipFill>
        <p:spPr>
          <a:xfrm>
            <a:off x="621792" y="425849"/>
            <a:ext cx="219456" cy="172429"/>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TIẾT 1 · PHẦN CHUẨN BỊ CỦA CHÚNG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Liberation Sans"/>
              </a:rPr>
              <a:t>Câu chuyện của em về một lần hợp tác</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09</a:t>
            </a:r>
          </a:p>
        </p:txBody>
      </p:sp>
      <p:sp>
        <p:nvSpPr>
          <p:cNvPr id="24" name="Rounded Rectangle 23"/>
          <p:cNvSpPr/>
          <p:nvPr/>
        </p:nvSpPr>
        <p:spPr>
          <a:xfrm>
            <a:off x="603504" y="1783080"/>
            <a:ext cx="5300319" cy="3977639"/>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2011680"/>
            <a:ext cx="4660239" cy="365760"/>
          </a:xfrm>
          <a:prstGeom prst="rect">
            <a:avLst/>
          </a:prstGeom>
          <a:noFill/>
        </p:spPr>
        <p:txBody>
          <a:bodyPr wrap="square" anchor="t" lIns="0" rIns="0" tIns="0" bIns="0">
            <a:spAutoFit/>
          </a:bodyPr>
          <a:lstStyle/>
          <a:p>
            <a:pPr algn="l"/>
            <a:r>
              <a:rPr sz="1550" b="1" i="0">
                <a:solidFill>
                  <a:srgbClr val="101631"/>
                </a:solidFill>
                <a:latin typeface="Liberation Sans"/>
              </a:rPr>
              <a:t>Kể theo ba phần cho dễ nhớ</a:t>
            </a:r>
          </a:p>
        </p:txBody>
      </p:sp>
      <p:sp>
        <p:nvSpPr>
          <p:cNvPr id="26" name="Oval 25"/>
          <p:cNvSpPr/>
          <p:nvPr/>
        </p:nvSpPr>
        <p:spPr>
          <a:xfrm>
            <a:off x="923544" y="2633472"/>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1</a:t>
            </a:r>
          </a:p>
        </p:txBody>
      </p:sp>
      <p:sp>
        <p:nvSpPr>
          <p:cNvPr id="27" name="TextBox 26"/>
          <p:cNvSpPr txBox="1"/>
          <p:nvPr/>
        </p:nvSpPr>
        <p:spPr>
          <a:xfrm>
            <a:off x="1563624" y="2624328"/>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Hoàn cảnh</a:t>
            </a:r>
          </a:p>
        </p:txBody>
      </p:sp>
      <p:sp>
        <p:nvSpPr>
          <p:cNvPr id="28" name="TextBox 27"/>
          <p:cNvSpPr txBox="1"/>
          <p:nvPr/>
        </p:nvSpPr>
        <p:spPr>
          <a:xfrm>
            <a:off x="1563624" y="2926079"/>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Chuyện xảy ra lúc nào, ở đâu, có những ai?</a:t>
            </a:r>
          </a:p>
        </p:txBody>
      </p:sp>
      <p:sp>
        <p:nvSpPr>
          <p:cNvPr id="29" name="Oval 28"/>
          <p:cNvSpPr/>
          <p:nvPr/>
        </p:nvSpPr>
        <p:spPr>
          <a:xfrm>
            <a:off x="923544" y="3666743"/>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2</a:t>
            </a:r>
          </a:p>
        </p:txBody>
      </p:sp>
      <p:sp>
        <p:nvSpPr>
          <p:cNvPr id="30" name="TextBox 29"/>
          <p:cNvSpPr txBox="1"/>
          <p:nvPr/>
        </p:nvSpPr>
        <p:spPr>
          <a:xfrm>
            <a:off x="1563624" y="3657599"/>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Chúng em đã làm gì</a:t>
            </a:r>
          </a:p>
        </p:txBody>
      </p:sp>
      <p:sp>
        <p:nvSpPr>
          <p:cNvPr id="31" name="TextBox 30"/>
          <p:cNvSpPr txBox="1"/>
          <p:nvPr/>
        </p:nvSpPr>
        <p:spPr>
          <a:xfrm>
            <a:off x="1563624" y="3959351"/>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Em và các bạn đã phối hợp với nhau ra sao?</a:t>
            </a:r>
          </a:p>
        </p:txBody>
      </p:sp>
      <p:sp>
        <p:nvSpPr>
          <p:cNvPr id="32" name="Oval 31"/>
          <p:cNvSpPr/>
          <p:nvPr/>
        </p:nvSpPr>
        <p:spPr>
          <a:xfrm>
            <a:off x="923544" y="4700015"/>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3</a:t>
            </a:r>
          </a:p>
        </p:txBody>
      </p:sp>
      <p:sp>
        <p:nvSpPr>
          <p:cNvPr id="33" name="TextBox 32"/>
          <p:cNvSpPr txBox="1"/>
          <p:nvPr/>
        </p:nvSpPr>
        <p:spPr>
          <a:xfrm>
            <a:off x="1563624" y="4690871"/>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Kết quả và bài học</a:t>
            </a:r>
          </a:p>
        </p:txBody>
      </p:sp>
      <p:sp>
        <p:nvSpPr>
          <p:cNvPr id="34" name="TextBox 33"/>
          <p:cNvSpPr txBox="1"/>
          <p:nvPr/>
        </p:nvSpPr>
        <p:spPr>
          <a:xfrm>
            <a:off x="1563624" y="4992623"/>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Việc kết thúc thế nào? Em rút ra được điều gì?</a:t>
            </a:r>
          </a:p>
        </p:txBody>
      </p:sp>
      <p:sp>
        <p:nvSpPr>
          <p:cNvPr id="35" name="Rounded Rectangle 34"/>
          <p:cNvSpPr/>
          <p:nvPr/>
        </p:nvSpPr>
        <p:spPr>
          <a:xfrm>
            <a:off x="6287871" y="1783080"/>
            <a:ext cx="5300319" cy="3977639"/>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quote-bubble-fill.png"/>
          <p:cNvPicPr>
            <a:picLocks noChangeAspect="1"/>
          </p:cNvPicPr>
          <p:nvPr/>
        </p:nvPicPr>
        <p:blipFill>
          <a:blip r:embed="rId3"/>
          <a:stretch>
            <a:fillRect/>
          </a:stretch>
        </p:blipFill>
        <p:spPr>
          <a:xfrm>
            <a:off x="6607911" y="2039721"/>
            <a:ext cx="420624" cy="364540"/>
          </a:xfrm>
          <a:prstGeom prst="rect">
            <a:avLst/>
          </a:prstGeom>
        </p:spPr>
      </p:pic>
      <p:sp>
        <p:nvSpPr>
          <p:cNvPr id="37" name="TextBox 36"/>
          <p:cNvSpPr txBox="1"/>
          <p:nvPr/>
        </p:nvSpPr>
        <p:spPr>
          <a:xfrm>
            <a:off x="7156551" y="2057400"/>
            <a:ext cx="4111599" cy="365760"/>
          </a:xfrm>
          <a:prstGeom prst="rect">
            <a:avLst/>
          </a:prstGeom>
          <a:noFill/>
        </p:spPr>
        <p:txBody>
          <a:bodyPr wrap="square" anchor="t" lIns="0" rIns="0" tIns="0" bIns="0">
            <a:spAutoFit/>
          </a:bodyPr>
          <a:lstStyle/>
          <a:p>
            <a:pPr algn="l"/>
            <a:r>
              <a:rPr sz="1550" b="1" i="0">
                <a:solidFill>
                  <a:srgbClr val="101631"/>
                </a:solidFill>
                <a:latin typeface="Liberation Sans"/>
              </a:rPr>
              <a:t>Câu chuyện của em (kể mẫu)</a:t>
            </a:r>
          </a:p>
        </p:txBody>
      </p:sp>
      <p:sp>
        <p:nvSpPr>
          <p:cNvPr id="38" name="TextBox 37"/>
          <p:cNvSpPr txBox="1"/>
          <p:nvPr/>
        </p:nvSpPr>
        <p:spPr>
          <a:xfrm>
            <a:off x="6607911" y="2651760"/>
            <a:ext cx="4660239" cy="2880359"/>
          </a:xfrm>
          <a:prstGeom prst="rect">
            <a:avLst/>
          </a:prstGeom>
          <a:noFill/>
        </p:spPr>
        <p:txBody>
          <a:bodyPr wrap="square" anchor="t" lIns="0" rIns="0" tIns="0" bIns="0">
            <a:spAutoFit/>
          </a:bodyPr>
          <a:lstStyle/>
          <a:p>
            <a:pPr algn="l">
              <a:lnSpc>
                <a:spcPct val="138000"/>
              </a:lnSpc>
            </a:pPr>
            <a:r>
              <a:rPr sz="1180" b="0" i="0">
                <a:solidFill>
                  <a:srgbClr val="4E5879"/>
                </a:solidFill>
                <a:latin typeface="Liberation Sans"/>
              </a:rPr>
              <a:t>Tuần trước, nhóm em làm mô hình “Ngôi trường xanh”. Bạn Hùng mải chơi quên phần việc của mình, cả nhóm lo lắng vì sắp đến hạn nộp. Em góp ý nhẹ nhàng, rủ Hùng cùng làm vào giờ ra chơi và nhận giúp một phần để bạn bắt kịp nhóm. Mô hình hoàn thành đúng hạn, cả nhóm vui lắm! Từ đó Hùng có trách nhiệm hơn. Em hiểu ra: hợp tác là giúp nhau cùng tiến bộ, chứ không phải trách móc nhau.</a:t>
            </a:r>
          </a:p>
        </p:txBody>
      </p:sp>
      <p:sp>
        <p:nvSpPr>
          <p:cNvPr id="39" name="Rounded Rectangle 38"/>
          <p:cNvSpPr/>
          <p:nvPr/>
        </p:nvSpPr>
        <p:spPr>
          <a:xfrm>
            <a:off x="603504" y="5989320"/>
            <a:ext cx="618100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0A66E0"/>
                </a:solidFill>
                <a:latin typeface="Liberation Sans"/>
              </a:rPr>
              <a:t>Các bạn hãy thay bằng kỉ niệm thật của mình — kể tự nhiên sẽ hay hơn!</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 y="777240"/>
            <a:ext cx="3429063"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200">
                <a:solidFill>
                  <a:srgbClr val="DE1F8B"/>
                </a:solidFill>
                <a:latin typeface="Liberation Sans"/>
              </a:rPr>
              <a:t>BƯỚC SANG TIẾT 2 · CÙNG THỰC HÀNH</a:t>
            </a:r>
          </a:p>
        </p:txBody>
      </p:sp>
      <p:sp>
        <p:nvSpPr>
          <p:cNvPr id="15" name="TextBox 14"/>
          <p:cNvSpPr txBox="1"/>
          <p:nvPr/>
        </p:nvSpPr>
        <p:spPr>
          <a:xfrm>
            <a:off x="603504" y="1325880"/>
            <a:ext cx="6309360" cy="1463040"/>
          </a:xfrm>
          <a:prstGeom prst="rect">
            <a:avLst/>
          </a:prstGeom>
          <a:noFill/>
        </p:spPr>
        <p:txBody>
          <a:bodyPr wrap="square" anchor="t" lIns="0" rIns="0" tIns="0" bIns="0">
            <a:spAutoFit/>
          </a:bodyPr>
          <a:lstStyle/>
          <a:p>
            <a:pPr algn="l"/>
            <a:r>
              <a:rPr sz="3500" b="1" i="0">
                <a:solidFill>
                  <a:srgbClr val="101631"/>
                </a:solidFill>
                <a:latin typeface="Liberation Sans"/>
              </a:rPr>
              <a:t>Nhóm em hỏi —
cả lớp cùng trả lời</a:t>
            </a:r>
          </a:p>
        </p:txBody>
      </p:sp>
      <p:sp>
        <p:nvSpPr>
          <p:cNvPr id="16" name="TextBox 15"/>
          <p:cNvSpPr txBox="1"/>
          <p:nvPr/>
        </p:nvSpPr>
        <p:spPr>
          <a:xfrm>
            <a:off x="603504" y="3246120"/>
            <a:ext cx="5897880" cy="777240"/>
          </a:xfrm>
          <a:prstGeom prst="rect">
            <a:avLst/>
          </a:prstGeom>
          <a:noFill/>
        </p:spPr>
        <p:txBody>
          <a:bodyPr wrap="square" anchor="t" lIns="0" rIns="0" tIns="0" bIns="0">
            <a:spAutoFit/>
          </a:bodyPr>
          <a:lstStyle/>
          <a:p>
            <a:pPr algn="l">
              <a:lnSpc>
                <a:spcPct val="130000"/>
              </a:lnSpc>
            </a:pPr>
            <a:r>
              <a:rPr sz="1350" b="0" i="1">
                <a:solidFill>
                  <a:srgbClr val="4E5879"/>
                </a:solidFill>
                <a:latin typeface="Liberation Sans"/>
              </a:rPr>
              <a:t>Nhóm em đọc từng tình huống, mời các bạn nêu cách ứng xử rồi tổng hợp ý kiến.</a:t>
            </a:r>
          </a:p>
        </p:txBody>
      </p:sp>
      <p:sp>
        <p:nvSpPr>
          <p:cNvPr id="17" name="Rounded Rectangle 16"/>
          <p:cNvSpPr/>
          <p:nvPr/>
        </p:nvSpPr>
        <p:spPr>
          <a:xfrm>
            <a:off x="7086600" y="14173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rop-triangle-fill.png"/>
          <p:cNvPicPr>
            <a:picLocks noChangeAspect="1"/>
          </p:cNvPicPr>
          <p:nvPr/>
        </p:nvPicPr>
        <p:blipFill>
          <a:blip r:embed="rId2"/>
          <a:stretch>
            <a:fillRect/>
          </a:stretch>
        </p:blipFill>
        <p:spPr>
          <a:xfrm>
            <a:off x="7232904" y="1598415"/>
            <a:ext cx="420624" cy="369328"/>
          </a:xfrm>
          <a:prstGeom prst="rect">
            <a:avLst/>
          </a:prstGeom>
        </p:spPr>
      </p:pic>
      <p:sp>
        <p:nvSpPr>
          <p:cNvPr id="19" name="TextBox 18"/>
          <p:cNvSpPr txBox="1"/>
          <p:nvPr/>
        </p:nvSpPr>
        <p:spPr>
          <a:xfrm>
            <a:off x="7799831" y="1490472"/>
            <a:ext cx="3657600" cy="274320"/>
          </a:xfrm>
          <a:prstGeom prst="rect">
            <a:avLst/>
          </a:prstGeom>
          <a:noFill/>
        </p:spPr>
        <p:txBody>
          <a:bodyPr wrap="square" anchor="t" lIns="0" rIns="0" tIns="0" bIns="0">
            <a:spAutoFit/>
          </a:bodyPr>
          <a:lstStyle/>
          <a:p>
            <a:pPr algn="l"/>
            <a:r>
              <a:rPr sz="1200" b="1" i="0" spc="150">
                <a:solidFill>
                  <a:srgbClr val="149A4E"/>
                </a:solidFill>
                <a:latin typeface="Liberation Sans"/>
              </a:rPr>
              <a:t>TH1</a:t>
            </a:r>
          </a:p>
        </p:txBody>
      </p:sp>
      <p:sp>
        <p:nvSpPr>
          <p:cNvPr id="20" name="TextBox 19"/>
          <p:cNvSpPr txBox="1"/>
          <p:nvPr/>
        </p:nvSpPr>
        <p:spPr>
          <a:xfrm>
            <a:off x="7799831" y="1783080"/>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Việc riêng trong giờ thực hành</a:t>
            </a:r>
          </a:p>
        </p:txBody>
      </p:sp>
      <p:sp>
        <p:nvSpPr>
          <p:cNvPr id="21" name="Rounded Rectangle 20"/>
          <p:cNvSpPr/>
          <p:nvPr/>
        </p:nvSpPr>
        <p:spPr>
          <a:xfrm>
            <a:off x="7086600" y="23317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aveform.png"/>
          <p:cNvPicPr>
            <a:picLocks noChangeAspect="1"/>
          </p:cNvPicPr>
          <p:nvPr/>
        </p:nvPicPr>
        <p:blipFill>
          <a:blip r:embed="rId3"/>
          <a:stretch>
            <a:fillRect/>
          </a:stretch>
        </p:blipFill>
        <p:spPr>
          <a:xfrm>
            <a:off x="7232904" y="2487168"/>
            <a:ext cx="420624" cy="420624"/>
          </a:xfrm>
          <a:prstGeom prst="rect">
            <a:avLst/>
          </a:prstGeom>
        </p:spPr>
      </p:pic>
      <p:sp>
        <p:nvSpPr>
          <p:cNvPr id="23" name="TextBox 22"/>
          <p:cNvSpPr txBox="1"/>
          <p:nvPr/>
        </p:nvSpPr>
        <p:spPr>
          <a:xfrm>
            <a:off x="7799831" y="2404872"/>
            <a:ext cx="3657600" cy="274320"/>
          </a:xfrm>
          <a:prstGeom prst="rect">
            <a:avLst/>
          </a:prstGeom>
          <a:noFill/>
        </p:spPr>
        <p:txBody>
          <a:bodyPr wrap="square" anchor="t" lIns="0" rIns="0" tIns="0" bIns="0">
            <a:spAutoFit/>
          </a:bodyPr>
          <a:lstStyle/>
          <a:p>
            <a:pPr algn="l"/>
            <a:r>
              <a:rPr sz="1200" b="1" i="0" spc="150">
                <a:solidFill>
                  <a:srgbClr val="DE1F8B"/>
                </a:solidFill>
                <a:latin typeface="Liberation Sans"/>
              </a:rPr>
              <a:t>TH2</a:t>
            </a:r>
          </a:p>
        </p:txBody>
      </p:sp>
      <p:sp>
        <p:nvSpPr>
          <p:cNvPr id="24" name="TextBox 23"/>
          <p:cNvSpPr txBox="1"/>
          <p:nvPr/>
        </p:nvSpPr>
        <p:spPr>
          <a:xfrm>
            <a:off x="7799831" y="2697479"/>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Bạn ốm trước buổi biểu diễn</a:t>
            </a:r>
          </a:p>
        </p:txBody>
      </p:sp>
      <p:sp>
        <p:nvSpPr>
          <p:cNvPr id="25" name="Rounded Rectangle 24"/>
          <p:cNvSpPr/>
          <p:nvPr/>
        </p:nvSpPr>
        <p:spPr>
          <a:xfrm>
            <a:off x="7086600" y="32461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rson-badge-plus.png"/>
          <p:cNvPicPr>
            <a:picLocks noChangeAspect="1"/>
          </p:cNvPicPr>
          <p:nvPr/>
        </p:nvPicPr>
        <p:blipFill>
          <a:blip r:embed="rId4"/>
          <a:stretch>
            <a:fillRect/>
          </a:stretch>
        </p:blipFill>
        <p:spPr>
          <a:xfrm>
            <a:off x="7232904" y="3420262"/>
            <a:ext cx="420624" cy="383235"/>
          </a:xfrm>
          <a:prstGeom prst="rect">
            <a:avLst/>
          </a:prstGeom>
        </p:spPr>
      </p:pic>
      <p:sp>
        <p:nvSpPr>
          <p:cNvPr id="27" name="TextBox 26"/>
          <p:cNvSpPr txBox="1"/>
          <p:nvPr/>
        </p:nvSpPr>
        <p:spPr>
          <a:xfrm>
            <a:off x="7799831" y="3319272"/>
            <a:ext cx="3657600" cy="274320"/>
          </a:xfrm>
          <a:prstGeom prst="rect">
            <a:avLst/>
          </a:prstGeom>
          <a:noFill/>
        </p:spPr>
        <p:txBody>
          <a:bodyPr wrap="square" anchor="t" lIns="0" rIns="0" tIns="0" bIns="0">
            <a:spAutoFit/>
          </a:bodyPr>
          <a:lstStyle/>
          <a:p>
            <a:pPr algn="l"/>
            <a:r>
              <a:rPr sz="1200" b="1" i="0" spc="150">
                <a:solidFill>
                  <a:srgbClr val="0A66E0"/>
                </a:solidFill>
                <a:latin typeface="Liberation Sans"/>
              </a:rPr>
              <a:t>TH3</a:t>
            </a:r>
          </a:p>
        </p:txBody>
      </p:sp>
      <p:sp>
        <p:nvSpPr>
          <p:cNvPr id="28" name="TextBox 27"/>
          <p:cNvSpPr txBox="1"/>
          <p:nvPr/>
        </p:nvSpPr>
        <p:spPr>
          <a:xfrm>
            <a:off x="7799831" y="3611879"/>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Bạn mới chuyển đến nhút nhát</a:t>
            </a:r>
          </a:p>
        </p:txBody>
      </p:sp>
      <p:sp>
        <p:nvSpPr>
          <p:cNvPr id="29" name="Rounded Rectangle 28"/>
          <p:cNvSpPr/>
          <p:nvPr/>
        </p:nvSpPr>
        <p:spPr>
          <a:xfrm>
            <a:off x="603504" y="4663440"/>
            <a:ext cx="5943600" cy="1188720"/>
          </a:xfrm>
          <a:prstGeom prst="roundRect">
            <a:avLst>
              <a:gd name="adj" fmla="val 20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 y="4846320"/>
            <a:ext cx="5394960" cy="914400"/>
          </a:xfrm>
          <a:prstGeom prst="rect">
            <a:avLst/>
          </a:prstGeom>
          <a:noFill/>
        </p:spPr>
        <p:txBody>
          <a:bodyPr wrap="square" anchor="t" lIns="0" rIns="0" tIns="0" bIns="0">
            <a:spAutoFit/>
          </a:bodyPr>
          <a:lstStyle/>
          <a:p>
            <a:pPr algn="l">
              <a:lnSpc>
                <a:spcPct val="128000"/>
              </a:lnSpc>
            </a:pPr>
            <a:r>
              <a:rPr sz="1350" b="1" i="0">
                <a:solidFill>
                  <a:srgbClr val="101631"/>
                </a:solidFill>
                <a:latin typeface="Liberation Sans"/>
              </a:rPr>
              <a:t>Cách chúng em tổ chức:  </a:t>
            </a:r>
            <a:r>
              <a:rPr sz="1250" b="0" i="0">
                <a:solidFill>
                  <a:srgbClr val="4E5879"/>
                </a:solidFill>
                <a:latin typeface="Liberation Sans"/>
              </a:rPr>
              <a:t>nhóm em nêu câu hỏi → cả lớp suy nghĩ 30 giây → các bạn trả lời → nhóm em ghi ý và chốt kĩ năng.</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drop-triangle-fill.png"/>
          <p:cNvPicPr>
            <a:picLocks noChangeAspect="1"/>
          </p:cNvPicPr>
          <p:nvPr/>
        </p:nvPicPr>
        <p:blipFill>
          <a:blip r:embed="rId2"/>
          <a:stretch>
            <a:fillRect/>
          </a:stretch>
        </p:blipFill>
        <p:spPr>
          <a:xfrm>
            <a:off x="621792" y="415717"/>
            <a:ext cx="219456" cy="19269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Liberation Sans"/>
              </a:rPr>
              <a:t>TIẾT 2 · TÌNH HUỐNG 1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1: Việc riêng trong giờ thực hành</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11</a:t>
            </a:r>
          </a:p>
        </p:txBody>
      </p:sp>
      <p:sp>
        <p:nvSpPr>
          <p:cNvPr id="24" name="Rounded Rectangle 23"/>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rop-triangle-fill.png"/>
          <p:cNvPicPr>
            <a:picLocks noChangeAspect="1"/>
          </p:cNvPicPr>
          <p:nvPr/>
        </p:nvPicPr>
        <p:blipFill>
          <a:blip r:embed="rId2"/>
          <a:stretch>
            <a:fillRect/>
          </a:stretch>
        </p:blipFill>
        <p:spPr>
          <a:xfrm>
            <a:off x="877824" y="1950348"/>
            <a:ext cx="493776" cy="433559"/>
          </a:xfrm>
          <a:prstGeom prst="rect">
            <a:avLst/>
          </a:prstGeom>
        </p:spPr>
      </p:pic>
      <p:sp>
        <p:nvSpPr>
          <p:cNvPr id="26" name="TextBox 25"/>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149A4E"/>
                </a:solidFill>
                <a:latin typeface="Liberation Sans"/>
              </a:rPr>
              <a:t>Tình huống:  </a:t>
            </a:r>
            <a:r>
              <a:rPr sz="1320" b="0" i="0">
                <a:solidFill>
                  <a:srgbClr val="101631"/>
                </a:solidFill>
                <a:latin typeface="Liberation Sans"/>
              </a:rPr>
              <a:t>Trong giờ thực hành môn Khoa học tự nhiên, các bạn cùng nhóm với Thanh đang làm thí nghiệm thì Thanh lấy bài tập Toán ra làm, không tham gia cùng nhóm.</a:t>
            </a:r>
          </a:p>
        </p:txBody>
      </p:sp>
      <p:sp>
        <p:nvSpPr>
          <p:cNvPr id="27" name="Rounded Rectangle 26"/>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29" name="Oval 28"/>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1</a:t>
            </a:r>
          </a:p>
        </p:txBody>
      </p:sp>
      <p:sp>
        <p:nvSpPr>
          <p:cNvPr id="30" name="TextBox 29"/>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Nếu là bạn cùng nhóm với Thanh, bạn sẽ mở lời thế nào để bạn không khó chịu?</a:t>
            </a:r>
          </a:p>
        </p:txBody>
      </p:sp>
      <p:sp>
        <p:nvSpPr>
          <p:cNvPr id="31" name="Oval 30"/>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2</a:t>
            </a:r>
          </a:p>
        </p:txBody>
      </p:sp>
      <p:sp>
        <p:nvSpPr>
          <p:cNvPr id="32" name="TextBox 31"/>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Bạn sẽ mời Thanh nhận phần việc nào để bạn quay lại làm cùng nhóm?</a:t>
            </a:r>
          </a:p>
        </p:txBody>
      </p:sp>
      <p:sp>
        <p:nvSpPr>
          <p:cNvPr id="33" name="Oval 32"/>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3</a:t>
            </a:r>
          </a:p>
        </p:txBody>
      </p:sp>
      <p:sp>
        <p:nvSpPr>
          <p:cNvPr id="34" name="TextBox 33"/>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Khi nào nhóm nên nhờ thầy cô hỗ trợ? Vì sao không nên phản ứng nóng vội?</a:t>
            </a:r>
          </a:p>
        </p:txBody>
      </p:sp>
      <p:sp>
        <p:nvSpPr>
          <p:cNvPr id="35" name="Rounded Rectangle 34"/>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bubble-pair-fill.png"/>
          <p:cNvPicPr>
            <a:picLocks noChangeAspect="1"/>
          </p:cNvPicPr>
          <p:nvPr/>
        </p:nvPicPr>
        <p:blipFill>
          <a:blip r:embed="rId3"/>
          <a:stretch>
            <a:fillRect/>
          </a:stretch>
        </p:blipFill>
        <p:spPr>
          <a:xfrm>
            <a:off x="8321040" y="3351192"/>
            <a:ext cx="347472" cy="265342"/>
          </a:xfrm>
          <a:prstGeom prst="rect">
            <a:avLst/>
          </a:prstGeom>
        </p:spPr>
      </p:pic>
      <p:sp>
        <p:nvSpPr>
          <p:cNvPr id="37" name="TextBox 36"/>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38" name="Rounded Rectangle 37"/>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olt-fill.png"/>
          <p:cNvPicPr>
            <a:picLocks noChangeAspect="1"/>
          </p:cNvPicPr>
          <p:nvPr/>
        </p:nvPicPr>
        <p:blipFill>
          <a:blip r:embed="rId4"/>
          <a:stretch>
            <a:fillRect/>
          </a:stretch>
        </p:blipFill>
        <p:spPr>
          <a:xfrm>
            <a:off x="8357403" y="4800600"/>
            <a:ext cx="274745" cy="347472"/>
          </a:xfrm>
          <a:prstGeom prst="rect">
            <a:avLst/>
          </a:prstGeom>
        </p:spPr>
      </p:pic>
      <p:sp>
        <p:nvSpPr>
          <p:cNvPr id="40" name="TextBox 39"/>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Nhắc khéo trước, mời bạn cùng làm việc phù hợp; chỉ nhờ thầy cô khi cần.</a:t>
            </a:r>
          </a:p>
          <a:p>
            <a:pPr algn="l">
              <a:lnSpc>
                <a:spcPct val="110000"/>
              </a:lnSpc>
            </a:pPr>
            <a:r>
              <a:rPr sz="1019" b="1" i="0">
                <a:solidFill>
                  <a:srgbClr val="149A4E"/>
                </a:solidFill>
                <a:latin typeface="Liberation Sans"/>
              </a:rPr>
              <a:t>Kĩ năng: giao tiếp khéo léo · kiên nhẫn · tôn trọng bạn</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waveform.png"/>
          <p:cNvPicPr>
            <a:picLocks noChangeAspect="1"/>
          </p:cNvPicPr>
          <p:nvPr/>
        </p:nvPicPr>
        <p:blipFill>
          <a:blip r:embed="rId2"/>
          <a:stretch>
            <a:fillRect/>
          </a:stretch>
        </p:blipFill>
        <p:spPr>
          <a:xfrm>
            <a:off x="621792" y="402336"/>
            <a:ext cx="219456" cy="21945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Liberation Sans"/>
              </a:rPr>
              <a:t>TIẾT 2 · TÌNH HUỐNG 2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2: Bạn ốm trước buổi biểu diễn</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12</a:t>
            </a:r>
          </a:p>
        </p:txBody>
      </p:sp>
      <p:sp>
        <p:nvSpPr>
          <p:cNvPr id="24" name="Rounded Rectangle 23"/>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veform.png"/>
          <p:cNvPicPr>
            <a:picLocks noChangeAspect="1"/>
          </p:cNvPicPr>
          <p:nvPr/>
        </p:nvPicPr>
        <p:blipFill>
          <a:blip r:embed="rId2"/>
          <a:stretch>
            <a:fillRect/>
          </a:stretch>
        </p:blipFill>
        <p:spPr>
          <a:xfrm>
            <a:off x="877824" y="1920240"/>
            <a:ext cx="493776" cy="493776"/>
          </a:xfrm>
          <a:prstGeom prst="rect">
            <a:avLst/>
          </a:prstGeom>
        </p:spPr>
      </p:pic>
      <p:sp>
        <p:nvSpPr>
          <p:cNvPr id="26" name="TextBox 25"/>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DE1F8B"/>
                </a:solidFill>
                <a:latin typeface="Liberation Sans"/>
              </a:rPr>
              <a:t>Tình huống:  </a:t>
            </a:r>
            <a:r>
              <a:rPr sz="1320" b="0" i="0">
                <a:solidFill>
                  <a:srgbClr val="101631"/>
                </a:solidFill>
                <a:latin typeface="Liberation Sans"/>
              </a:rPr>
              <a:t>Nhóm em đang tập tiết mục văn nghệ chào mừng ngày Nhà giáo Việt Nam. Chỉ còn hai ngày nữa là biểu diễn thì Mai — người hát chính — bị ốm, phải nghỉ học.</a:t>
            </a:r>
          </a:p>
        </p:txBody>
      </p:sp>
      <p:sp>
        <p:nvSpPr>
          <p:cNvPr id="27" name="Rounded Rectangle 26"/>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29" name="Oval 28"/>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1</a:t>
            </a:r>
          </a:p>
        </p:txBody>
      </p:sp>
      <p:sp>
        <p:nvSpPr>
          <p:cNvPr id="30" name="TextBox 29"/>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Việc đầu tiên nhóm nên làm với Mai là gì để bạn không thấy áy náy?</a:t>
            </a:r>
          </a:p>
        </p:txBody>
      </p:sp>
      <p:sp>
        <p:nvSpPr>
          <p:cNvPr id="31" name="Oval 30"/>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2</a:t>
            </a:r>
          </a:p>
        </p:txBody>
      </p:sp>
      <p:sp>
        <p:nvSpPr>
          <p:cNvPr id="32" name="TextBox 31"/>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Nhóm có thể thay đổi phần biểu diễn như thế nào mà vẫn tôn trọng Mai?</a:t>
            </a:r>
          </a:p>
        </p:txBody>
      </p:sp>
      <p:sp>
        <p:nvSpPr>
          <p:cNvPr id="33" name="Oval 32"/>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3</a:t>
            </a:r>
          </a:p>
        </p:txBody>
      </p:sp>
      <p:sp>
        <p:nvSpPr>
          <p:cNvPr id="34" name="TextBox 33"/>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Sau buổi biểu diễn, chúng ta nên làm gì để Mai vẫn cảm thấy mình thuộc về nhóm?</a:t>
            </a:r>
          </a:p>
        </p:txBody>
      </p:sp>
      <p:sp>
        <p:nvSpPr>
          <p:cNvPr id="35" name="Rounded Rectangle 34"/>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bubble-pair-fill.png"/>
          <p:cNvPicPr>
            <a:picLocks noChangeAspect="1"/>
          </p:cNvPicPr>
          <p:nvPr/>
        </p:nvPicPr>
        <p:blipFill>
          <a:blip r:embed="rId3"/>
          <a:stretch>
            <a:fillRect/>
          </a:stretch>
        </p:blipFill>
        <p:spPr>
          <a:xfrm>
            <a:off x="8321040" y="3351192"/>
            <a:ext cx="347472" cy="265342"/>
          </a:xfrm>
          <a:prstGeom prst="rect">
            <a:avLst/>
          </a:prstGeom>
        </p:spPr>
      </p:pic>
      <p:sp>
        <p:nvSpPr>
          <p:cNvPr id="37" name="TextBox 36"/>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38" name="Rounded Rectangle 37"/>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olt-fill.png"/>
          <p:cNvPicPr>
            <a:picLocks noChangeAspect="1"/>
          </p:cNvPicPr>
          <p:nvPr/>
        </p:nvPicPr>
        <p:blipFill>
          <a:blip r:embed="rId4"/>
          <a:stretch>
            <a:fillRect/>
          </a:stretch>
        </p:blipFill>
        <p:spPr>
          <a:xfrm>
            <a:off x="8357403" y="4800600"/>
            <a:ext cx="274745" cy="347472"/>
          </a:xfrm>
          <a:prstGeom prst="rect">
            <a:avLst/>
          </a:prstGeom>
        </p:spPr>
      </p:pic>
      <p:sp>
        <p:nvSpPr>
          <p:cNvPr id="40" name="TextBox 39"/>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Quan tâm sức khỏe của bạn, cùng linh hoạt điều chỉnh và luôn giữ Mai trong nhóm.</a:t>
            </a:r>
          </a:p>
          <a:p>
            <a:pPr algn="l">
              <a:lnSpc>
                <a:spcPct val="110000"/>
              </a:lnSpc>
            </a:pPr>
            <a:r>
              <a:rPr sz="1019" b="1" i="0">
                <a:solidFill>
                  <a:srgbClr val="DE1F8B"/>
                </a:solidFill>
                <a:latin typeface="Liberation Sans"/>
              </a:rPr>
              <a:t>Kĩ năng: quan tâm · chia sẻ · linh hoạt · trách nhiệm</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badge-plus.png"/>
          <p:cNvPicPr>
            <a:picLocks noChangeAspect="1"/>
          </p:cNvPicPr>
          <p:nvPr/>
        </p:nvPicPr>
        <p:blipFill>
          <a:blip r:embed="rId2"/>
          <a:stretch>
            <a:fillRect/>
          </a:stretch>
        </p:blipFill>
        <p:spPr>
          <a:xfrm>
            <a:off x="621792" y="412089"/>
            <a:ext cx="219456" cy="199948"/>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TIẾT 2 · TÌNH HUỐNG 3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3: Bạn mới chuyển đến lớp</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13</a:t>
            </a:r>
          </a:p>
        </p:txBody>
      </p:sp>
      <p:sp>
        <p:nvSpPr>
          <p:cNvPr id="24" name="Rounded Rectangle 23"/>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badge-plus.png"/>
          <p:cNvPicPr>
            <a:picLocks noChangeAspect="1"/>
          </p:cNvPicPr>
          <p:nvPr/>
        </p:nvPicPr>
        <p:blipFill>
          <a:blip r:embed="rId2"/>
          <a:stretch>
            <a:fillRect/>
          </a:stretch>
        </p:blipFill>
        <p:spPr>
          <a:xfrm>
            <a:off x="877824" y="1942185"/>
            <a:ext cx="493776" cy="449884"/>
          </a:xfrm>
          <a:prstGeom prst="rect">
            <a:avLst/>
          </a:prstGeom>
        </p:spPr>
      </p:pic>
      <p:sp>
        <p:nvSpPr>
          <p:cNvPr id="26" name="TextBox 25"/>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0A66E0"/>
                </a:solidFill>
                <a:latin typeface="Liberation Sans"/>
              </a:rPr>
              <a:t>Tình huống:  </a:t>
            </a:r>
            <a:r>
              <a:rPr sz="1320" b="0" i="0">
                <a:solidFill>
                  <a:srgbClr val="101631"/>
                </a:solidFill>
                <a:latin typeface="Liberation Sans"/>
              </a:rPr>
              <a:t>Có bạn mới chuyển đến lớp em. Bạn còn nhút nhát, ít nói, ngại tham gia các hoạt động chung cùng các bạn.</a:t>
            </a:r>
          </a:p>
        </p:txBody>
      </p:sp>
      <p:sp>
        <p:nvSpPr>
          <p:cNvPr id="27" name="Rounded Rectangle 26"/>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29" name="Oval 28"/>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1</a:t>
            </a:r>
          </a:p>
        </p:txBody>
      </p:sp>
      <p:sp>
        <p:nvSpPr>
          <p:cNvPr id="30" name="TextBox 29"/>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Nếu là người ngồi gần, bạn sẽ nói câu đầu tiên nào để làm quen với bạn mới?</a:t>
            </a:r>
          </a:p>
        </p:txBody>
      </p:sp>
      <p:sp>
        <p:nvSpPr>
          <p:cNvPr id="31" name="Oval 30"/>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2</a:t>
            </a:r>
          </a:p>
        </p:txBody>
      </p:sp>
      <p:sp>
        <p:nvSpPr>
          <p:cNvPr id="32" name="TextBox 31"/>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Bạn có thể giúp bạn mới bắt nhịp việc học và hoạt động chung ra sao?</a:t>
            </a:r>
          </a:p>
        </p:txBody>
      </p:sp>
      <p:sp>
        <p:nvSpPr>
          <p:cNvPr id="33" name="Oval 32"/>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3</a:t>
            </a:r>
          </a:p>
        </p:txBody>
      </p:sp>
      <p:sp>
        <p:nvSpPr>
          <p:cNvPr id="34" name="TextBox 33"/>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Lớp mình cần tránh những điều gì để bạn không thấy lạc lõng hay bị trêu chọc?</a:t>
            </a:r>
          </a:p>
        </p:txBody>
      </p:sp>
      <p:sp>
        <p:nvSpPr>
          <p:cNvPr id="35" name="Rounded Rectangle 34"/>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bubble-pair-fill.png"/>
          <p:cNvPicPr>
            <a:picLocks noChangeAspect="1"/>
          </p:cNvPicPr>
          <p:nvPr/>
        </p:nvPicPr>
        <p:blipFill>
          <a:blip r:embed="rId3"/>
          <a:stretch>
            <a:fillRect/>
          </a:stretch>
        </p:blipFill>
        <p:spPr>
          <a:xfrm>
            <a:off x="8321040" y="3351192"/>
            <a:ext cx="347472" cy="265342"/>
          </a:xfrm>
          <a:prstGeom prst="rect">
            <a:avLst/>
          </a:prstGeom>
        </p:spPr>
      </p:pic>
      <p:sp>
        <p:nvSpPr>
          <p:cNvPr id="37" name="TextBox 36"/>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38" name="Rounded Rectangle 37"/>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olt-fill.png"/>
          <p:cNvPicPr>
            <a:picLocks noChangeAspect="1"/>
          </p:cNvPicPr>
          <p:nvPr/>
        </p:nvPicPr>
        <p:blipFill>
          <a:blip r:embed="rId4"/>
          <a:stretch>
            <a:fillRect/>
          </a:stretch>
        </p:blipFill>
        <p:spPr>
          <a:xfrm>
            <a:off x="8357403" y="4800600"/>
            <a:ext cx="274745" cy="347472"/>
          </a:xfrm>
          <a:prstGeom prst="rect">
            <a:avLst/>
          </a:prstGeom>
        </p:spPr>
      </p:pic>
      <p:sp>
        <p:nvSpPr>
          <p:cNvPr id="40" name="TextBox 39"/>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Chủ động chào hỏi, giúp từ việc nhỏ và để bạn tham gia theo nhịp của mình.</a:t>
            </a:r>
          </a:p>
          <a:p>
            <a:pPr algn="l">
              <a:lnSpc>
                <a:spcPct val="110000"/>
              </a:lnSpc>
            </a:pPr>
            <a:r>
              <a:rPr sz="1019" b="1" i="0">
                <a:solidFill>
                  <a:srgbClr val="0A66E0"/>
                </a:solidFill>
                <a:latin typeface="Liberation Sans"/>
              </a:rPr>
              <a:t>Kĩ năng: cởi mở · kiên nhẫn · đồng cảm · an toàn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Liberation Sans"/>
              </a:rPr>
              <a:t>TIẾT 2 · KỊCH BẢN TRAO ĐỔI CỦA NHÓM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500" b="1" i="0" spc="20">
                <a:solidFill>
                  <a:srgbClr val="101631"/>
                </a:solidFill>
                <a:latin typeface="Liberation Sans"/>
              </a:rPr>
              <a:t>Kịch bản mẫu — nhóm em hỏi, lớp mình trả lời</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14</a:t>
            </a:r>
          </a:p>
        </p:txBody>
      </p:sp>
      <p:sp>
        <p:nvSpPr>
          <p:cNvPr id="24" name="Rounded Rectangle 23"/>
          <p:cNvSpPr/>
          <p:nvPr/>
        </p:nvSpPr>
        <p:spPr>
          <a:xfrm>
            <a:off x="603504" y="1572768"/>
            <a:ext cx="1074356"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Dẫn chuyện</a:t>
            </a:r>
          </a:p>
        </p:txBody>
      </p:sp>
      <p:sp>
        <p:nvSpPr>
          <p:cNvPr id="25" name="Rounded Rectangle 24"/>
          <p:cNvSpPr/>
          <p:nvPr/>
        </p:nvSpPr>
        <p:spPr>
          <a:xfrm>
            <a:off x="1824164" y="1572768"/>
            <a:ext cx="778764"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Bạn hỏi</a:t>
            </a:r>
          </a:p>
        </p:txBody>
      </p:sp>
      <p:sp>
        <p:nvSpPr>
          <p:cNvPr id="26" name="Rounded Rectangle 25"/>
          <p:cNvSpPr/>
          <p:nvPr/>
        </p:nvSpPr>
        <p:spPr>
          <a:xfrm>
            <a:off x="2749232" y="1572768"/>
            <a:ext cx="691642"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Cả lớp</a:t>
            </a:r>
          </a:p>
        </p:txBody>
      </p:sp>
      <p:sp>
        <p:nvSpPr>
          <p:cNvPr id="27" name="Rounded Rectangle 26"/>
          <p:cNvSpPr/>
          <p:nvPr/>
        </p:nvSpPr>
        <p:spPr>
          <a:xfrm>
            <a:off x="3587178" y="1572768"/>
            <a:ext cx="1189482"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Bạn tổng hợp</a:t>
            </a:r>
          </a:p>
        </p:txBody>
      </p:sp>
      <p:sp>
        <p:nvSpPr>
          <p:cNvPr id="28" name="Rounded Rectangle 27"/>
          <p:cNvSpPr/>
          <p:nvPr/>
        </p:nvSpPr>
        <p:spPr>
          <a:xfrm>
            <a:off x="603504" y="2057400"/>
            <a:ext cx="10984687" cy="3794760"/>
          </a:xfrm>
          <a:prstGeom prst="roundRect">
            <a:avLst>
              <a:gd name="adj" fmla="val 14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112" y="2395728"/>
            <a:ext cx="64008" cy="329184"/>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33856" y="2340864"/>
            <a:ext cx="2834640" cy="274320"/>
          </a:xfrm>
          <a:prstGeom prst="rect">
            <a:avLst/>
          </a:prstGeom>
          <a:noFill/>
        </p:spPr>
        <p:txBody>
          <a:bodyPr wrap="square" anchor="t" lIns="0" rIns="0" tIns="0" bIns="0">
            <a:spAutoFit/>
          </a:bodyPr>
          <a:lstStyle/>
          <a:p>
            <a:pPr algn="l"/>
            <a:r>
              <a:rPr sz="1150" b="1" i="0">
                <a:solidFill>
                  <a:srgbClr val="5A54D6"/>
                </a:solidFill>
                <a:latin typeface="Liberation Sans"/>
              </a:rPr>
              <a:t>Dẫn chuyện</a:t>
            </a:r>
          </a:p>
        </p:txBody>
      </p:sp>
      <p:sp>
        <p:nvSpPr>
          <p:cNvPr id="31" name="TextBox 30"/>
          <p:cNvSpPr txBox="1"/>
          <p:nvPr/>
        </p:nvSpPr>
        <p:spPr>
          <a:xfrm>
            <a:off x="3803904" y="235000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Nhóm em xin mời cả lớp cùng xử lí tình huống 1: Thanh đang làm việc riêng trong giờ thực hành.</a:t>
            </a:r>
          </a:p>
        </p:txBody>
      </p:sp>
      <p:sp>
        <p:nvSpPr>
          <p:cNvPr id="32" name="Rounded Rectangle 31"/>
          <p:cNvSpPr/>
          <p:nvPr/>
        </p:nvSpPr>
        <p:spPr>
          <a:xfrm>
            <a:off x="896112" y="2962656"/>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33856" y="2907792"/>
            <a:ext cx="2834640" cy="274320"/>
          </a:xfrm>
          <a:prstGeom prst="rect">
            <a:avLst/>
          </a:prstGeom>
          <a:noFill/>
        </p:spPr>
        <p:txBody>
          <a:bodyPr wrap="square" anchor="t" lIns="0" rIns="0" tIns="0" bIns="0">
            <a:spAutoFit/>
          </a:bodyPr>
          <a:lstStyle/>
          <a:p>
            <a:pPr algn="l"/>
            <a:r>
              <a:rPr sz="1150" b="1" i="0">
                <a:solidFill>
                  <a:srgbClr val="149A4E"/>
                </a:solidFill>
                <a:latin typeface="Liberation Sans"/>
              </a:rPr>
              <a:t>Bạn hỏi</a:t>
            </a:r>
          </a:p>
        </p:txBody>
      </p:sp>
      <p:sp>
        <p:nvSpPr>
          <p:cNvPr id="34" name="TextBox 33"/>
          <p:cNvSpPr txBox="1"/>
          <p:nvPr/>
        </p:nvSpPr>
        <p:spPr>
          <a:xfrm>
            <a:off x="3803904" y="2916936"/>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Nếu là bạn cùng nhóm, bạn sẽ mở lời thế nào để Thanh không khó chịu?</a:t>
            </a:r>
          </a:p>
        </p:txBody>
      </p:sp>
      <p:sp>
        <p:nvSpPr>
          <p:cNvPr id="35" name="Rounded Rectangle 34"/>
          <p:cNvSpPr/>
          <p:nvPr/>
        </p:nvSpPr>
        <p:spPr>
          <a:xfrm>
            <a:off x="896112" y="3529584"/>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33856" y="3474720"/>
            <a:ext cx="2834640" cy="274320"/>
          </a:xfrm>
          <a:prstGeom prst="rect">
            <a:avLst/>
          </a:prstGeom>
          <a:noFill/>
        </p:spPr>
        <p:txBody>
          <a:bodyPr wrap="square" anchor="t" lIns="0" rIns="0" tIns="0" bIns="0">
            <a:spAutoFit/>
          </a:bodyPr>
          <a:lstStyle/>
          <a:p>
            <a:pPr algn="l"/>
            <a:r>
              <a:rPr sz="1150" b="1" i="0">
                <a:solidFill>
                  <a:srgbClr val="101631"/>
                </a:solidFill>
                <a:latin typeface="Liberation Sans"/>
              </a:rPr>
              <a:t>Cả lớp</a:t>
            </a:r>
          </a:p>
        </p:txBody>
      </p:sp>
      <p:sp>
        <p:nvSpPr>
          <p:cNvPr id="37" name="TextBox 36"/>
          <p:cNvSpPr txBox="1"/>
          <p:nvPr/>
        </p:nvSpPr>
        <p:spPr>
          <a:xfrm>
            <a:off x="3803904" y="3483864"/>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Em sẽ nhắc nhẹ: “Thanh ơi, nhóm mình đang cần cậu cùng làm thí nghiệm.”</a:t>
            </a:r>
          </a:p>
        </p:txBody>
      </p:sp>
      <p:sp>
        <p:nvSpPr>
          <p:cNvPr id="38" name="Rounded Rectangle 37"/>
          <p:cNvSpPr/>
          <p:nvPr/>
        </p:nvSpPr>
        <p:spPr>
          <a:xfrm>
            <a:off x="896112" y="4096512"/>
            <a:ext cx="64008" cy="329184"/>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4041648"/>
            <a:ext cx="2834640" cy="274320"/>
          </a:xfrm>
          <a:prstGeom prst="rect">
            <a:avLst/>
          </a:prstGeom>
          <a:noFill/>
        </p:spPr>
        <p:txBody>
          <a:bodyPr wrap="square" anchor="t" lIns="0" rIns="0" tIns="0" bIns="0">
            <a:spAutoFit/>
          </a:bodyPr>
          <a:lstStyle/>
          <a:p>
            <a:pPr algn="l"/>
            <a:r>
              <a:rPr sz="1150" b="1" i="0">
                <a:solidFill>
                  <a:srgbClr val="A24AD6"/>
                </a:solidFill>
                <a:latin typeface="Liberation Sans"/>
              </a:rPr>
              <a:t>Bạn hỏi</a:t>
            </a:r>
          </a:p>
        </p:txBody>
      </p:sp>
      <p:sp>
        <p:nvSpPr>
          <p:cNvPr id="40" name="TextBox 39"/>
          <p:cNvSpPr txBox="1"/>
          <p:nvPr/>
        </p:nvSpPr>
        <p:spPr>
          <a:xfrm>
            <a:off x="3803904" y="4050792"/>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Nếu Thanh lo bài Toán, nhóm mình có thể mời bạn làm phần việc nào?</a:t>
            </a:r>
          </a:p>
        </p:txBody>
      </p:sp>
      <p:sp>
        <p:nvSpPr>
          <p:cNvPr id="41" name="Rounded Rectangle 40"/>
          <p:cNvSpPr/>
          <p:nvPr/>
        </p:nvSpPr>
        <p:spPr>
          <a:xfrm>
            <a:off x="896112" y="4663440"/>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33856" y="4608576"/>
            <a:ext cx="2834640" cy="274320"/>
          </a:xfrm>
          <a:prstGeom prst="rect">
            <a:avLst/>
          </a:prstGeom>
          <a:noFill/>
        </p:spPr>
        <p:txBody>
          <a:bodyPr wrap="square" anchor="t" lIns="0" rIns="0" tIns="0" bIns="0">
            <a:spAutoFit/>
          </a:bodyPr>
          <a:lstStyle/>
          <a:p>
            <a:pPr algn="l"/>
            <a:r>
              <a:rPr sz="1150" b="1" i="0">
                <a:solidFill>
                  <a:srgbClr val="101631"/>
                </a:solidFill>
                <a:latin typeface="Liberation Sans"/>
              </a:rPr>
              <a:t>Cả lớp</a:t>
            </a:r>
          </a:p>
        </p:txBody>
      </p:sp>
      <p:sp>
        <p:nvSpPr>
          <p:cNvPr id="43" name="TextBox 42"/>
          <p:cNvSpPr txBox="1"/>
          <p:nvPr/>
        </p:nvSpPr>
        <p:spPr>
          <a:xfrm>
            <a:off x="3803904" y="4617720"/>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Bạn có thể ghi số liệu hoặc quan sát hiện tượng, vừa giúp nhóm vừa theo kịp công việc.</a:t>
            </a:r>
          </a:p>
        </p:txBody>
      </p:sp>
      <p:sp>
        <p:nvSpPr>
          <p:cNvPr id="44" name="Rounded Rectangle 43"/>
          <p:cNvSpPr/>
          <p:nvPr/>
        </p:nvSpPr>
        <p:spPr>
          <a:xfrm>
            <a:off x="896112" y="5230368"/>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5175504"/>
            <a:ext cx="2834640" cy="274320"/>
          </a:xfrm>
          <a:prstGeom prst="rect">
            <a:avLst/>
          </a:prstGeom>
          <a:noFill/>
        </p:spPr>
        <p:txBody>
          <a:bodyPr wrap="square" anchor="t" lIns="0" rIns="0" tIns="0" bIns="0">
            <a:spAutoFit/>
          </a:bodyPr>
          <a:lstStyle/>
          <a:p>
            <a:pPr algn="l"/>
            <a:r>
              <a:rPr sz="1150" b="1" i="0">
                <a:solidFill>
                  <a:srgbClr val="149A4E"/>
                </a:solidFill>
                <a:latin typeface="Liberation Sans"/>
              </a:rPr>
              <a:t>Bạn tổng hợp</a:t>
            </a:r>
          </a:p>
        </p:txBody>
      </p:sp>
      <p:sp>
        <p:nvSpPr>
          <p:cNvPr id="46" name="TextBox 45"/>
          <p:cNvSpPr txBox="1"/>
          <p:nvPr/>
        </p:nvSpPr>
        <p:spPr>
          <a:xfrm>
            <a:off x="3803904" y="518464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Nhóm em cảm ơn! Chúng ta nhắc khéo, mời bạn vào việc phù hợp và hỗ trợ nhau.</a:t>
            </a:r>
          </a:p>
        </p:txBody>
      </p:sp>
      <p:sp>
        <p:nvSpPr>
          <p:cNvPr id="47" name="Rounded Rectangle 46"/>
          <p:cNvSpPr/>
          <p:nvPr/>
        </p:nvSpPr>
        <p:spPr>
          <a:xfrm>
            <a:off x="896112" y="6053328"/>
            <a:ext cx="591978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Liberation Sans"/>
              </a:rPr>
              <a:t>Hỏi ngắn, chờ lớp trả lời, cảm ơn rồi mới chốt ý — thế là đủ tự nhiên!</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Liberation Sans"/>
              </a:rPr>
              <a:t>TIẾT 2 · SAU KHI CÙNG THỰC HÀNH</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Điều chúng em học được hôm nay</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15</a:t>
            </a:r>
          </a:p>
        </p:txBody>
      </p:sp>
      <p:sp>
        <p:nvSpPr>
          <p:cNvPr id="24" name="Rounded Rectangle 23"/>
          <p:cNvSpPr/>
          <p:nvPr/>
        </p:nvSpPr>
        <p:spPr>
          <a:xfrm>
            <a:off x="603504"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2-fill.png"/>
          <p:cNvPicPr>
            <a:picLocks noChangeAspect="1"/>
          </p:cNvPicPr>
          <p:nvPr/>
        </p:nvPicPr>
        <p:blipFill>
          <a:blip r:embed="rId3"/>
          <a:stretch>
            <a:fillRect/>
          </a:stretch>
        </p:blipFill>
        <p:spPr>
          <a:xfrm>
            <a:off x="1599399" y="2204720"/>
            <a:ext cx="548640" cy="345440"/>
          </a:xfrm>
          <a:prstGeom prst="rect">
            <a:avLst/>
          </a:prstGeom>
        </p:spPr>
      </p:pic>
      <p:sp>
        <p:nvSpPr>
          <p:cNvPr id="26" name="TextBox 25"/>
          <p:cNvSpPr txBox="1"/>
          <p:nvPr/>
        </p:nvSpPr>
        <p:spPr>
          <a:xfrm>
            <a:off x="713232"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Nhắc khéo, không trách móc</a:t>
            </a:r>
          </a:p>
        </p:txBody>
      </p:sp>
      <p:sp>
        <p:nvSpPr>
          <p:cNvPr id="27" name="TextBox 26"/>
          <p:cNvSpPr txBox="1"/>
          <p:nvPr/>
        </p:nvSpPr>
        <p:spPr>
          <a:xfrm>
            <a:off x="786384"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Một lời nhắc nhẹ nhàng và tôn trọng sẽ dễ nghe hơn nhiều.</a:t>
            </a:r>
          </a:p>
        </p:txBody>
      </p:sp>
      <p:sp>
        <p:nvSpPr>
          <p:cNvPr id="28" name="Rounded Rectangle 27"/>
          <p:cNvSpPr/>
          <p:nvPr/>
        </p:nvSpPr>
        <p:spPr>
          <a:xfrm>
            <a:off x="3418255"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heart-fill.png"/>
          <p:cNvPicPr>
            <a:picLocks noChangeAspect="1"/>
          </p:cNvPicPr>
          <p:nvPr/>
        </p:nvPicPr>
        <p:blipFill>
          <a:blip r:embed="rId4"/>
          <a:stretch>
            <a:fillRect/>
          </a:stretch>
        </p:blipFill>
        <p:spPr>
          <a:xfrm>
            <a:off x="4414151" y="2143264"/>
            <a:ext cx="548640" cy="468351"/>
          </a:xfrm>
          <a:prstGeom prst="rect">
            <a:avLst/>
          </a:prstGeom>
        </p:spPr>
      </p:pic>
      <p:sp>
        <p:nvSpPr>
          <p:cNvPr id="30" name="TextBox 29"/>
          <p:cNvSpPr txBox="1"/>
          <p:nvPr/>
        </p:nvSpPr>
        <p:spPr>
          <a:xfrm>
            <a:off x="3527983"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Quan tâm đúng lúc</a:t>
            </a:r>
          </a:p>
        </p:txBody>
      </p:sp>
      <p:sp>
        <p:nvSpPr>
          <p:cNvPr id="31" name="TextBox 30"/>
          <p:cNvSpPr txBox="1"/>
          <p:nvPr/>
        </p:nvSpPr>
        <p:spPr>
          <a:xfrm>
            <a:off x="3601135"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Bạn ốm, bạn buồn… hãy chia sẻ và động viên trước tiên.</a:t>
            </a:r>
          </a:p>
        </p:txBody>
      </p:sp>
      <p:sp>
        <p:nvSpPr>
          <p:cNvPr id="32" name="Rounded Rectangle 31"/>
          <p:cNvSpPr/>
          <p:nvPr/>
        </p:nvSpPr>
        <p:spPr>
          <a:xfrm>
            <a:off x="6233007"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badge-plus.png"/>
          <p:cNvPicPr>
            <a:picLocks noChangeAspect="1"/>
          </p:cNvPicPr>
          <p:nvPr/>
        </p:nvPicPr>
        <p:blipFill>
          <a:blip r:embed="rId5"/>
          <a:stretch>
            <a:fillRect/>
          </a:stretch>
        </p:blipFill>
        <p:spPr>
          <a:xfrm>
            <a:off x="7228903" y="2127504"/>
            <a:ext cx="548640" cy="499871"/>
          </a:xfrm>
          <a:prstGeom prst="rect">
            <a:avLst/>
          </a:prstGeom>
        </p:spPr>
      </p:pic>
      <p:sp>
        <p:nvSpPr>
          <p:cNvPr id="34" name="TextBox 33"/>
          <p:cNvSpPr txBox="1"/>
          <p:nvPr/>
        </p:nvSpPr>
        <p:spPr>
          <a:xfrm>
            <a:off x="6342735"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Đón bạn mới cởi mở</a:t>
            </a:r>
          </a:p>
        </p:txBody>
      </p:sp>
      <p:sp>
        <p:nvSpPr>
          <p:cNvPr id="35" name="TextBox 34"/>
          <p:cNvSpPr txBox="1"/>
          <p:nvPr/>
        </p:nvSpPr>
        <p:spPr>
          <a:xfrm>
            <a:off x="6415887"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Giúp bạn hòa nhập từ việc nhỏ: chào hỏi, rủ chơi, cùng học.</a:t>
            </a:r>
          </a:p>
        </p:txBody>
      </p:sp>
      <p:sp>
        <p:nvSpPr>
          <p:cNvPr id="36" name="Rounded Rectangle 35"/>
          <p:cNvSpPr/>
          <p:nvPr/>
        </p:nvSpPr>
        <p:spPr>
          <a:xfrm>
            <a:off x="9047759"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person-2-fill.png"/>
          <p:cNvPicPr>
            <a:picLocks noChangeAspect="1"/>
          </p:cNvPicPr>
          <p:nvPr/>
        </p:nvPicPr>
        <p:blipFill>
          <a:blip r:embed="rId3"/>
          <a:stretch>
            <a:fillRect/>
          </a:stretch>
        </p:blipFill>
        <p:spPr>
          <a:xfrm>
            <a:off x="10043655" y="2204720"/>
            <a:ext cx="548640" cy="345440"/>
          </a:xfrm>
          <a:prstGeom prst="rect">
            <a:avLst/>
          </a:prstGeom>
        </p:spPr>
      </p:pic>
      <p:sp>
        <p:nvSpPr>
          <p:cNvPr id="38" name="TextBox 37"/>
          <p:cNvSpPr txBox="1"/>
          <p:nvPr/>
        </p:nvSpPr>
        <p:spPr>
          <a:xfrm>
            <a:off x="9157487"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Từ “tôi” đến “chúng ta”</a:t>
            </a:r>
          </a:p>
        </p:txBody>
      </p:sp>
      <p:sp>
        <p:nvSpPr>
          <p:cNvPr id="39" name="TextBox 38"/>
          <p:cNvSpPr txBox="1"/>
          <p:nvPr/>
        </p:nvSpPr>
        <p:spPr>
          <a:xfrm>
            <a:off x="9230639"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Việc chung là của chung: cùng làm, cùng chịu trách nhiệm.</a:t>
            </a:r>
          </a:p>
        </p:txBody>
      </p:sp>
      <p:sp>
        <p:nvSpPr>
          <p:cNvPr id="40" name="TextBox 39"/>
          <p:cNvSpPr txBox="1"/>
          <p:nvPr/>
        </p:nvSpPr>
        <p:spPr>
          <a:xfrm>
            <a:off x="603504" y="5303520"/>
            <a:ext cx="10984687" cy="457200"/>
          </a:xfrm>
          <a:prstGeom prst="rect">
            <a:avLst/>
          </a:prstGeom>
          <a:noFill/>
        </p:spPr>
        <p:txBody>
          <a:bodyPr wrap="square" anchor="t" lIns="0" rIns="0" tIns="0" bIns="0">
            <a:spAutoFit/>
          </a:bodyPr>
          <a:lstStyle/>
          <a:p>
            <a:pPr algn="ctr"/>
            <a:r>
              <a:rPr sz="1450" b="1" i="0">
                <a:solidFill>
                  <a:srgbClr val="101631"/>
                </a:solidFill>
                <a:latin typeface="Liberation Sans"/>
              </a:rPr>
              <a:t>Ứng xử đẹp không chỉ nằm ở lời nói, mà ở hành động mỗi ngày.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heart-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Liberation Sans"/>
              </a:rPr>
              <a:t>THÔNG ĐIỆP CỦA CHỦ ĐỀ</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Liberation Sans"/>
              </a:rPr>
              <a:t>Mỗi bạn một thế mạnh — lớp học gắn kết</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16</a:t>
            </a:r>
          </a:p>
        </p:txBody>
      </p:sp>
      <p:sp>
        <p:nvSpPr>
          <p:cNvPr id="24" name="Oval 23"/>
          <p:cNvSpPr/>
          <p:nvPr/>
        </p:nvSpPr>
        <p:spPr>
          <a:xfrm>
            <a:off x="1234439" y="2011680"/>
            <a:ext cx="3108960" cy="3108960"/>
          </a:xfrm>
          <a:prstGeom prst="ellipse">
            <a:avLst/>
          </a:prstGeom>
          <a:effectLst/>
          <a:solidFill>
            <a:srgbClr val="FFFFFF">
              <a:alpha val="24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54479" y="2331720"/>
            <a:ext cx="2468880" cy="2468880"/>
          </a:xfrm>
          <a:prstGeom prst="ellipse">
            <a:avLst/>
          </a:prstGeom>
          <a:effectLst/>
          <a:solidFill>
            <a:srgbClr val="FFFFFF">
              <a:alpha val="20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74519" y="2651760"/>
            <a:ext cx="1828800" cy="1828800"/>
          </a:xfrm>
          <a:prstGeom prst="ellipse">
            <a:avLst/>
          </a:prstGeom>
          <a:effectLst/>
          <a:solidFill>
            <a:srgbClr val="FFFFFF">
              <a:alpha val="16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a:off x="2377439" y="3175253"/>
            <a:ext cx="822959" cy="781812"/>
          </a:xfrm>
          <a:prstGeom prst="rect">
            <a:avLst/>
          </a:prstGeom>
        </p:spPr>
      </p:pic>
      <p:pic>
        <p:nvPicPr>
          <p:cNvPr id="28" name="Picture 27" descr="bubble-left-fill.png"/>
          <p:cNvPicPr>
            <a:picLocks noChangeAspect="1"/>
          </p:cNvPicPr>
          <p:nvPr/>
        </p:nvPicPr>
        <p:blipFill>
          <a:blip r:embed="rId3"/>
          <a:stretch>
            <a:fillRect/>
          </a:stretch>
        </p:blipFill>
        <p:spPr>
          <a:xfrm>
            <a:off x="868680" y="2913888"/>
            <a:ext cx="502920" cy="435864"/>
          </a:xfrm>
          <a:prstGeom prst="rect">
            <a:avLst/>
          </a:prstGeom>
        </p:spPr>
      </p:pic>
      <p:pic>
        <p:nvPicPr>
          <p:cNvPr id="29" name="Picture 28" descr="ear.png"/>
          <p:cNvPicPr>
            <a:picLocks noChangeAspect="1"/>
          </p:cNvPicPr>
          <p:nvPr/>
        </p:nvPicPr>
        <p:blipFill>
          <a:blip r:embed="rId4"/>
          <a:stretch>
            <a:fillRect/>
          </a:stretch>
        </p:blipFill>
        <p:spPr>
          <a:xfrm>
            <a:off x="4387405" y="2286000"/>
            <a:ext cx="414909" cy="502920"/>
          </a:xfrm>
          <a:prstGeom prst="rect">
            <a:avLst/>
          </a:prstGeom>
        </p:spPr>
      </p:pic>
      <p:pic>
        <p:nvPicPr>
          <p:cNvPr id="30" name="Picture 29" descr="person-2-fill.png"/>
          <p:cNvPicPr>
            <a:picLocks noChangeAspect="1"/>
          </p:cNvPicPr>
          <p:nvPr/>
        </p:nvPicPr>
        <p:blipFill>
          <a:blip r:embed="rId5"/>
          <a:stretch>
            <a:fillRect/>
          </a:stretch>
        </p:blipFill>
        <p:spPr>
          <a:xfrm>
            <a:off x="4709160" y="4299373"/>
            <a:ext cx="502920" cy="316653"/>
          </a:xfrm>
          <a:prstGeom prst="rect">
            <a:avLst/>
          </a:prstGeom>
        </p:spPr>
      </p:pic>
      <p:pic>
        <p:nvPicPr>
          <p:cNvPr id="31" name="Picture 30" descr="sparkles.png"/>
          <p:cNvPicPr>
            <a:picLocks noChangeAspect="1"/>
          </p:cNvPicPr>
          <p:nvPr/>
        </p:nvPicPr>
        <p:blipFill>
          <a:blip r:embed="rId6"/>
          <a:stretch>
            <a:fillRect/>
          </a:stretch>
        </p:blipFill>
        <p:spPr>
          <a:xfrm>
            <a:off x="898615" y="4892040"/>
            <a:ext cx="443048" cy="502920"/>
          </a:xfrm>
          <a:prstGeom prst="rect">
            <a:avLst/>
          </a:prstGeom>
        </p:spPr>
      </p:pic>
      <p:sp>
        <p:nvSpPr>
          <p:cNvPr id="32" name="Rounded Rectangle 31"/>
          <p:cNvSpPr/>
          <p:nvPr/>
        </p:nvSpPr>
        <p:spPr>
          <a:xfrm>
            <a:off x="640080" y="3383280"/>
            <a:ext cx="962910"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Trò chuyện</a:t>
            </a:r>
          </a:p>
        </p:txBody>
      </p:sp>
      <p:sp>
        <p:nvSpPr>
          <p:cNvPr id="33" name="Rounded Rectangle 32"/>
          <p:cNvSpPr/>
          <p:nvPr/>
        </p:nvSpPr>
        <p:spPr>
          <a:xfrm>
            <a:off x="3977639" y="2880360"/>
            <a:ext cx="916431"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Lắng nghe</a:t>
            </a:r>
          </a:p>
        </p:txBody>
      </p:sp>
      <p:sp>
        <p:nvSpPr>
          <p:cNvPr id="34" name="Rounded Rectangle 33"/>
          <p:cNvSpPr/>
          <p:nvPr/>
        </p:nvSpPr>
        <p:spPr>
          <a:xfrm>
            <a:off x="4160520" y="4846320"/>
            <a:ext cx="875982"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Cùng chơi</a:t>
            </a:r>
          </a:p>
        </p:txBody>
      </p:sp>
      <p:sp>
        <p:nvSpPr>
          <p:cNvPr id="35" name="Rounded Rectangle 34"/>
          <p:cNvSpPr/>
          <p:nvPr/>
        </p:nvSpPr>
        <p:spPr>
          <a:xfrm>
            <a:off x="640080" y="5440680"/>
            <a:ext cx="963104"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Cổ vũ nhau</a:t>
            </a:r>
          </a:p>
        </p:txBody>
      </p:sp>
      <p:sp>
        <p:nvSpPr>
          <p:cNvPr id="36" name="TextBox 35"/>
          <p:cNvSpPr txBox="1"/>
          <p:nvPr/>
        </p:nvSpPr>
        <p:spPr>
          <a:xfrm>
            <a:off x="6263640" y="1828800"/>
            <a:ext cx="5349240" cy="3017520"/>
          </a:xfrm>
          <a:prstGeom prst="rect">
            <a:avLst/>
          </a:prstGeom>
          <a:noFill/>
        </p:spPr>
        <p:txBody>
          <a:bodyPr wrap="square" anchor="t" lIns="0" rIns="0" tIns="0" bIns="0">
            <a:spAutoFit/>
          </a:bodyPr>
          <a:lstStyle/>
          <a:p>
            <a:pPr algn="l">
              <a:lnSpc>
                <a:spcPct val="128000"/>
              </a:lnSpc>
              <a:spcAft>
                <a:spcPts val="1200"/>
              </a:spcAft>
            </a:pPr>
            <a:r>
              <a:rPr sz="1500" b="1" i="0">
                <a:solidFill>
                  <a:srgbClr val="101631"/>
                </a:solidFill>
                <a:latin typeface="Liberation Sans"/>
              </a:rPr>
              <a:t>Cũng như một chiếc điện thoại cao cấp, mỗi phần đều có vai trò riêng của nó.</a:t>
            </a:r>
          </a:p>
          <a:p>
            <a:pPr algn="l">
              <a:lnSpc>
                <a:spcPct val="132000"/>
              </a:lnSpc>
              <a:spcAft>
                <a:spcPts val="1200"/>
              </a:spcAft>
            </a:pPr>
            <a:r>
              <a:rPr sz="1350" b="0" i="0">
                <a:solidFill>
                  <a:srgbClr val="4E5879"/>
                </a:solidFill>
                <a:latin typeface="Liberation Sans"/>
              </a:rPr>
              <a:t>Lớp mình cũng vậy: bạn giỏi lên kế hoạch, bạn khéo lắng nghe, bạn nhiệt tình giúp đỡ… Mỗi người một điểm mạnh.</a:t>
            </a:r>
          </a:p>
          <a:p>
            <a:pPr algn="l">
              <a:lnSpc>
                <a:spcPct val="132000"/>
              </a:lnSpc>
            </a:pPr>
            <a:r>
              <a:rPr sz="1350" b="0" i="0">
                <a:solidFill>
                  <a:srgbClr val="4E5879"/>
                </a:solidFill>
                <a:latin typeface="Liberation Sans"/>
              </a:rPr>
              <a:t>Khi ai cũng được phát huy thế mạnh và sẵn sàng hỗ trợ nhau, việc gì khó đến mấy chúng ta cũng làm được.</a:t>
            </a:r>
          </a:p>
        </p:txBody>
      </p:sp>
      <p:sp>
        <p:nvSpPr>
          <p:cNvPr id="37" name="Rounded Rectangle 36"/>
          <p:cNvSpPr/>
          <p:nvPr/>
        </p:nvSpPr>
        <p:spPr>
          <a:xfrm>
            <a:off x="6263640" y="5029200"/>
            <a:ext cx="5349240" cy="1234440"/>
          </a:xfrm>
          <a:prstGeom prst="roundRect">
            <a:avLst>
              <a:gd name="adj" fmla="val 20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5230368"/>
            <a:ext cx="4846320" cy="868680"/>
          </a:xfrm>
          <a:prstGeom prst="rect">
            <a:avLst/>
          </a:prstGeom>
          <a:noFill/>
        </p:spPr>
        <p:txBody>
          <a:bodyPr wrap="square" anchor="t" lIns="0" rIns="0" tIns="0" bIns="0">
            <a:spAutoFit/>
          </a:bodyPr>
          <a:lstStyle/>
          <a:p>
            <a:pPr algn="l">
              <a:lnSpc>
                <a:spcPct val="125000"/>
              </a:lnSpc>
            </a:pPr>
            <a:r>
              <a:rPr sz="1350" b="1" i="0">
                <a:solidFill>
                  <a:srgbClr val="101631"/>
                </a:solidFill>
                <a:latin typeface="Liberation Sans"/>
              </a:rPr>
              <a:t>Tuần này, mỗi bạn chọn một điểm mạnh của mình để góp cho lớp nhé?</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LỜI HỨA NHỎ · VIỆC LÀM TO</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Tuần này, lớp mình cùng cam kết nhé!</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17</a:t>
            </a:r>
          </a:p>
        </p:txBody>
      </p:sp>
      <p:sp>
        <p:nvSpPr>
          <p:cNvPr id="24" name="Rounded Rectangle 23"/>
          <p:cNvSpPr/>
          <p:nvPr/>
        </p:nvSpPr>
        <p:spPr>
          <a:xfrm>
            <a:off x="603504" y="1828800"/>
            <a:ext cx="10984687" cy="3474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60120" y="2313432"/>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A66E0"/>
                </a:solidFill>
                <a:latin typeface="Liberation Sans"/>
              </a:rPr>
              <a:t>1</a:t>
            </a:r>
          </a:p>
        </p:txBody>
      </p:sp>
      <p:sp>
        <p:nvSpPr>
          <p:cNvPr id="26" name="TextBox 25"/>
          <p:cNvSpPr txBox="1"/>
          <p:nvPr/>
        </p:nvSpPr>
        <p:spPr>
          <a:xfrm>
            <a:off x="1792224" y="2395728"/>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Chủ động chào, mỉm cười và hỏi thăm ít nhất một bạn mỗi ngày.</a:t>
            </a:r>
          </a:p>
        </p:txBody>
      </p:sp>
      <p:sp>
        <p:nvSpPr>
          <p:cNvPr id="27" name="Oval 26"/>
          <p:cNvSpPr/>
          <p:nvPr/>
        </p:nvSpPr>
        <p:spPr>
          <a:xfrm>
            <a:off x="960120" y="2990088"/>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E9E96"/>
                </a:solidFill>
                <a:latin typeface="Liberation Sans"/>
              </a:rPr>
              <a:t>2</a:t>
            </a:r>
          </a:p>
        </p:txBody>
      </p:sp>
      <p:sp>
        <p:nvSpPr>
          <p:cNvPr id="28" name="TextBox 27"/>
          <p:cNvSpPr txBox="1"/>
          <p:nvPr/>
        </p:nvSpPr>
        <p:spPr>
          <a:xfrm>
            <a:off x="1792224" y="3072384"/>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Sẵn sàng giúp đỡ bạn trong học tập hoặc khi bạn gặp khó khăn.</a:t>
            </a:r>
          </a:p>
        </p:txBody>
      </p:sp>
      <p:sp>
        <p:nvSpPr>
          <p:cNvPr id="29" name="Oval 28"/>
          <p:cNvSpPr/>
          <p:nvPr/>
        </p:nvSpPr>
        <p:spPr>
          <a:xfrm>
            <a:off x="960120" y="3666744"/>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A24AD6"/>
                </a:solidFill>
                <a:latin typeface="Liberation Sans"/>
              </a:rPr>
              <a:t>3</a:t>
            </a:r>
          </a:p>
        </p:txBody>
      </p:sp>
      <p:sp>
        <p:nvSpPr>
          <p:cNvPr id="30" name="TextBox 29"/>
          <p:cNvSpPr txBox="1"/>
          <p:nvPr/>
        </p:nvSpPr>
        <p:spPr>
          <a:xfrm>
            <a:off x="1792224" y="3749039"/>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Khi làm việc nhóm: nhắc khéo, lắng nghe, không để ai bị bỏ rơi.</a:t>
            </a:r>
          </a:p>
        </p:txBody>
      </p:sp>
      <p:sp>
        <p:nvSpPr>
          <p:cNvPr id="31" name="Oval 30"/>
          <p:cNvSpPr/>
          <p:nvPr/>
        </p:nvSpPr>
        <p:spPr>
          <a:xfrm>
            <a:off x="960120" y="4343400"/>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D97600"/>
                </a:solidFill>
                <a:latin typeface="Liberation Sans"/>
              </a:rPr>
              <a:t>4</a:t>
            </a:r>
          </a:p>
        </p:txBody>
      </p:sp>
      <p:sp>
        <p:nvSpPr>
          <p:cNvPr id="32" name="TextBox 31"/>
          <p:cNvSpPr txBox="1"/>
          <p:nvPr/>
        </p:nvSpPr>
        <p:spPr>
          <a:xfrm>
            <a:off x="1792224" y="4425696"/>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Nếu băn khoăn điều gì, mạnh dạn trao đổi với thầy cô.</a:t>
            </a:r>
          </a:p>
        </p:txBody>
      </p:sp>
      <p:pic>
        <p:nvPicPr>
          <p:cNvPr id="33" name="Picture 32" descr="checkmark-circle-fill.png"/>
          <p:cNvPicPr>
            <a:picLocks noChangeAspect="1"/>
          </p:cNvPicPr>
          <p:nvPr/>
        </p:nvPicPr>
        <p:blipFill>
          <a:blip r:embed="rId2"/>
          <a:stretch>
            <a:fillRect/>
          </a:stretch>
        </p:blipFill>
        <p:spPr>
          <a:xfrm>
            <a:off x="10719511" y="2262682"/>
            <a:ext cx="530352" cy="503834"/>
          </a:xfrm>
          <a:prstGeom prst="rect">
            <a:avLst/>
          </a:prstGeom>
        </p:spPr>
      </p:pic>
      <p:sp>
        <p:nvSpPr>
          <p:cNvPr id="34" name="Rounded Rectangle 33"/>
          <p:cNvSpPr/>
          <p:nvPr/>
        </p:nvSpPr>
        <p:spPr>
          <a:xfrm>
            <a:off x="2709265" y="5806440"/>
            <a:ext cx="6773164" cy="438912"/>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1" i="0" spc="20">
                <a:solidFill>
                  <a:srgbClr val="101631"/>
                </a:solidFill>
                <a:latin typeface="Liberation Sans"/>
              </a:rPr>
              <a:t>Chọn một việc thôi cũng được — tuần sau chúng em sẽ hỏi kết quả nha!</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090007" y="777239"/>
            <a:ext cx="2011680" cy="2011680"/>
          </a:xfrm>
          <a:prstGeom prst="ellipse">
            <a:avLst/>
          </a:prstGeom>
          <a:effectLst/>
          <a:solidFill>
            <a:srgbClr val="FFFFFF">
              <a:alpha val="26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18607" y="1005840"/>
            <a:ext cx="1554480" cy="1554480"/>
          </a:xfrm>
          <a:prstGeom prst="ellipse">
            <a:avLst/>
          </a:prstGeom>
          <a:effectLst/>
          <a:solidFill>
            <a:srgbClr val="FFFFFF">
              <a:alpha val="22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eart-circle-fill.png"/>
          <p:cNvPicPr>
            <a:picLocks noChangeAspect="1"/>
          </p:cNvPicPr>
          <p:nvPr/>
        </p:nvPicPr>
        <p:blipFill>
          <a:blip r:embed="rId2"/>
          <a:stretch>
            <a:fillRect/>
          </a:stretch>
        </p:blipFill>
        <p:spPr>
          <a:xfrm>
            <a:off x="5730087" y="1435608"/>
            <a:ext cx="731520" cy="694944"/>
          </a:xfrm>
          <a:prstGeom prst="rect">
            <a:avLst/>
          </a:prstGeom>
        </p:spPr>
      </p:pic>
      <p:pic>
        <p:nvPicPr>
          <p:cNvPr id="17" name="Picture 16" descr="sparkles.png"/>
          <p:cNvPicPr>
            <a:picLocks noChangeAspect="1"/>
          </p:cNvPicPr>
          <p:nvPr/>
        </p:nvPicPr>
        <p:blipFill>
          <a:blip r:embed="rId3"/>
          <a:stretch>
            <a:fillRect/>
          </a:stretch>
        </p:blipFill>
        <p:spPr>
          <a:xfrm>
            <a:off x="6895947" y="1005840"/>
            <a:ext cx="338328" cy="384048"/>
          </a:xfrm>
          <a:prstGeom prst="rect">
            <a:avLst/>
          </a:prstGeom>
        </p:spPr>
      </p:pic>
      <p:pic>
        <p:nvPicPr>
          <p:cNvPr id="18" name="Picture 17" descr="star-fill.png"/>
          <p:cNvPicPr>
            <a:picLocks noChangeAspect="1"/>
          </p:cNvPicPr>
          <p:nvPr/>
        </p:nvPicPr>
        <p:blipFill>
          <a:blip r:embed="rId4"/>
          <a:stretch>
            <a:fillRect/>
          </a:stretch>
        </p:blipFill>
        <p:spPr>
          <a:xfrm>
            <a:off x="4861407" y="885305"/>
            <a:ext cx="365760" cy="332509"/>
          </a:xfrm>
          <a:prstGeom prst="rect">
            <a:avLst/>
          </a:prstGeom>
        </p:spPr>
      </p:pic>
      <p:sp>
        <p:nvSpPr>
          <p:cNvPr id="19" name="TextBox 18"/>
          <p:cNvSpPr txBox="1"/>
          <p:nvPr/>
        </p:nvSpPr>
        <p:spPr>
          <a:xfrm>
            <a:off x="1097280" y="3145536"/>
            <a:ext cx="9994392" cy="548640"/>
          </a:xfrm>
          <a:prstGeom prst="rect">
            <a:avLst/>
          </a:prstGeom>
          <a:noFill/>
        </p:spPr>
        <p:txBody>
          <a:bodyPr wrap="square" anchor="t" lIns="0" rIns="0" tIns="0" bIns="0">
            <a:spAutoFit/>
          </a:bodyPr>
          <a:lstStyle/>
          <a:p>
            <a:pPr algn="ctr"/>
            <a:r>
              <a:rPr sz="2700" b="1" i="0">
                <a:solidFill>
                  <a:srgbClr val="101631"/>
                </a:solidFill>
                <a:latin typeface="Liberation Sans"/>
              </a:rPr>
              <a:t>Cảm ơn thầy cô và các bạn đã lắng nghe!</a:t>
            </a:r>
          </a:p>
        </p:txBody>
      </p:sp>
      <p:sp>
        <p:nvSpPr>
          <p:cNvPr id="20" name="TextBox 19"/>
          <p:cNvSpPr txBox="1"/>
          <p:nvPr/>
        </p:nvSpPr>
        <p:spPr>
          <a:xfrm>
            <a:off x="1463040" y="3977639"/>
            <a:ext cx="9262872" cy="457200"/>
          </a:xfrm>
          <a:prstGeom prst="rect">
            <a:avLst/>
          </a:prstGeom>
          <a:noFill/>
        </p:spPr>
        <p:txBody>
          <a:bodyPr wrap="square" anchor="t" lIns="0" rIns="0" tIns="0" bIns="0">
            <a:spAutoFit/>
          </a:bodyPr>
          <a:lstStyle/>
          <a:p>
            <a:pPr algn="ctr"/>
            <a:r>
              <a:rPr sz="1500" b="0" i="1">
                <a:solidFill>
                  <a:srgbClr val="4E5879"/>
                </a:solidFill>
                <a:latin typeface="Liberation Sans"/>
              </a:rPr>
              <a:t>Chúc lớp mình luôn hòa đồng, hợp tác và cùng nhau tiến bộ mỗi ngày.</a:t>
            </a:r>
          </a:p>
        </p:txBody>
      </p:sp>
      <p:sp>
        <p:nvSpPr>
          <p:cNvPr id="21" name="Rounded Rectangle 20"/>
          <p:cNvSpPr/>
          <p:nvPr/>
        </p:nvSpPr>
        <p:spPr>
          <a:xfrm>
            <a:off x="4021459" y="4709160"/>
            <a:ext cx="1785455"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[Tên em / nhóm em]</a:t>
            </a:r>
          </a:p>
        </p:txBody>
      </p:sp>
      <p:sp>
        <p:nvSpPr>
          <p:cNvPr id="22" name="Rounded Rectangle 21"/>
          <p:cNvSpPr/>
          <p:nvPr/>
        </p:nvSpPr>
        <p:spPr>
          <a:xfrm>
            <a:off x="6044658" y="4709160"/>
            <a:ext cx="821182"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Lớp [..]</a:t>
            </a:r>
          </a:p>
        </p:txBody>
      </p:sp>
      <p:sp>
        <p:nvSpPr>
          <p:cNvPr id="23" name="Rounded Rectangle 22"/>
          <p:cNvSpPr/>
          <p:nvPr/>
        </p:nvSpPr>
        <p:spPr>
          <a:xfrm>
            <a:off x="7103584" y="4709160"/>
            <a:ext cx="1066650"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Trường [..]</a:t>
            </a:r>
          </a:p>
        </p:txBody>
      </p:sp>
      <p:sp>
        <p:nvSpPr>
          <p:cNvPr id="24" name="TextBox 23"/>
          <p:cNvSpPr txBox="1"/>
          <p:nvPr/>
        </p:nvSpPr>
        <p:spPr>
          <a:xfrm>
            <a:off x="1463040" y="5577840"/>
            <a:ext cx="9262872" cy="365760"/>
          </a:xfrm>
          <a:prstGeom prst="rect">
            <a:avLst/>
          </a:prstGeom>
          <a:noFill/>
        </p:spPr>
        <p:txBody>
          <a:bodyPr wrap="square" anchor="t" lIns="0" rIns="0" tIns="0" bIns="0">
            <a:spAutoFit/>
          </a:bodyPr>
          <a:lstStyle/>
          <a:p>
            <a:pPr algn="ctr"/>
            <a:r>
              <a:rPr sz="1300" b="0" i="0">
                <a:solidFill>
                  <a:srgbClr val="8A93B4"/>
                </a:solidFill>
                <a:latin typeface="Liberation Sans"/>
              </a:rPr>
              <a:t>Các bạn có câu hỏi gì cho nhóm em không? Chúng em sẵn sàng trao đổi ạ!</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Phát triển mối quan hệ hòa đồng, hợp tác với thầy cô và bạn bè (bản sáng)</dc:title>
  <dc:subject>Hoạt động trải nghiệm, hướng nghiệp</dc:subject>
  <dc:creator>Học sinh trình bày – HĐTN THCS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vi-VN</dc:language>
</cp:coreProperties>
</file>