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thầy cô và các bạn! Em là [tên], học sinh lớp [..]. Hôm nay chúng em xin trình bày chủ đề: phát triển mối quan hệ hòa đồng, hợp tác với thầy cô và bạn bè. Chúng em chia làm 2 phần: Tiết 1 kết nối và chia sẻ, Tiết 2 cùng nhau thực hành xử lí tình huống. Rất mong cả lớp tham gia nhiệt tình!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trình bày gồm 2 tiết như trên màn hình. Các bạn nhìn theo dõi và giúp chúng em bằng cách tham gia thật nhiệt tình nhé!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mong sau buổi này cả lớp hiểu hơn và thân nhau hơn. Nên rất cần các bạn cùng lắng nghe và tham gia.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ta chơi nhỏ: quay sang bạn bên cạnh chia sẻ 1 phút theo 3 câu hỏi. Bạn nào xung phong nói với cả lớp? Những điều các bạn vừa kể - như trò chuyện, giúp đỡ, dám hỏi - chính là kĩ năng hòa đồng và hợp tác mà hôm nay chúng em muốn cả lớp cùng rèn.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cách hiểu của chúng em: hòa đồng là cởi mở, thân thiện; hợp tác là cùng chung sức và cùng chịu trách nhiệm. Lớp nào hòa đồng, hợp tác thì ai cũng vui và học tốt hơn. Các bạn có đồng ý không?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thấy chỉ cần 4 việc rất gần gũi là bạn bè thân nhau hơn: trò chuyện, cùng học, cùng chơi, lắng nghe nhau. Các bạn còn cách nào nữa không? Mọi người góp thêm nhé - ví dụ nhắn tin hỏi thăm bạn ốm, khen bạn làm bài tốt, rủ bạn ăn sáng cùng…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Kinh nghiệm nhóm của chúng em gói trong 4 bước: lên kế hoạch, phân công, lắng nghe, giúp nhau về đích. Thử nghĩ: nếu thiếu bước phân công thì sao? Sẽ có bạn làm, bạn chơi! Các bạn thường vướng bước nào nhất?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Nhiều bạn ngại nói chuyện với thầy cô - chúng em hiểu cảm giác đó. Nhưng khi mạnh dạn hỏi, chúng em nhận ra thầy cô luôn sẵn sàng giúp đỡ. Chỉ cần lễ phép, lắng nghe và thành thật chia sẻ là mọi chuyện dễ hơn nhiều!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kể một kỉ niệm nhỏ của em: ... (kể theo 3 phần). Bạn nào cũng có một kỉ niệm như vậy - hãy thay câu chuyện mẫu bằng chuyện thật của mình khi trình bày nhé!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Bây giờ tới phần vui nhất! Chúng em chia lớp thành các nhóm; mỗi nhóm bốc thăm 1 trong 3 tình huống, chuẩn bị 5 phút rồi lên phân vai diễn hoặc thuyết trình. Cả lớp theo dõi và nhận xét. Mời thầy cô cùng cổ vũ!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Mời các bạn xem nhóm được phân công diễn hoặc trình bày tình huống 1. Sau đó cả lớp cho ý kiến: cách xử lí nào khéo léo, tôn trọng và giúp bạn tốt nhất? Chúng em ghi nhận mọi ý kiến 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Mời các bạn xem nhóm được phân công diễn hoặc trình bày tình huống 2. Sau đó cả lớp cho ý kiến: cách xử lí nào khéo léo, tôn trọng và giúp bạn tốt nhất? Chúng em ghi nhận mọi ý kiến 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Mời các bạn xem nhóm được phân công diễn hoặc trình bày tình huống 3. Sau đó cả lớp cho ý kiến: cách xử lí nào khéo léo, tôn trọng và giúp bạn tốt nhất? Chúng em ghi nhận mọi ý kiến 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kịch bản mẫu nhóm em chuẩn bị cho tình huống 1. Các nhóm có thể viết lời thoại theo ngôn ngữ của mình cho tự nhiên. Khi diễn: nói to, rõ, thể hiện cảm xúc; người dẫn chuyện đứng giữa giới thiệu.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ba tình huống vừa rồi, chúng em rút ra bốn điều: nhắc khéo thay vì trách móc; quan tâm bạn đúng lúc; đón bạn mới cởi mở; và chuyển từ việc của tôi thành việc của chúng ta. Các bạn thấy điều nào gần gũi với mình nhất?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ví lớp như một cỗ máy hoàn hảo: mỗi bạn một vai trò. Hãy chọn điều mình làm tốt nhất để giúp lớp - chẳng hạn lắng nghe, rủ bạn chơi, hay động viên mọi người. Bạn nào giơ tay kể điểm mạnh của mình nào?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lời nói đi đôi với việc làm, chúng em đề nghị mỗi bạn chọn một trong bốn hành động và thực hiện trong tuần này. Tuần sau ai cũng có thể chia sẻ kết quả của mình. Chúng em tin lớp mình làm được!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Cảm ơn thầy cô và các bạn đã lắng nghe và tham gia nhiệt tình! Nếu ai có câu hỏi hay góp ý, chúng em rất vui được trao đổi. Đừng quên cam kết nhỏ của cả lớp trong tuần này nhé!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3.png"/><Relationship Id="rId4" Type="http://schemas.openxmlformats.org/officeDocument/2006/relationships/image" Target="../media/image2.png"/><Relationship Id="rId5" Type="http://schemas.openxmlformats.org/officeDocument/2006/relationships/image" Target="../media/image17.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eart-circle-fill.png"/>
          <p:cNvPicPr>
            <a:picLocks noChangeAspect="1"/>
          </p:cNvPicPr>
          <p:nvPr/>
        </p:nvPicPr>
        <p:blipFill>
          <a:blip r:embed="rId2"/>
          <a:stretch>
            <a:fillRect/>
          </a:stretch>
        </p:blipFill>
        <p:spPr>
          <a:xfrm>
            <a:off x="603504" y="722376"/>
            <a:ext cx="365760" cy="347472"/>
          </a:xfrm>
          <a:prstGeom prst="rect">
            <a:avLst/>
          </a:prstGeom>
        </p:spPr>
      </p:pic>
      <p:sp>
        <p:nvSpPr>
          <p:cNvPr id="15" name="Rounded Rectangle 14"/>
          <p:cNvSpPr/>
          <p:nvPr/>
        </p:nvSpPr>
        <p:spPr>
          <a:xfrm>
            <a:off x="1115568" y="713232"/>
            <a:ext cx="4238864" cy="36576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spc="160">
                <a:solidFill>
                  <a:srgbClr val="0A66E0"/>
                </a:solidFill>
                <a:latin typeface="Segoe UI"/>
              </a:rPr>
              <a:t>HOẠT ĐỘNG TRẢI NGHIỆM · HƯỚNG NGHIỆP — THCS</a:t>
            </a:r>
          </a:p>
        </p:txBody>
      </p:sp>
      <p:sp>
        <p:nvSpPr>
          <p:cNvPr id="16" name="TextBox 15"/>
          <p:cNvSpPr txBox="1"/>
          <p:nvPr/>
        </p:nvSpPr>
        <p:spPr>
          <a:xfrm>
            <a:off x="603504" y="1371600"/>
            <a:ext cx="6949440" cy="548640"/>
          </a:xfrm>
          <a:prstGeom prst="rect">
            <a:avLst/>
          </a:prstGeom>
          <a:noFill/>
        </p:spPr>
        <p:txBody>
          <a:bodyPr wrap="square" anchor="t" lIns="0" rIns="0" tIns="0" bIns="0">
            <a:spAutoFit/>
          </a:bodyPr>
          <a:lstStyle/>
          <a:p>
            <a:pPr algn="l"/>
            <a:r>
              <a:rPr sz="3700" b="1" i="0">
                <a:solidFill>
                  <a:srgbClr val="101631"/>
                </a:solidFill>
                <a:latin typeface="Segoe UI"/>
              </a:rPr>
              <a:t>Phát triển mối quan hệ</a:t>
            </a:r>
          </a:p>
        </p:txBody>
      </p:sp>
      <p:sp>
        <p:nvSpPr>
          <p:cNvPr id="17" name="TextBox 16"/>
          <p:cNvSpPr txBox="1"/>
          <p:nvPr/>
        </p:nvSpPr>
        <p:spPr>
          <a:xfrm>
            <a:off x="603504" y="1956816"/>
            <a:ext cx="7223760" cy="548640"/>
          </a:xfrm>
          <a:prstGeom prst="rect">
            <a:avLst/>
          </a:prstGeom>
          <a:noFill/>
        </p:spPr>
        <p:txBody>
          <a:bodyPr wrap="square" anchor="t" lIns="0" rIns="0" tIns="0" bIns="0">
            <a:spAutoFit/>
          </a:bodyPr>
          <a:lstStyle/>
          <a:p>
            <a:pPr algn="l"/>
            <a:r>
              <a:rPr sz="3700" b="1" i="0">
                <a:solidFill>
                  <a:srgbClr val="5A54D6"/>
                </a:solidFill>
                <a:latin typeface="Segoe UI"/>
              </a:rPr>
              <a:t>hòa đồng, hợp tác</a:t>
            </a:r>
          </a:p>
        </p:txBody>
      </p:sp>
      <p:sp>
        <p:nvSpPr>
          <p:cNvPr id="18" name="TextBox 17"/>
          <p:cNvSpPr txBox="1"/>
          <p:nvPr/>
        </p:nvSpPr>
        <p:spPr>
          <a:xfrm>
            <a:off x="603504" y="2542032"/>
            <a:ext cx="7223760" cy="548640"/>
          </a:xfrm>
          <a:prstGeom prst="rect">
            <a:avLst/>
          </a:prstGeom>
          <a:noFill/>
        </p:spPr>
        <p:txBody>
          <a:bodyPr wrap="square" anchor="t" lIns="0" rIns="0" tIns="0" bIns="0">
            <a:spAutoFit/>
          </a:bodyPr>
          <a:lstStyle/>
          <a:p>
            <a:pPr algn="l"/>
            <a:r>
              <a:rPr sz="3700" b="1" i="0">
                <a:solidFill>
                  <a:srgbClr val="101631"/>
                </a:solidFill>
                <a:latin typeface="Segoe UI"/>
              </a:rPr>
              <a:t>với thầy cô và bạn bè</a:t>
            </a:r>
          </a:p>
        </p:txBody>
      </p:sp>
      <p:sp>
        <p:nvSpPr>
          <p:cNvPr id="19" name="TextBox 18"/>
          <p:cNvSpPr txBox="1"/>
          <p:nvPr/>
        </p:nvSpPr>
        <p:spPr>
          <a:xfrm>
            <a:off x="603504" y="3273552"/>
            <a:ext cx="6675120" cy="365760"/>
          </a:xfrm>
          <a:prstGeom prst="rect">
            <a:avLst/>
          </a:prstGeom>
          <a:noFill/>
        </p:spPr>
        <p:txBody>
          <a:bodyPr wrap="square" anchor="t" lIns="0" rIns="0" tIns="0" bIns="0">
            <a:spAutoFit/>
          </a:bodyPr>
          <a:lstStyle/>
          <a:p>
            <a:pPr algn="l"/>
            <a:r>
              <a:rPr sz="1450" b="0" i="1">
                <a:solidFill>
                  <a:srgbClr val="4E5879"/>
                </a:solidFill>
                <a:latin typeface="Segoe UI"/>
              </a:rPr>
              <a:t>Kết nối thật nhiều, để lớp mình gần nhau hơn mỗi ngày.</a:t>
            </a:r>
          </a:p>
        </p:txBody>
      </p:sp>
      <p:sp>
        <p:nvSpPr>
          <p:cNvPr id="20" name="Rounded Rectangle 19"/>
          <p:cNvSpPr/>
          <p:nvPr/>
        </p:nvSpPr>
        <p:spPr>
          <a:xfrm>
            <a:off x="603504" y="3803904"/>
            <a:ext cx="2518772" cy="384048"/>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130">
                <a:solidFill>
                  <a:srgbClr val="0E9E96"/>
                </a:solidFill>
                <a:latin typeface="Segoe UI"/>
              </a:rPr>
              <a:t>TIẾT 1 · KẾT NỐI VÀ CHIA SẺ</a:t>
            </a:r>
          </a:p>
        </p:txBody>
      </p:sp>
      <p:sp>
        <p:nvSpPr>
          <p:cNvPr id="21" name="Rounded Rectangle 20"/>
          <p:cNvSpPr/>
          <p:nvPr/>
        </p:nvSpPr>
        <p:spPr>
          <a:xfrm>
            <a:off x="3305156" y="3803904"/>
            <a:ext cx="2391346" cy="384048"/>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130">
                <a:solidFill>
                  <a:srgbClr val="DE1F8B"/>
                </a:solidFill>
                <a:latin typeface="Segoe UI"/>
              </a:rPr>
              <a:t>TIẾT 2 · CÙNG THỰC HÀNH</a:t>
            </a:r>
          </a:p>
        </p:txBody>
      </p:sp>
      <p:sp>
        <p:nvSpPr>
          <p:cNvPr id="22" name="Rounded Rectangle 21"/>
          <p:cNvSpPr/>
          <p:nvPr/>
        </p:nvSpPr>
        <p:spPr>
          <a:xfrm>
            <a:off x="603504" y="4572000"/>
            <a:ext cx="6126480" cy="1207008"/>
          </a:xfrm>
          <a:prstGeom prst="roundRect">
            <a:avLst>
              <a:gd name="adj" fmla="val 18000"/>
            </a:avLst>
          </a:prstGeom>
          <a:solidFill>
            <a:srgbClr val="FFFFFF">
              <a:alpha val="40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rot="20880000">
            <a:off x="2380183" y="4644420"/>
            <a:ext cx="2573121" cy="120700"/>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773168"/>
            <a:ext cx="5669280" cy="868680"/>
          </a:xfrm>
          <a:prstGeom prst="rect">
            <a:avLst/>
          </a:prstGeom>
          <a:noFill/>
        </p:spPr>
        <p:txBody>
          <a:bodyPr wrap="square" anchor="t" lIns="0" rIns="0" tIns="0" bIns="0">
            <a:spAutoFit/>
          </a:bodyPr>
          <a:lstStyle/>
          <a:p>
            <a:pPr algn="l">
              <a:spcAft>
                <a:spcPts val="500"/>
              </a:spcAft>
            </a:pPr>
            <a:r>
              <a:rPr sz="1250" b="0" i="0">
                <a:solidFill>
                  <a:srgbClr val="4E5879"/>
                </a:solidFill>
                <a:latin typeface="Segoe UI"/>
              </a:rPr>
              <a:t>Người trình bày:  </a:t>
            </a:r>
            <a:r>
              <a:rPr sz="1250" b="1" i="0">
                <a:solidFill>
                  <a:srgbClr val="101631"/>
                </a:solidFill>
                <a:latin typeface="Segoe UI"/>
              </a:rPr>
              <a:t>[Tên em / nhóm em]</a:t>
            </a:r>
          </a:p>
          <a:p>
            <a:pPr algn="l">
              <a:spcAft>
                <a:spcPts val="500"/>
              </a:spcAft>
            </a:pPr>
            <a:r>
              <a:rPr sz="1250" b="0" i="0">
                <a:solidFill>
                  <a:srgbClr val="4E5879"/>
                </a:solidFill>
                <a:latin typeface="Segoe UI"/>
              </a:rPr>
              <a:t>Lớp – Trường:  </a:t>
            </a:r>
            <a:r>
              <a:rPr sz="1250" b="1" i="0">
                <a:solidFill>
                  <a:srgbClr val="101631"/>
                </a:solidFill>
                <a:latin typeface="Segoe UI"/>
              </a:rPr>
              <a:t>[Lớp … – Tên trường]</a:t>
            </a:r>
          </a:p>
          <a:p>
            <a:pPr algn="l"/>
            <a:r>
              <a:rPr sz="1250" b="0" i="0">
                <a:solidFill>
                  <a:srgbClr val="4E5879"/>
                </a:solidFill>
                <a:latin typeface="Segoe UI"/>
              </a:rPr>
              <a:t>Ngày trình bày:  </a:t>
            </a:r>
            <a:r>
              <a:rPr sz="1250" b="1" i="0">
                <a:solidFill>
                  <a:srgbClr val="101631"/>
                </a:solidFill>
                <a:latin typeface="Segoe UI"/>
              </a:rPr>
              <a:t>[… / … / 2026]</a:t>
            </a:r>
          </a:p>
        </p:txBody>
      </p:sp>
      <p:sp>
        <p:nvSpPr>
          <p:cNvPr id="25" name="Oval 24"/>
          <p:cNvSpPr/>
          <p:nvPr/>
        </p:nvSpPr>
        <p:spPr>
          <a:xfrm>
            <a:off x="7955279" y="1691640"/>
            <a:ext cx="3017520" cy="3017520"/>
          </a:xfrm>
          <a:prstGeom prst="ellipse">
            <a:avLst/>
          </a:prstGeom>
          <a:effectLst/>
          <a:solidFill>
            <a:srgbClr val="FFFFFF">
              <a:alpha val="26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458200" y="1828799"/>
            <a:ext cx="2377440" cy="2377440"/>
          </a:xfrm>
          <a:prstGeom prst="ellipse">
            <a:avLst/>
          </a:prstGeom>
          <a:effectLst/>
          <a:solidFill>
            <a:srgbClr val="FFFFFF">
              <a:alpha val="22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343900" y="2491740"/>
            <a:ext cx="1783080" cy="1783080"/>
          </a:xfrm>
          <a:prstGeom prst="ellipse">
            <a:avLst/>
          </a:prstGeom>
          <a:effectLst/>
          <a:solidFill>
            <a:srgbClr val="FFFFFF">
              <a:alpha val="18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heart-circle-fill.png"/>
          <p:cNvPicPr>
            <a:picLocks noChangeAspect="1"/>
          </p:cNvPicPr>
          <p:nvPr/>
        </p:nvPicPr>
        <p:blipFill>
          <a:blip r:embed="rId2"/>
          <a:stretch>
            <a:fillRect/>
          </a:stretch>
        </p:blipFill>
        <p:spPr>
          <a:xfrm rot="21120000">
            <a:off x="8549640" y="2348179"/>
            <a:ext cx="658368" cy="625449"/>
          </a:xfrm>
          <a:prstGeom prst="rect">
            <a:avLst/>
          </a:prstGeom>
        </p:spPr>
      </p:pic>
      <p:pic>
        <p:nvPicPr>
          <p:cNvPr id="29" name="Picture 28" descr="bubble-left-fill.png"/>
          <p:cNvPicPr>
            <a:picLocks noChangeAspect="1"/>
          </p:cNvPicPr>
          <p:nvPr/>
        </p:nvPicPr>
        <p:blipFill>
          <a:blip r:embed="rId3"/>
          <a:stretch>
            <a:fillRect/>
          </a:stretch>
        </p:blipFill>
        <p:spPr>
          <a:xfrm>
            <a:off x="10195560" y="2826715"/>
            <a:ext cx="566928" cy="491337"/>
          </a:xfrm>
          <a:prstGeom prst="rect">
            <a:avLst/>
          </a:prstGeom>
        </p:spPr>
      </p:pic>
      <p:pic>
        <p:nvPicPr>
          <p:cNvPr id="30" name="Picture 29" descr="person-2-fill.png"/>
          <p:cNvPicPr>
            <a:picLocks noChangeAspect="1"/>
          </p:cNvPicPr>
          <p:nvPr/>
        </p:nvPicPr>
        <p:blipFill>
          <a:blip r:embed="rId4"/>
          <a:stretch>
            <a:fillRect/>
          </a:stretch>
        </p:blipFill>
        <p:spPr>
          <a:xfrm rot="480000">
            <a:off x="8869680" y="3984413"/>
            <a:ext cx="530352" cy="333925"/>
          </a:xfrm>
          <a:prstGeom prst="rect">
            <a:avLst/>
          </a:prstGeom>
        </p:spPr>
      </p:pic>
      <p:pic>
        <p:nvPicPr>
          <p:cNvPr id="31" name="Picture 30" descr="sparkles.png"/>
          <p:cNvPicPr>
            <a:picLocks noChangeAspect="1"/>
          </p:cNvPicPr>
          <p:nvPr/>
        </p:nvPicPr>
        <p:blipFill>
          <a:blip r:embed="rId5"/>
          <a:stretch>
            <a:fillRect/>
          </a:stretch>
        </p:blipFill>
        <p:spPr>
          <a:xfrm>
            <a:off x="10405654" y="4343400"/>
            <a:ext cx="402771" cy="457200"/>
          </a:xfrm>
          <a:prstGeom prst="rect">
            <a:avLst/>
          </a:prstGeom>
        </p:spPr>
      </p:pic>
      <p:sp>
        <p:nvSpPr>
          <p:cNvPr id="32" name="Rounded Rectangle 31"/>
          <p:cNvSpPr/>
          <p:nvPr/>
        </p:nvSpPr>
        <p:spPr>
          <a:xfrm>
            <a:off x="7635240" y="5138928"/>
            <a:ext cx="921893" cy="292608"/>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120">
                <a:solidFill>
                  <a:srgbClr val="0E9E96"/>
                </a:solidFill>
                <a:latin typeface="Segoe UI"/>
              </a:rPr>
              <a:t>Hòa đồng</a:t>
            </a:r>
          </a:p>
        </p:txBody>
      </p:sp>
      <p:sp>
        <p:nvSpPr>
          <p:cNvPr id="33" name="Rounded Rectangle 32"/>
          <p:cNvSpPr/>
          <p:nvPr/>
        </p:nvSpPr>
        <p:spPr>
          <a:xfrm>
            <a:off x="10058400" y="5358384"/>
            <a:ext cx="794321" cy="292608"/>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120">
                <a:solidFill>
                  <a:srgbClr val="DE1F8B"/>
                </a:solidFill>
                <a:latin typeface="Segoe UI"/>
              </a:rPr>
              <a:t>Hợp tác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14"/>
                                  </p:tgtEl>
                                  <p:attrNameLst>
                                    <p:attrName>style.visibility</p:attrName>
                                  </p:attrNameLst>
                                </p:cBhvr>
                                <p:to>
                                  <p:strVal val="visible"/>
                                </p:to>
                              </p:set>
                              <p:animEffect transition="in" filter="fade">
                                <p:cBhvr>
                                  <p:cTn id="1004" dur="700"/>
                                  <p:tgtEl>
                                    <p:spTgt spid="1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15"/>
                                  </p:tgtEl>
                                  <p:attrNameLst>
                                    <p:attrName>style.visibility</p:attrName>
                                  </p:attrNameLst>
                                </p:cBhvr>
                                <p:to>
                                  <p:strVal val="visible"/>
                                </p:to>
                              </p:set>
                              <p:animEffect transition="in" filter="fade">
                                <p:cBhvr>
                                  <p:cTn id="1007" dur="700"/>
                                  <p:tgtEl>
                                    <p:spTgt spid="1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16"/>
                                  </p:tgtEl>
                                  <p:attrNameLst>
                                    <p:attrName>style.visibility</p:attrName>
                                  </p:attrNameLst>
                                </p:cBhvr>
                                <p:to>
                                  <p:strVal val="visible"/>
                                </p:to>
                              </p:set>
                              <p:animEffect transition="in" filter="fade">
                                <p:cBhvr>
                                  <p:cTn id="1010" dur="700"/>
                                  <p:tgtEl>
                                    <p:spTgt spid="1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17"/>
                                  </p:tgtEl>
                                  <p:attrNameLst>
                                    <p:attrName>style.visibility</p:attrName>
                                  </p:attrNameLst>
                                </p:cBhvr>
                                <p:to>
                                  <p:strVal val="visible"/>
                                </p:to>
                              </p:set>
                              <p:animEffect transition="in" filter="fade">
                                <p:cBhvr>
                                  <p:cTn id="1013" dur="700"/>
                                  <p:tgtEl>
                                    <p:spTgt spid="1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18"/>
                                  </p:tgtEl>
                                  <p:attrNameLst>
                                    <p:attrName>style.visibility</p:attrName>
                                  </p:attrNameLst>
                                </p:cBhvr>
                                <p:to>
                                  <p:strVal val="visible"/>
                                </p:to>
                              </p:set>
                              <p:animEffect transition="in" filter="fade">
                                <p:cBhvr>
                                  <p:cTn id="1016" dur="700"/>
                                  <p:tgtEl>
                                    <p:spTgt spid="1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19"/>
                                  </p:tgtEl>
                                  <p:attrNameLst>
                                    <p:attrName>style.visibility</p:attrName>
                                  </p:attrNameLst>
                                </p:cBhvr>
                                <p:to>
                                  <p:strVal val="visible"/>
                                </p:to>
                              </p:set>
                              <p:animEffect transition="in" filter="fade">
                                <p:cBhvr>
                                  <p:cTn id="1019" dur="700"/>
                                  <p:tgtEl>
                                    <p:spTgt spid="1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20"/>
                                  </p:tgtEl>
                                  <p:attrNameLst>
                                    <p:attrName>style.visibility</p:attrName>
                                  </p:attrNameLst>
                                </p:cBhvr>
                                <p:to>
                                  <p:strVal val="visible"/>
                                </p:to>
                              </p:set>
                              <p:animEffect transition="in" filter="fade">
                                <p:cBhvr>
                                  <p:cTn id="1022" dur="700"/>
                                  <p:tgtEl>
                                    <p:spTgt spid="2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21"/>
                                  </p:tgtEl>
                                  <p:attrNameLst>
                                    <p:attrName>style.visibility</p:attrName>
                                  </p:attrNameLst>
                                </p:cBhvr>
                                <p:to>
                                  <p:strVal val="visible"/>
                                </p:to>
                              </p:set>
                              <p:animEffect transition="in" filter="fade">
                                <p:cBhvr>
                                  <p:cTn id="1025" dur="700"/>
                                  <p:tgtEl>
                                    <p:spTgt spid="2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22"/>
                                  </p:tgtEl>
                                  <p:attrNameLst>
                                    <p:attrName>style.visibility</p:attrName>
                                  </p:attrNameLst>
                                </p:cBhvr>
                                <p:to>
                                  <p:strVal val="visible"/>
                                </p:to>
                              </p:set>
                              <p:animEffect transition="in" filter="fade">
                                <p:cBhvr>
                                  <p:cTn id="1028" dur="700"/>
                                  <p:tgtEl>
                                    <p:spTgt spid="2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23"/>
                                  </p:tgtEl>
                                  <p:attrNameLst>
                                    <p:attrName>style.visibility</p:attrName>
                                  </p:attrNameLst>
                                </p:cBhvr>
                                <p:to>
                                  <p:strVal val="visible"/>
                                </p:to>
                              </p:set>
                              <p:animEffect transition="in" filter="fade">
                                <p:cBhvr>
                                  <p:cTn id="1031" dur="700"/>
                                  <p:tgtEl>
                                    <p:spTgt spid="2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24"/>
                                  </p:tgtEl>
                                  <p:attrNameLst>
                                    <p:attrName>style.visibility</p:attrName>
                                  </p:attrNameLst>
                                </p:cBhvr>
                                <p:to>
                                  <p:strVal val="visible"/>
                                </p:to>
                              </p:set>
                              <p:animEffect transition="in" filter="fade">
                                <p:cBhvr>
                                  <p:cTn id="1034" dur="700"/>
                                  <p:tgtEl>
                                    <p:spTgt spid="2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25"/>
                                  </p:tgtEl>
                                  <p:attrNameLst>
                                    <p:attrName>style.visibility</p:attrName>
                                  </p:attrNameLst>
                                </p:cBhvr>
                                <p:to>
                                  <p:strVal val="visible"/>
                                </p:to>
                              </p:set>
                              <p:animEffect transition="in" filter="fade">
                                <p:cBhvr>
                                  <p:cTn id="1037" dur="700"/>
                                  <p:tgtEl>
                                    <p:spTgt spid="2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26"/>
                                  </p:tgtEl>
                                  <p:attrNameLst>
                                    <p:attrName>style.visibility</p:attrName>
                                  </p:attrNameLst>
                                </p:cBhvr>
                                <p:to>
                                  <p:strVal val="visible"/>
                                </p:to>
                              </p:set>
                              <p:animEffect transition="in" filter="fade">
                                <p:cBhvr>
                                  <p:cTn id="1040" dur="700"/>
                                  <p:tgtEl>
                                    <p:spTgt spid="2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27"/>
                                  </p:tgtEl>
                                  <p:attrNameLst>
                                    <p:attrName>style.visibility</p:attrName>
                                  </p:attrNameLst>
                                </p:cBhvr>
                                <p:to>
                                  <p:strVal val="visible"/>
                                </p:to>
                              </p:set>
                              <p:animEffect transition="in" filter="fade">
                                <p:cBhvr>
                                  <p:cTn id="1043" dur="700"/>
                                  <p:tgtEl>
                                    <p:spTgt spid="2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28"/>
                                  </p:tgtEl>
                                  <p:attrNameLst>
                                    <p:attrName>style.visibility</p:attrName>
                                  </p:attrNameLst>
                                </p:cBhvr>
                                <p:to>
                                  <p:strVal val="visible"/>
                                </p:to>
                              </p:set>
                              <p:animEffect transition="in" filter="fade">
                                <p:cBhvr>
                                  <p:cTn id="1046" dur="700"/>
                                  <p:tgtEl>
                                    <p:spTgt spid="2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29"/>
                                  </p:tgtEl>
                                  <p:attrNameLst>
                                    <p:attrName>style.visibility</p:attrName>
                                  </p:attrNameLst>
                                </p:cBhvr>
                                <p:to>
                                  <p:strVal val="visible"/>
                                </p:to>
                              </p:set>
                              <p:animEffect transition="in" filter="fade">
                                <p:cBhvr>
                                  <p:cTn id="1049" dur="700"/>
                                  <p:tgtEl>
                                    <p:spTgt spid="2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30"/>
                                  </p:tgtEl>
                                  <p:attrNameLst>
                                    <p:attrName>style.visibility</p:attrName>
                                  </p:attrNameLst>
                                </p:cBhvr>
                                <p:to>
                                  <p:strVal val="visible"/>
                                </p:to>
                              </p:set>
                              <p:animEffect transition="in" filter="fade">
                                <p:cBhvr>
                                  <p:cTn id="1052" dur="700"/>
                                  <p:tgtEl>
                                    <p:spTgt spid="3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31"/>
                                  </p:tgtEl>
                                  <p:attrNameLst>
                                    <p:attrName>style.visibility</p:attrName>
                                  </p:attrNameLst>
                                </p:cBhvr>
                                <p:to>
                                  <p:strVal val="visible"/>
                                </p:to>
                              </p:set>
                              <p:animEffect transition="in" filter="fade">
                                <p:cBhvr>
                                  <p:cTn id="1055" dur="700"/>
                                  <p:tgtEl>
                                    <p:spTgt spid="31"/>
                                  </p:tgtEl>
                                </p:cBhvr>
                              </p:animEffect>
                            </p:childTnLst>
                          </p:cTn>
                        </p:par>
                        <p:par>
                          <p:cTn id="1056" presetID="10" presetClass="entr" presetSubtype="0" fill="hold" grpId="0" nodeType="withEffect">
                            <p:stCondLst>
                              <p:cond delay="0"/>
                            </p:stCondLst>
                            <p:childTnLst>
                              <p:set>
                                <p:cBhvr>
                                  <p:cTn id="1057" dur="1" fill="hold">
                                    <p:stCondLst>
                                      <p:cond delay="0"/>
                                    </p:stCondLst>
                                  </p:cTn>
                                  <p:tgtEl>
                                    <p:spTgt spid="32"/>
                                  </p:tgtEl>
                                  <p:attrNameLst>
                                    <p:attrName>style.visibility</p:attrName>
                                  </p:attrNameLst>
                                </p:cBhvr>
                                <p:to>
                                  <p:strVal val="visible"/>
                                </p:to>
                              </p:set>
                              <p:animEffect transition="in" filter="fade">
                                <p:cBhvr>
                                  <p:cTn id="1058" dur="700"/>
                                  <p:tgtEl>
                                    <p:spTgt spid="32"/>
                                  </p:tgtEl>
                                </p:cBhvr>
                              </p:animEffect>
                            </p:childTnLst>
                          </p:cTn>
                        </p:par>
                        <p:par>
                          <p:cTn id="1059" presetID="10" presetClass="entr" presetSubtype="0" fill="hold" grpId="0" nodeType="withEffect">
                            <p:stCondLst>
                              <p:cond delay="0"/>
                            </p:stCondLst>
                            <p:childTnLst>
                              <p:set>
                                <p:cBhvr>
                                  <p:cTn id="1060" dur="1" fill="hold">
                                    <p:stCondLst>
                                      <p:cond delay="0"/>
                                    </p:stCondLst>
                                  </p:cTn>
                                  <p:tgtEl>
                                    <p:spTgt spid="33"/>
                                  </p:tgtEl>
                                  <p:attrNameLst>
                                    <p:attrName>style.visibility</p:attrName>
                                  </p:attrNameLst>
                                </p:cBhvr>
                                <p:to>
                                  <p:strVal val="visible"/>
                                </p:to>
                              </p:set>
                              <p:animEffect transition="in" filter="fade">
                                <p:cBhvr>
                                  <p:cTn id="1061" dur="700"/>
                                  <p:tgtEl>
                                    <p:spTgt spid="33"/>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rectangle-3-offgrid-fill.png"/>
          <p:cNvPicPr>
            <a:picLocks noChangeAspect="1"/>
          </p:cNvPicPr>
          <p:nvPr/>
        </p:nvPicPr>
        <p:blipFill>
          <a:blip r:embed="rId2"/>
          <a:stretch>
            <a:fillRect/>
          </a:stretch>
        </p:blipFill>
        <p:spPr>
          <a:xfrm>
            <a:off x="621792" y="442237"/>
            <a:ext cx="219456" cy="13965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Segoe UI"/>
              </a:rPr>
              <a:t>NỘI DUNG BUỔI TRÌNH BÀY</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3000" b="1" i="0" spc="20">
                <a:solidFill>
                  <a:srgbClr val="101631"/>
                </a:solidFill>
                <a:latin typeface="Segoe UI"/>
              </a:rPr>
              <a:t>Chúng em sẽ chia sẻ những gì?</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02</a:t>
            </a:r>
          </a:p>
        </p:txBody>
      </p:sp>
      <p:sp>
        <p:nvSpPr>
          <p:cNvPr id="24" name="Rounded Rectangle 23"/>
          <p:cNvSpPr/>
          <p:nvPr/>
        </p:nvSpPr>
        <p:spPr>
          <a:xfrm>
            <a:off x="603504" y="1737360"/>
            <a:ext cx="5300319" cy="365760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2140596" y="1956815"/>
            <a:ext cx="2226134" cy="365760"/>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les.png"/>
          <p:cNvPicPr>
            <a:picLocks noChangeAspect="1"/>
          </p:cNvPicPr>
          <p:nvPr/>
        </p:nvPicPr>
        <p:blipFill>
          <a:blip r:embed="rId3"/>
          <a:stretch>
            <a:fillRect/>
          </a:stretch>
        </p:blipFill>
        <p:spPr>
          <a:xfrm>
            <a:off x="957289" y="2057400"/>
            <a:ext cx="499436" cy="566928"/>
          </a:xfrm>
          <a:prstGeom prst="rect">
            <a:avLst/>
          </a:prstGeom>
        </p:spPr>
      </p:pic>
      <p:sp>
        <p:nvSpPr>
          <p:cNvPr id="27" name="TextBox 26"/>
          <p:cNvSpPr txBox="1"/>
          <p:nvPr/>
        </p:nvSpPr>
        <p:spPr>
          <a:xfrm>
            <a:off x="1682495" y="2148840"/>
            <a:ext cx="4020159" cy="411480"/>
          </a:xfrm>
          <a:prstGeom prst="rect">
            <a:avLst/>
          </a:prstGeom>
          <a:noFill/>
        </p:spPr>
        <p:txBody>
          <a:bodyPr wrap="square" anchor="t" lIns="0" rIns="0" tIns="0" bIns="0">
            <a:spAutoFit/>
          </a:bodyPr>
          <a:lstStyle/>
          <a:p>
            <a:pPr algn="l"/>
            <a:r>
              <a:rPr sz="1700" b="1" i="0">
                <a:solidFill>
                  <a:srgbClr val="101631"/>
                </a:solidFill>
                <a:latin typeface="Segoe UI"/>
              </a:rPr>
              <a:t>Tiết 1 · Khám phá &amp; chia sẻ</a:t>
            </a:r>
          </a:p>
        </p:txBody>
      </p:sp>
      <p:sp>
        <p:nvSpPr>
          <p:cNvPr id="28" name="Rounded Rectangle 27"/>
          <p:cNvSpPr/>
          <p:nvPr/>
        </p:nvSpPr>
        <p:spPr>
          <a:xfrm>
            <a:off x="923544" y="2926080"/>
            <a:ext cx="2075497" cy="27432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40">
                <a:solidFill>
                  <a:srgbClr val="0E9E96"/>
                </a:solidFill>
                <a:latin typeface="Segoe UI"/>
              </a:rPr>
              <a:t>CHÚNG EM CÙNG TÌM HIỂU</a:t>
            </a:r>
          </a:p>
        </p:txBody>
      </p:sp>
      <p:sp>
        <p:nvSpPr>
          <p:cNvPr id="29" name="TextBox 28"/>
          <p:cNvSpPr txBox="1"/>
          <p:nvPr/>
        </p:nvSpPr>
        <p:spPr>
          <a:xfrm>
            <a:off x="969264" y="3474720"/>
            <a:ext cx="4568799" cy="1783080"/>
          </a:xfrm>
          <a:prstGeom prst="rect">
            <a:avLst/>
          </a:prstGeom>
          <a:noFill/>
        </p:spPr>
        <p:txBody>
          <a:bodyPr wrap="square" anchor="t" lIns="0" rIns="0" tIns="0" bIns="0">
            <a:spAutoFit/>
          </a:bodyPr>
          <a:lstStyle/>
          <a:p>
            <a:pPr algn="l">
              <a:lnSpc>
                <a:spcPct val="124000"/>
              </a:lnSpc>
              <a:spcAft>
                <a:spcPts val="700"/>
              </a:spcAft>
            </a:pPr>
            <a:r>
              <a:rPr sz="1200" b="1" i="0">
                <a:solidFill>
                  <a:srgbClr val="0A66E0"/>
                </a:solidFill>
                <a:latin typeface="Segoe UI"/>
              </a:rPr>
              <a:t>•  </a:t>
            </a:r>
            <a:r>
              <a:rPr sz="1200" b="0" i="0">
                <a:solidFill>
                  <a:srgbClr val="4E5879"/>
                </a:solidFill>
                <a:latin typeface="Segoe UI"/>
              </a:rPr>
              <a:t>Hiểu hòa đồng, hợp tác là gì và vì sao cần có.</a:t>
            </a:r>
          </a:p>
          <a:p>
            <a:pPr algn="l">
              <a:lnSpc>
                <a:spcPct val="124000"/>
              </a:lnSpc>
              <a:spcAft>
                <a:spcPts val="700"/>
              </a:spcAft>
            </a:pPr>
            <a:r>
              <a:rPr sz="1200" b="1" i="0">
                <a:solidFill>
                  <a:srgbClr val="0A66E0"/>
                </a:solidFill>
                <a:latin typeface="Segoe UI"/>
              </a:rPr>
              <a:t>•  </a:t>
            </a:r>
            <a:r>
              <a:rPr sz="1200" b="0" i="0">
                <a:solidFill>
                  <a:srgbClr val="4E5879"/>
                </a:solidFill>
                <a:latin typeface="Segoe UI"/>
              </a:rPr>
              <a:t>4 “chìa khóa” kết nối + cách làm việc nhóm.</a:t>
            </a:r>
          </a:p>
          <a:p>
            <a:pPr algn="l">
              <a:lnSpc>
                <a:spcPct val="124000"/>
              </a:lnSpc>
              <a:spcAft>
                <a:spcPts val="700"/>
              </a:spcAft>
            </a:pPr>
            <a:r>
              <a:rPr sz="1200" b="1" i="0">
                <a:solidFill>
                  <a:srgbClr val="0A66E0"/>
                </a:solidFill>
                <a:latin typeface="Segoe UI"/>
              </a:rPr>
              <a:t>•  </a:t>
            </a:r>
            <a:r>
              <a:rPr sz="1200" b="0" i="0">
                <a:solidFill>
                  <a:srgbClr val="4E5879"/>
                </a:solidFill>
                <a:latin typeface="Segoe UI"/>
              </a:rPr>
              <a:t>Hợp tác với thầy cô: lắng nghe, mạnh dạn hỏi.</a:t>
            </a:r>
          </a:p>
          <a:p>
            <a:pPr algn="l">
              <a:lnSpc>
                <a:spcPct val="124000"/>
              </a:lnSpc>
              <a:spcAft>
                <a:spcPts val="700"/>
              </a:spcAft>
            </a:pPr>
            <a:r>
              <a:rPr sz="1200" b="1" i="0">
                <a:solidFill>
                  <a:srgbClr val="0A66E0"/>
                </a:solidFill>
                <a:latin typeface="Segoe UI"/>
              </a:rPr>
              <a:t>•  </a:t>
            </a:r>
            <a:r>
              <a:rPr sz="1200" b="0" i="0">
                <a:solidFill>
                  <a:srgbClr val="4E5879"/>
                </a:solidFill>
                <a:latin typeface="Segoe UI"/>
              </a:rPr>
              <a:t>Kể câu chuyện kỉ niệm về tinh thần hợp tác.</a:t>
            </a:r>
          </a:p>
        </p:txBody>
      </p:sp>
      <p:sp>
        <p:nvSpPr>
          <p:cNvPr id="30" name="Rounded Rectangle 29"/>
          <p:cNvSpPr/>
          <p:nvPr/>
        </p:nvSpPr>
        <p:spPr>
          <a:xfrm>
            <a:off x="6287871" y="1737360"/>
            <a:ext cx="5300319" cy="365760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rot="20880000">
            <a:off x="7824964" y="1956815"/>
            <a:ext cx="2226134" cy="365760"/>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tar-fill.png"/>
          <p:cNvPicPr>
            <a:picLocks noChangeAspect="1"/>
          </p:cNvPicPr>
          <p:nvPr/>
        </p:nvPicPr>
        <p:blipFill>
          <a:blip r:embed="rId4"/>
          <a:stretch>
            <a:fillRect/>
          </a:stretch>
        </p:blipFill>
        <p:spPr>
          <a:xfrm>
            <a:off x="6607911" y="2083169"/>
            <a:ext cx="566928" cy="515389"/>
          </a:xfrm>
          <a:prstGeom prst="rect">
            <a:avLst/>
          </a:prstGeom>
        </p:spPr>
      </p:pic>
      <p:sp>
        <p:nvSpPr>
          <p:cNvPr id="33" name="TextBox 32"/>
          <p:cNvSpPr txBox="1"/>
          <p:nvPr/>
        </p:nvSpPr>
        <p:spPr>
          <a:xfrm>
            <a:off x="7366863" y="2148840"/>
            <a:ext cx="4020159" cy="411480"/>
          </a:xfrm>
          <a:prstGeom prst="rect">
            <a:avLst/>
          </a:prstGeom>
          <a:noFill/>
        </p:spPr>
        <p:txBody>
          <a:bodyPr wrap="square" anchor="t" lIns="0" rIns="0" tIns="0" bIns="0">
            <a:spAutoFit/>
          </a:bodyPr>
          <a:lstStyle/>
          <a:p>
            <a:pPr algn="l"/>
            <a:r>
              <a:rPr sz="1700" b="1" i="0">
                <a:solidFill>
                  <a:srgbClr val="101631"/>
                </a:solidFill>
                <a:latin typeface="Segoe UI"/>
              </a:rPr>
              <a:t>Tiết 2 · Cùng thực hành</a:t>
            </a:r>
          </a:p>
        </p:txBody>
      </p:sp>
      <p:sp>
        <p:nvSpPr>
          <p:cNvPr id="34" name="Rounded Rectangle 33"/>
          <p:cNvSpPr/>
          <p:nvPr/>
        </p:nvSpPr>
        <p:spPr>
          <a:xfrm>
            <a:off x="6607911" y="2926080"/>
            <a:ext cx="1895030" cy="27432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40">
                <a:solidFill>
                  <a:srgbClr val="DE1F8B"/>
                </a:solidFill>
                <a:latin typeface="Segoe UI"/>
              </a:rPr>
              <a:t>CẢ LỚP CÙNG THAM GIA</a:t>
            </a:r>
          </a:p>
        </p:txBody>
      </p:sp>
      <p:sp>
        <p:nvSpPr>
          <p:cNvPr id="35" name="TextBox 34"/>
          <p:cNvSpPr txBox="1"/>
          <p:nvPr/>
        </p:nvSpPr>
        <p:spPr>
          <a:xfrm>
            <a:off x="6653631" y="3474720"/>
            <a:ext cx="4568799" cy="1783080"/>
          </a:xfrm>
          <a:prstGeom prst="rect">
            <a:avLst/>
          </a:prstGeom>
          <a:noFill/>
        </p:spPr>
        <p:txBody>
          <a:bodyPr wrap="square" anchor="t" lIns="0" rIns="0" tIns="0" bIns="0">
            <a:spAutoFit/>
          </a:bodyPr>
          <a:lstStyle/>
          <a:p>
            <a:pPr algn="l">
              <a:lnSpc>
                <a:spcPct val="124000"/>
              </a:lnSpc>
              <a:spcAft>
                <a:spcPts val="700"/>
              </a:spcAft>
            </a:pPr>
            <a:r>
              <a:rPr sz="1200" b="1" i="0">
                <a:solidFill>
                  <a:srgbClr val="0A66E0"/>
                </a:solidFill>
                <a:latin typeface="Segoe UI"/>
              </a:rPr>
              <a:t>•  </a:t>
            </a:r>
            <a:r>
              <a:rPr sz="1200" b="0" i="0">
                <a:solidFill>
                  <a:srgbClr val="4E5879"/>
                </a:solidFill>
                <a:latin typeface="Segoe UI"/>
              </a:rPr>
              <a:t>3 tình huống SGK — các nhóm cùng phân vai xử lí.</a:t>
            </a:r>
          </a:p>
          <a:p>
            <a:pPr algn="l">
              <a:lnSpc>
                <a:spcPct val="124000"/>
              </a:lnSpc>
              <a:spcAft>
                <a:spcPts val="700"/>
              </a:spcAft>
            </a:pPr>
            <a:r>
              <a:rPr sz="1200" b="1" i="0">
                <a:solidFill>
                  <a:srgbClr val="0A66E0"/>
                </a:solidFill>
                <a:latin typeface="Segoe UI"/>
              </a:rPr>
              <a:t>•  </a:t>
            </a:r>
            <a:r>
              <a:rPr sz="1200" b="0" i="0">
                <a:solidFill>
                  <a:srgbClr val="4E5879"/>
                </a:solidFill>
                <a:latin typeface="Segoe UI"/>
              </a:rPr>
              <a:t>Diễn hoặc thuyết trình cách giải quyết.</a:t>
            </a:r>
          </a:p>
          <a:p>
            <a:pPr algn="l">
              <a:lnSpc>
                <a:spcPct val="124000"/>
              </a:lnSpc>
              <a:spcAft>
                <a:spcPts val="700"/>
              </a:spcAft>
            </a:pPr>
            <a:r>
              <a:rPr sz="1200" b="1" i="0">
                <a:solidFill>
                  <a:srgbClr val="0A66E0"/>
                </a:solidFill>
                <a:latin typeface="Segoe UI"/>
              </a:rPr>
              <a:t>•  </a:t>
            </a:r>
            <a:r>
              <a:rPr sz="1200" b="0" i="0">
                <a:solidFill>
                  <a:srgbClr val="4E5879"/>
                </a:solidFill>
                <a:latin typeface="Segoe UI"/>
              </a:rPr>
              <a:t>Cả lớp nhận xét và góp thêm ý hay.</a:t>
            </a:r>
          </a:p>
          <a:p>
            <a:pPr algn="l">
              <a:lnSpc>
                <a:spcPct val="124000"/>
              </a:lnSpc>
              <a:spcAft>
                <a:spcPts val="700"/>
              </a:spcAft>
            </a:pPr>
            <a:r>
              <a:rPr sz="1200" b="1" i="0">
                <a:solidFill>
                  <a:srgbClr val="0A66E0"/>
                </a:solidFill>
                <a:latin typeface="Segoe UI"/>
              </a:rPr>
              <a:t>•  </a:t>
            </a:r>
            <a:r>
              <a:rPr sz="1200" b="0" i="0">
                <a:solidFill>
                  <a:srgbClr val="4E5879"/>
                </a:solidFill>
                <a:latin typeface="Segoe UI"/>
              </a:rPr>
              <a:t>Chọn một hành động hợp tác cho tuần tới.</a:t>
            </a:r>
          </a:p>
        </p:txBody>
      </p:sp>
      <p:sp>
        <p:nvSpPr>
          <p:cNvPr id="36" name="Rounded Rectangle 35"/>
          <p:cNvSpPr/>
          <p:nvPr/>
        </p:nvSpPr>
        <p:spPr>
          <a:xfrm>
            <a:off x="3331565" y="5806440"/>
            <a:ext cx="5528564" cy="420624"/>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spc="20">
                <a:solidFill>
                  <a:srgbClr val="101631"/>
                </a:solidFill>
                <a:latin typeface="Segoe UI"/>
              </a:rPr>
              <a:t>Mong muốn của chúng em: cả lớp tham gia thật sôi nổi nhé!</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scope.png"/>
          <p:cNvPicPr>
            <a:picLocks noChangeAspect="1"/>
          </p:cNvPicPr>
          <p:nvPr/>
        </p:nvPicPr>
        <p:blipFill>
          <a:blip r:embed="rId2"/>
          <a:stretch>
            <a:fillRect/>
          </a:stretch>
        </p:blipFill>
        <p:spPr>
          <a:xfrm>
            <a:off x="621792" y="407005"/>
            <a:ext cx="219456" cy="210117"/>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A24AD6"/>
                </a:solidFill>
                <a:latin typeface="Segoe UI"/>
              </a:rPr>
              <a:t>ĐIỀU CHÚNG EM MONG MUỐN</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3000" b="1" i="0" spc="20">
                <a:solidFill>
                  <a:srgbClr val="101631"/>
                </a:solidFill>
                <a:latin typeface="Segoe UI"/>
              </a:rPr>
              <a:t>Sau buổi hôm nay, lớp mình sẽ…</a:t>
            </a:r>
          </a:p>
        </p:txBody>
      </p:sp>
      <p:sp>
        <p:nvSpPr>
          <p:cNvPr id="17" name="~hdrRounded Rectangle 16"/>
          <p:cNvSpPr/>
          <p:nvPr/>
        </p:nvSpPr>
        <p:spPr>
          <a:xfrm>
            <a:off x="608076" y="1408176"/>
            <a:ext cx="658368" cy="45720"/>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03</a:t>
            </a:r>
          </a:p>
        </p:txBody>
      </p:sp>
      <p:sp>
        <p:nvSpPr>
          <p:cNvPr id="24" name="Rounded Rectangle 23"/>
          <p:cNvSpPr/>
          <p:nvPr/>
        </p:nvSpPr>
        <p:spPr>
          <a:xfrm>
            <a:off x="603504" y="1920240"/>
            <a:ext cx="2540431" cy="3017520"/>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1340229" y="2101291"/>
            <a:ext cx="1066981" cy="30175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rson-2-fill.png"/>
          <p:cNvPicPr>
            <a:picLocks noChangeAspect="1"/>
          </p:cNvPicPr>
          <p:nvPr/>
        </p:nvPicPr>
        <p:blipFill>
          <a:blip r:embed="rId3"/>
          <a:stretch>
            <a:fillRect/>
          </a:stretch>
        </p:blipFill>
        <p:spPr>
          <a:xfrm>
            <a:off x="1571967" y="2324608"/>
            <a:ext cx="603504" cy="379984"/>
          </a:xfrm>
          <a:prstGeom prst="rect">
            <a:avLst/>
          </a:prstGeom>
        </p:spPr>
      </p:pic>
      <p:sp>
        <p:nvSpPr>
          <p:cNvPr id="27" name="TextBox 26"/>
          <p:cNvSpPr txBox="1"/>
          <p:nvPr/>
        </p:nvSpPr>
        <p:spPr>
          <a:xfrm>
            <a:off x="713232" y="2980944"/>
            <a:ext cx="2320975" cy="384048"/>
          </a:xfrm>
          <a:prstGeom prst="rect">
            <a:avLst/>
          </a:prstGeom>
          <a:noFill/>
        </p:spPr>
        <p:txBody>
          <a:bodyPr wrap="square" anchor="t" lIns="0" rIns="0" tIns="0" bIns="0">
            <a:spAutoFit/>
          </a:bodyPr>
          <a:lstStyle/>
          <a:p>
            <a:pPr algn="ctr"/>
            <a:r>
              <a:rPr sz="1750" b="1" i="0">
                <a:solidFill>
                  <a:srgbClr val="101631"/>
                </a:solidFill>
                <a:latin typeface="Segoe UI"/>
              </a:rPr>
              <a:t>Hiểu đúng hơn</a:t>
            </a:r>
          </a:p>
        </p:txBody>
      </p:sp>
      <p:sp>
        <p:nvSpPr>
          <p:cNvPr id="28" name="TextBox 27"/>
          <p:cNvSpPr txBox="1"/>
          <p:nvPr/>
        </p:nvSpPr>
        <p:spPr>
          <a:xfrm>
            <a:off x="804672"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Segoe UI"/>
              </a:rPr>
              <a:t>Hòa đồng, hợp tác là gì và vì sao nó quan trọng.</a:t>
            </a:r>
          </a:p>
        </p:txBody>
      </p:sp>
      <p:sp>
        <p:nvSpPr>
          <p:cNvPr id="29" name="Rounded Rectangle 28"/>
          <p:cNvSpPr/>
          <p:nvPr/>
        </p:nvSpPr>
        <p:spPr>
          <a:xfrm>
            <a:off x="3418255" y="1920240"/>
            <a:ext cx="2540431" cy="3017520"/>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rot="20880000">
            <a:off x="4154981" y="2101291"/>
            <a:ext cx="1066981" cy="30175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bubble-left-fill.png"/>
          <p:cNvPicPr>
            <a:picLocks noChangeAspect="1"/>
          </p:cNvPicPr>
          <p:nvPr/>
        </p:nvPicPr>
        <p:blipFill>
          <a:blip r:embed="rId4"/>
          <a:stretch>
            <a:fillRect/>
          </a:stretch>
        </p:blipFill>
        <p:spPr>
          <a:xfrm>
            <a:off x="4386719" y="2253081"/>
            <a:ext cx="603504" cy="523036"/>
          </a:xfrm>
          <a:prstGeom prst="rect">
            <a:avLst/>
          </a:prstGeom>
        </p:spPr>
      </p:pic>
      <p:sp>
        <p:nvSpPr>
          <p:cNvPr id="32" name="TextBox 31"/>
          <p:cNvSpPr txBox="1"/>
          <p:nvPr/>
        </p:nvSpPr>
        <p:spPr>
          <a:xfrm>
            <a:off x="3527983" y="2980944"/>
            <a:ext cx="2320975" cy="384048"/>
          </a:xfrm>
          <a:prstGeom prst="rect">
            <a:avLst/>
          </a:prstGeom>
          <a:noFill/>
        </p:spPr>
        <p:txBody>
          <a:bodyPr wrap="square" anchor="t" lIns="0" rIns="0" tIns="0" bIns="0">
            <a:spAutoFit/>
          </a:bodyPr>
          <a:lstStyle/>
          <a:p>
            <a:pPr algn="ctr"/>
            <a:r>
              <a:rPr sz="1750" b="1" i="0">
                <a:solidFill>
                  <a:srgbClr val="101631"/>
                </a:solidFill>
                <a:latin typeface="Segoe UI"/>
              </a:rPr>
              <a:t>Gần nhau hơn</a:t>
            </a:r>
          </a:p>
        </p:txBody>
      </p:sp>
      <p:sp>
        <p:nvSpPr>
          <p:cNvPr id="33" name="TextBox 32"/>
          <p:cNvSpPr txBox="1"/>
          <p:nvPr/>
        </p:nvSpPr>
        <p:spPr>
          <a:xfrm>
            <a:off x="3619423"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Segoe UI"/>
              </a:rPr>
              <a:t>Biết thêm nhiều cách nhỏ để kết nối với bạn bè.</a:t>
            </a:r>
          </a:p>
        </p:txBody>
      </p:sp>
      <p:sp>
        <p:nvSpPr>
          <p:cNvPr id="34" name="Rounded Rectangle 33"/>
          <p:cNvSpPr/>
          <p:nvPr/>
        </p:nvSpPr>
        <p:spPr>
          <a:xfrm>
            <a:off x="6233007" y="1920240"/>
            <a:ext cx="2540431" cy="3017520"/>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rot="20880000">
            <a:off x="6969732" y="2101291"/>
            <a:ext cx="1066981" cy="30175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person-2-fill.png"/>
          <p:cNvPicPr>
            <a:picLocks noChangeAspect="1"/>
          </p:cNvPicPr>
          <p:nvPr/>
        </p:nvPicPr>
        <p:blipFill>
          <a:blip r:embed="rId3"/>
          <a:stretch>
            <a:fillRect/>
          </a:stretch>
        </p:blipFill>
        <p:spPr>
          <a:xfrm>
            <a:off x="7201471" y="2324608"/>
            <a:ext cx="603504" cy="379984"/>
          </a:xfrm>
          <a:prstGeom prst="rect">
            <a:avLst/>
          </a:prstGeom>
        </p:spPr>
      </p:pic>
      <p:sp>
        <p:nvSpPr>
          <p:cNvPr id="37" name="TextBox 36"/>
          <p:cNvSpPr txBox="1"/>
          <p:nvPr/>
        </p:nvSpPr>
        <p:spPr>
          <a:xfrm>
            <a:off x="6342735" y="2980944"/>
            <a:ext cx="2320975" cy="384048"/>
          </a:xfrm>
          <a:prstGeom prst="rect">
            <a:avLst/>
          </a:prstGeom>
          <a:noFill/>
        </p:spPr>
        <p:txBody>
          <a:bodyPr wrap="square" anchor="t" lIns="0" rIns="0" tIns="0" bIns="0">
            <a:spAutoFit/>
          </a:bodyPr>
          <a:lstStyle/>
          <a:p>
            <a:pPr algn="ctr"/>
            <a:r>
              <a:rPr sz="1750" b="1" i="0">
                <a:solidFill>
                  <a:srgbClr val="101631"/>
                </a:solidFill>
                <a:latin typeface="Segoe UI"/>
              </a:rPr>
              <a:t>Phối hợp ăn ý</a:t>
            </a:r>
          </a:p>
        </p:txBody>
      </p:sp>
      <p:sp>
        <p:nvSpPr>
          <p:cNvPr id="38" name="TextBox 37"/>
          <p:cNvSpPr txBox="1"/>
          <p:nvPr/>
        </p:nvSpPr>
        <p:spPr>
          <a:xfrm>
            <a:off x="6434175"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Segoe UI"/>
              </a:rPr>
              <a:t>Làm việc nhóm vui và hiệu quả, ai cũng được tham gia.</a:t>
            </a:r>
          </a:p>
        </p:txBody>
      </p:sp>
      <p:sp>
        <p:nvSpPr>
          <p:cNvPr id="39" name="Rounded Rectangle 38"/>
          <p:cNvSpPr/>
          <p:nvPr/>
        </p:nvSpPr>
        <p:spPr>
          <a:xfrm>
            <a:off x="9047759" y="1920240"/>
            <a:ext cx="2540431" cy="3017520"/>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rot="20880000">
            <a:off x="9784484" y="2101291"/>
            <a:ext cx="1066981" cy="30175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scope.png"/>
          <p:cNvPicPr>
            <a:picLocks noChangeAspect="1"/>
          </p:cNvPicPr>
          <p:nvPr/>
        </p:nvPicPr>
        <p:blipFill>
          <a:blip r:embed="rId2"/>
          <a:stretch>
            <a:fillRect/>
          </a:stretch>
        </p:blipFill>
        <p:spPr>
          <a:xfrm>
            <a:off x="10016223" y="2225688"/>
            <a:ext cx="603504" cy="577822"/>
          </a:xfrm>
          <a:prstGeom prst="rect">
            <a:avLst/>
          </a:prstGeom>
        </p:spPr>
      </p:pic>
      <p:sp>
        <p:nvSpPr>
          <p:cNvPr id="42" name="TextBox 41"/>
          <p:cNvSpPr txBox="1"/>
          <p:nvPr/>
        </p:nvSpPr>
        <p:spPr>
          <a:xfrm>
            <a:off x="9157487" y="2980944"/>
            <a:ext cx="2320975" cy="384048"/>
          </a:xfrm>
          <a:prstGeom prst="rect">
            <a:avLst/>
          </a:prstGeom>
          <a:noFill/>
        </p:spPr>
        <p:txBody>
          <a:bodyPr wrap="square" anchor="t" lIns="0" rIns="0" tIns="0" bIns="0">
            <a:spAutoFit/>
          </a:bodyPr>
          <a:lstStyle/>
          <a:p>
            <a:pPr algn="ctr"/>
            <a:r>
              <a:rPr sz="1750" b="1" i="0">
                <a:solidFill>
                  <a:srgbClr val="101631"/>
                </a:solidFill>
                <a:latin typeface="Segoe UI"/>
              </a:rPr>
              <a:t>Tự tin ứng xử</a:t>
            </a:r>
          </a:p>
        </p:txBody>
      </p:sp>
      <p:sp>
        <p:nvSpPr>
          <p:cNvPr id="43" name="TextBox 42"/>
          <p:cNvSpPr txBox="1"/>
          <p:nvPr/>
        </p:nvSpPr>
        <p:spPr>
          <a:xfrm>
            <a:off x="9248927"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Segoe UI"/>
              </a:rPr>
              <a:t>Xử lí khéo léo khi gặp tình huống khó ở lớp.</a:t>
            </a:r>
          </a:p>
        </p:txBody>
      </p:sp>
      <p:sp>
        <p:nvSpPr>
          <p:cNvPr id="44" name="Rounded Rectangle 43"/>
          <p:cNvSpPr/>
          <p:nvPr/>
        </p:nvSpPr>
        <p:spPr>
          <a:xfrm>
            <a:off x="3471202" y="5440680"/>
            <a:ext cx="5249290" cy="384048"/>
          </a:xfrm>
          <a:prstGeom prst="roundRect">
            <a:avLst>
              <a:gd name="adj" fmla="val 50000"/>
            </a:avLst>
          </a:prstGeom>
          <a:effectLst/>
          <a:solidFill>
            <a:srgbClr val="FFFFFF">
              <a:alpha val="2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4E5879"/>
                </a:solidFill>
                <a:latin typeface="Segoe UI"/>
              </a:rPr>
              <a:t>Các bạn giúp chúng em bằng cách lắng nghe và góp ý chân thành!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40"/>
                                  </p:tgtEl>
                                  <p:attrNameLst>
                                    <p:attrName>style.visibility</p:attrName>
                                  </p:attrNameLst>
                                </p:cBhvr>
                                <p:to>
                                  <p:strVal val="visible"/>
                                </p:to>
                              </p:set>
                              <p:animEffect transition="in" filter="fade">
                                <p:cBhvr>
                                  <p:cTn id="1052" dur="700"/>
                                  <p:tgtEl>
                                    <p:spTgt spid="4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41"/>
                                  </p:tgtEl>
                                  <p:attrNameLst>
                                    <p:attrName>style.visibility</p:attrName>
                                  </p:attrNameLst>
                                </p:cBhvr>
                                <p:to>
                                  <p:strVal val="visible"/>
                                </p:to>
                              </p:set>
                              <p:animEffect transition="in" filter="fade">
                                <p:cBhvr>
                                  <p:cTn id="1055" dur="700"/>
                                  <p:tgtEl>
                                    <p:spTgt spid="41"/>
                                  </p:tgtEl>
                                </p:cBhvr>
                              </p:animEffect>
                            </p:childTnLst>
                          </p:cTn>
                        </p:par>
                        <p:par>
                          <p:cTn id="1056" presetID="10" presetClass="entr" presetSubtype="0" fill="hold" grpId="0" nodeType="withEffect">
                            <p:stCondLst>
                              <p:cond delay="0"/>
                            </p:stCondLst>
                            <p:childTnLst>
                              <p:set>
                                <p:cBhvr>
                                  <p:cTn id="1057" dur="1" fill="hold">
                                    <p:stCondLst>
                                      <p:cond delay="0"/>
                                    </p:stCondLst>
                                  </p:cTn>
                                  <p:tgtEl>
                                    <p:spTgt spid="42"/>
                                  </p:tgtEl>
                                  <p:attrNameLst>
                                    <p:attrName>style.visibility</p:attrName>
                                  </p:attrNameLst>
                                </p:cBhvr>
                                <p:to>
                                  <p:strVal val="visible"/>
                                </p:to>
                              </p:set>
                              <p:animEffect transition="in" filter="fade">
                                <p:cBhvr>
                                  <p:cTn id="1058" dur="700"/>
                                  <p:tgtEl>
                                    <p:spTgt spid="42"/>
                                  </p:tgtEl>
                                </p:cBhvr>
                              </p:animEffect>
                            </p:childTnLst>
                          </p:cTn>
                        </p:par>
                        <p:par>
                          <p:cTn id="1059" presetID="10" presetClass="entr" presetSubtype="0" fill="hold" grpId="0" nodeType="withEffect">
                            <p:stCondLst>
                              <p:cond delay="0"/>
                            </p:stCondLst>
                            <p:childTnLst>
                              <p:set>
                                <p:cBhvr>
                                  <p:cTn id="1060" dur="1" fill="hold">
                                    <p:stCondLst>
                                      <p:cond delay="0"/>
                                    </p:stCondLst>
                                  </p:cTn>
                                  <p:tgtEl>
                                    <p:spTgt spid="43"/>
                                  </p:tgtEl>
                                  <p:attrNameLst>
                                    <p:attrName>style.visibility</p:attrName>
                                  </p:attrNameLst>
                                </p:cBhvr>
                                <p:to>
                                  <p:strVal val="visible"/>
                                </p:to>
                              </p:set>
                              <p:animEffect transition="in" filter="fade">
                                <p:cBhvr>
                                  <p:cTn id="1061" dur="700"/>
                                  <p:tgtEl>
                                    <p:spTgt spid="43"/>
                                  </p:tgtEl>
                                </p:cBhvr>
                              </p:animEffect>
                            </p:childTnLst>
                          </p:cTn>
                        </p:par>
                        <p:par>
                          <p:cTn id="1062" presetID="10" presetClass="entr" presetSubtype="0" fill="hold" grpId="0" nodeType="withEffect">
                            <p:stCondLst>
                              <p:cond delay="0"/>
                            </p:stCondLst>
                            <p:childTnLst>
                              <p:set>
                                <p:cBhvr>
                                  <p:cTn id="1063" dur="1" fill="hold">
                                    <p:stCondLst>
                                      <p:cond delay="0"/>
                                    </p:stCondLst>
                                  </p:cTn>
                                  <p:tgtEl>
                                    <p:spTgt spid="44"/>
                                  </p:tgtEl>
                                  <p:attrNameLst>
                                    <p:attrName>style.visibility</p:attrName>
                                  </p:attrNameLst>
                                </p:cBhvr>
                                <p:to>
                                  <p:strVal val="visible"/>
                                </p:to>
                              </p:set>
                              <p:animEffect transition="in" filter="fade">
                                <p:cBhvr>
                                  <p:cTn id="1064" dur="700"/>
                                  <p:tgtEl>
                                    <p:spTgt spid="4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smiley-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97600"/>
                </a:solidFill>
                <a:latin typeface="Segoe UI"/>
              </a:rPr>
              <a:t>KHỞI ĐỘNG</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Segoe UI"/>
              </a:rPr>
              <a:t>Các bạn thử nhớ lại xem…</a:t>
            </a:r>
          </a:p>
        </p:txBody>
      </p:sp>
      <p:sp>
        <p:nvSpPr>
          <p:cNvPr id="17" name="~hdrRounded Rectangle 16"/>
          <p:cNvSpPr/>
          <p:nvPr/>
        </p:nvSpPr>
        <p:spPr>
          <a:xfrm>
            <a:off x="608076" y="1408176"/>
            <a:ext cx="658368" cy="45720"/>
          </a:xfrm>
          <a:prstGeom prst="roundRect">
            <a:avLst>
              <a:gd name="adj" fmla="val 50000"/>
            </a:avLst>
          </a:prstGeom>
          <a:effectLst/>
          <a:solidFill>
            <a:srgbClr val="D9760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04</a:t>
            </a:r>
          </a:p>
        </p:txBody>
      </p:sp>
      <p:sp>
        <p:nvSpPr>
          <p:cNvPr id="24" name="Rounded Rectangle 23"/>
          <p:cNvSpPr/>
          <p:nvPr/>
        </p:nvSpPr>
        <p:spPr>
          <a:xfrm>
            <a:off x="603504" y="1719072"/>
            <a:ext cx="10984687" cy="425196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3789063" y="1974189"/>
            <a:ext cx="4613568" cy="425196"/>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06424" y="1947672"/>
            <a:ext cx="9978847" cy="365760"/>
          </a:xfrm>
          <a:prstGeom prst="rect">
            <a:avLst/>
          </a:prstGeom>
          <a:noFill/>
        </p:spPr>
        <p:txBody>
          <a:bodyPr wrap="square" anchor="t" lIns="0" rIns="0" tIns="0" bIns="0">
            <a:spAutoFit/>
          </a:bodyPr>
          <a:lstStyle/>
          <a:p>
            <a:pPr algn="l"/>
            <a:r>
              <a:rPr sz="1450" b="1" i="0">
                <a:solidFill>
                  <a:srgbClr val="101631"/>
                </a:solidFill>
                <a:latin typeface="Segoe UI"/>
              </a:rPr>
              <a:t>Quay sang bạn kế bên, chia sẻ nhanh trong 1 phút nhé:</a:t>
            </a:r>
          </a:p>
        </p:txBody>
      </p:sp>
      <p:pic>
        <p:nvPicPr>
          <p:cNvPr id="27" name="Picture 26" descr="smiley-fill.png"/>
          <p:cNvPicPr>
            <a:picLocks noChangeAspect="1"/>
          </p:cNvPicPr>
          <p:nvPr/>
        </p:nvPicPr>
        <p:blipFill>
          <a:blip r:embed="rId2"/>
          <a:stretch>
            <a:fillRect/>
          </a:stretch>
        </p:blipFill>
        <p:spPr>
          <a:xfrm>
            <a:off x="1060704" y="2571750"/>
            <a:ext cx="457200" cy="434340"/>
          </a:xfrm>
          <a:prstGeom prst="rect">
            <a:avLst/>
          </a:prstGeom>
        </p:spPr>
      </p:pic>
      <p:sp>
        <p:nvSpPr>
          <p:cNvPr id="28" name="TextBox 27"/>
          <p:cNvSpPr txBox="1"/>
          <p:nvPr/>
        </p:nvSpPr>
        <p:spPr>
          <a:xfrm>
            <a:off x="1746504" y="2569463"/>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Segoe UI"/>
              </a:rPr>
              <a:t>Bạn nào trong lớp mình luôn vui vẻ, thân thiện với tất cả mọi người? Vì sao bạn ấy được yêu quý?</a:t>
            </a:r>
          </a:p>
        </p:txBody>
      </p:sp>
      <p:pic>
        <p:nvPicPr>
          <p:cNvPr id="29" name="Picture 28" descr="person-2-fill.png"/>
          <p:cNvPicPr>
            <a:picLocks noChangeAspect="1"/>
          </p:cNvPicPr>
          <p:nvPr/>
        </p:nvPicPr>
        <p:blipFill>
          <a:blip r:embed="rId3"/>
          <a:stretch>
            <a:fillRect/>
          </a:stretch>
        </p:blipFill>
        <p:spPr>
          <a:xfrm>
            <a:off x="1060704" y="3504522"/>
            <a:ext cx="457200" cy="287866"/>
          </a:xfrm>
          <a:prstGeom prst="rect">
            <a:avLst/>
          </a:prstGeom>
        </p:spPr>
      </p:pic>
      <p:sp>
        <p:nvSpPr>
          <p:cNvPr id="30" name="TextBox 29"/>
          <p:cNvSpPr txBox="1"/>
          <p:nvPr/>
        </p:nvSpPr>
        <p:spPr>
          <a:xfrm>
            <a:off x="1746504" y="3428999"/>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Segoe UI"/>
              </a:rPr>
              <a:t>Các bạn đã cùng nhau hoàn thành một việc khó bao giờ chưa? Lúc đó cảm thấy thế nào?</a:t>
            </a:r>
          </a:p>
        </p:txBody>
      </p:sp>
      <p:pic>
        <p:nvPicPr>
          <p:cNvPr id="31" name="Picture 30" descr="person-crop-circle-fill.png"/>
          <p:cNvPicPr>
            <a:picLocks noChangeAspect="1"/>
          </p:cNvPicPr>
          <p:nvPr/>
        </p:nvPicPr>
        <p:blipFill>
          <a:blip r:embed="rId4"/>
          <a:stretch>
            <a:fillRect/>
          </a:stretch>
        </p:blipFill>
        <p:spPr>
          <a:xfrm>
            <a:off x="1060704" y="4290822"/>
            <a:ext cx="457200" cy="434340"/>
          </a:xfrm>
          <a:prstGeom prst="rect">
            <a:avLst/>
          </a:prstGeom>
        </p:spPr>
      </p:pic>
      <p:sp>
        <p:nvSpPr>
          <p:cNvPr id="32" name="TextBox 31"/>
          <p:cNvSpPr txBox="1"/>
          <p:nvPr/>
        </p:nvSpPr>
        <p:spPr>
          <a:xfrm>
            <a:off x="1746504" y="4288536"/>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Segoe UI"/>
              </a:rPr>
              <a:t>Các bạn từng mạnh dạn nhờ thầy cô giúp đỡ chưa? Điều gì khiến mình dám hỏi?</a:t>
            </a:r>
          </a:p>
        </p:txBody>
      </p:sp>
      <p:sp>
        <p:nvSpPr>
          <p:cNvPr id="33" name="Rounded Rectangle 32"/>
          <p:cNvSpPr/>
          <p:nvPr/>
        </p:nvSpPr>
        <p:spPr>
          <a:xfrm>
            <a:off x="1060704" y="5440680"/>
            <a:ext cx="5969522" cy="365760"/>
          </a:xfrm>
          <a:prstGeom prst="roundRect">
            <a:avLst>
              <a:gd name="adj" fmla="val 50000"/>
            </a:avLst>
          </a:prstGeom>
          <a:effectLst/>
          <a:solidFill>
            <a:srgbClr val="FFFFFF">
              <a:alpha val="2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D97600"/>
                </a:solidFill>
                <a:latin typeface="Segoe UI"/>
              </a:rPr>
              <a:t>Mỗi câu trả lời đều hé lộ một kĩ năng mà hôm nay chúng ta cùng rèn!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quote-bubble-fill.png"/>
          <p:cNvPicPr>
            <a:picLocks noChangeAspect="1"/>
          </p:cNvPicPr>
          <p:nvPr/>
        </p:nvPicPr>
        <p:blipFill>
          <a:blip r:embed="rId2"/>
          <a:stretch>
            <a:fillRect/>
          </a:stretch>
        </p:blipFill>
        <p:spPr>
          <a:xfrm>
            <a:off x="621792" y="416966"/>
            <a:ext cx="219456" cy="190195"/>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E9E96"/>
                </a:solidFill>
                <a:latin typeface="Segoe UI"/>
              </a:rPr>
              <a:t>TIẾT 1 · CHÚNG EM HIỂU</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Segoe UI"/>
              </a:rPr>
              <a:t>Hòa đồng và hợp tác là gì?</a:t>
            </a:r>
          </a:p>
        </p:txBody>
      </p:sp>
      <p:sp>
        <p:nvSpPr>
          <p:cNvPr id="17" name="~hdrRounded Rectangle 16"/>
          <p:cNvSpPr/>
          <p:nvPr/>
        </p:nvSpPr>
        <p:spPr>
          <a:xfrm>
            <a:off x="608076" y="1408176"/>
            <a:ext cx="658368" cy="45720"/>
          </a:xfrm>
          <a:prstGeom prst="roundRect">
            <a:avLst>
              <a:gd name="adj" fmla="val 50000"/>
            </a:avLst>
          </a:prstGeom>
          <a:effectLst/>
          <a:solidFill>
            <a:srgbClr val="0E9E9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05</a:t>
            </a:r>
          </a:p>
        </p:txBody>
      </p:sp>
      <p:sp>
        <p:nvSpPr>
          <p:cNvPr id="24" name="Rounded Rectangle 23"/>
          <p:cNvSpPr/>
          <p:nvPr/>
        </p:nvSpPr>
        <p:spPr>
          <a:xfrm>
            <a:off x="603504" y="1783080"/>
            <a:ext cx="5300319" cy="233172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2140596" y="1922983"/>
            <a:ext cx="2226134" cy="23317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heart-circle-fill.png"/>
          <p:cNvPicPr>
            <a:picLocks noChangeAspect="1"/>
          </p:cNvPicPr>
          <p:nvPr/>
        </p:nvPicPr>
        <p:blipFill>
          <a:blip r:embed="rId3"/>
          <a:stretch>
            <a:fillRect/>
          </a:stretch>
        </p:blipFill>
        <p:spPr>
          <a:xfrm>
            <a:off x="950976" y="2116836"/>
            <a:ext cx="548640" cy="521207"/>
          </a:xfrm>
          <a:prstGeom prst="rect">
            <a:avLst/>
          </a:prstGeom>
        </p:spPr>
      </p:pic>
      <p:sp>
        <p:nvSpPr>
          <p:cNvPr id="27" name="TextBox 26"/>
          <p:cNvSpPr txBox="1"/>
          <p:nvPr/>
        </p:nvSpPr>
        <p:spPr>
          <a:xfrm>
            <a:off x="1700784" y="2167128"/>
            <a:ext cx="4020159" cy="411480"/>
          </a:xfrm>
          <a:prstGeom prst="rect">
            <a:avLst/>
          </a:prstGeom>
          <a:noFill/>
        </p:spPr>
        <p:txBody>
          <a:bodyPr wrap="square" anchor="t" lIns="0" rIns="0" tIns="0" bIns="0">
            <a:spAutoFit/>
          </a:bodyPr>
          <a:lstStyle/>
          <a:p>
            <a:pPr algn="l"/>
            <a:r>
              <a:rPr sz="1800" b="1" i="0">
                <a:solidFill>
                  <a:srgbClr val="101631"/>
                </a:solidFill>
                <a:latin typeface="Segoe UI"/>
              </a:rPr>
              <a:t>Hòa đồng là…</a:t>
            </a:r>
          </a:p>
        </p:txBody>
      </p:sp>
      <p:sp>
        <p:nvSpPr>
          <p:cNvPr id="28" name="TextBox 27"/>
          <p:cNvSpPr txBox="1"/>
          <p:nvPr/>
        </p:nvSpPr>
        <p:spPr>
          <a:xfrm>
            <a:off x="969264" y="2770632"/>
            <a:ext cx="4568799" cy="1142999"/>
          </a:xfrm>
          <a:prstGeom prst="rect">
            <a:avLst/>
          </a:prstGeom>
          <a:noFill/>
        </p:spPr>
        <p:txBody>
          <a:bodyPr wrap="square" anchor="t" lIns="0" rIns="0" tIns="0" bIns="0">
            <a:spAutoFit/>
          </a:bodyPr>
          <a:lstStyle/>
          <a:p>
            <a:pPr algn="l">
              <a:lnSpc>
                <a:spcPct val="130000"/>
              </a:lnSpc>
            </a:pPr>
            <a:r>
              <a:rPr sz="1300" b="0" i="0">
                <a:solidFill>
                  <a:srgbClr val="4E5879"/>
                </a:solidFill>
                <a:latin typeface="Segoe UI"/>
              </a:rPr>
              <a:t>Cởi mở, thân thiện, vui vẻ với mọi người; tôn trọng sự khác biệt; sẵn sàng trò chuyện, chia sẻ và giúp đỡ nhau.</a:t>
            </a:r>
          </a:p>
        </p:txBody>
      </p:sp>
      <p:sp>
        <p:nvSpPr>
          <p:cNvPr id="29" name="Rounded Rectangle 28"/>
          <p:cNvSpPr/>
          <p:nvPr/>
        </p:nvSpPr>
        <p:spPr>
          <a:xfrm>
            <a:off x="6287871" y="1783080"/>
            <a:ext cx="5300319" cy="233172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rot="20880000">
            <a:off x="7824964" y="1922983"/>
            <a:ext cx="2226134" cy="23317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2-fill.png"/>
          <p:cNvPicPr>
            <a:picLocks noChangeAspect="1"/>
          </p:cNvPicPr>
          <p:nvPr/>
        </p:nvPicPr>
        <p:blipFill>
          <a:blip r:embed="rId4"/>
          <a:stretch>
            <a:fillRect/>
          </a:stretch>
        </p:blipFill>
        <p:spPr>
          <a:xfrm>
            <a:off x="6635343" y="2204720"/>
            <a:ext cx="548640" cy="345440"/>
          </a:xfrm>
          <a:prstGeom prst="rect">
            <a:avLst/>
          </a:prstGeom>
        </p:spPr>
      </p:pic>
      <p:sp>
        <p:nvSpPr>
          <p:cNvPr id="32" name="TextBox 31"/>
          <p:cNvSpPr txBox="1"/>
          <p:nvPr/>
        </p:nvSpPr>
        <p:spPr>
          <a:xfrm>
            <a:off x="7385151" y="2167128"/>
            <a:ext cx="4020159" cy="411480"/>
          </a:xfrm>
          <a:prstGeom prst="rect">
            <a:avLst/>
          </a:prstGeom>
          <a:noFill/>
        </p:spPr>
        <p:txBody>
          <a:bodyPr wrap="square" anchor="t" lIns="0" rIns="0" tIns="0" bIns="0">
            <a:spAutoFit/>
          </a:bodyPr>
          <a:lstStyle/>
          <a:p>
            <a:pPr algn="l"/>
            <a:r>
              <a:rPr sz="1800" b="1" i="0">
                <a:solidFill>
                  <a:srgbClr val="101631"/>
                </a:solidFill>
                <a:latin typeface="Segoe UI"/>
              </a:rPr>
              <a:t>Hợp tác là…</a:t>
            </a:r>
          </a:p>
        </p:txBody>
      </p:sp>
      <p:sp>
        <p:nvSpPr>
          <p:cNvPr id="33" name="TextBox 32"/>
          <p:cNvSpPr txBox="1"/>
          <p:nvPr/>
        </p:nvSpPr>
        <p:spPr>
          <a:xfrm>
            <a:off x="6653631" y="2770632"/>
            <a:ext cx="4568799" cy="1142999"/>
          </a:xfrm>
          <a:prstGeom prst="rect">
            <a:avLst/>
          </a:prstGeom>
          <a:noFill/>
        </p:spPr>
        <p:txBody>
          <a:bodyPr wrap="square" anchor="t" lIns="0" rIns="0" tIns="0" bIns="0">
            <a:spAutoFit/>
          </a:bodyPr>
          <a:lstStyle/>
          <a:p>
            <a:pPr algn="l">
              <a:lnSpc>
                <a:spcPct val="130000"/>
              </a:lnSpc>
            </a:pPr>
            <a:r>
              <a:rPr sz="1300" b="0" i="0">
                <a:solidFill>
                  <a:srgbClr val="4E5879"/>
                </a:solidFill>
                <a:latin typeface="Segoe UI"/>
              </a:rPr>
              <a:t>Cùng bàn bạc, chung sức làm một việc chung và cùng chịu trách nhiệm về kết quả — không phải làm hộ cho nhau.</a:t>
            </a:r>
          </a:p>
        </p:txBody>
      </p:sp>
      <p:sp>
        <p:nvSpPr>
          <p:cNvPr id="34" name="TextBox 33"/>
          <p:cNvSpPr txBox="1"/>
          <p:nvPr/>
        </p:nvSpPr>
        <p:spPr>
          <a:xfrm>
            <a:off x="603504" y="4434840"/>
            <a:ext cx="8229600" cy="384048"/>
          </a:xfrm>
          <a:prstGeom prst="rect">
            <a:avLst/>
          </a:prstGeom>
          <a:noFill/>
        </p:spPr>
        <p:txBody>
          <a:bodyPr wrap="square" anchor="t" lIns="0" rIns="0" tIns="0" bIns="0">
            <a:spAutoFit/>
          </a:bodyPr>
          <a:lstStyle/>
          <a:p>
            <a:pPr algn="l"/>
            <a:r>
              <a:rPr sz="1650" b="1" i="0">
                <a:solidFill>
                  <a:srgbClr val="101631"/>
                </a:solidFill>
                <a:latin typeface="Segoe UI"/>
              </a:rPr>
              <a:t>Vì sao lớp mình nên hòa đồng và hợp tác?</a:t>
            </a:r>
          </a:p>
        </p:txBody>
      </p:sp>
      <p:sp>
        <p:nvSpPr>
          <p:cNvPr id="35" name="Rounded Rectangle 34"/>
          <p:cNvSpPr/>
          <p:nvPr/>
        </p:nvSpPr>
        <p:spPr>
          <a:xfrm>
            <a:off x="603504" y="4892040"/>
            <a:ext cx="3454298" cy="123444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rot="20880000">
            <a:off x="1605250" y="4966106"/>
            <a:ext cx="1450805" cy="12344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star-fill.png"/>
          <p:cNvPicPr>
            <a:picLocks noChangeAspect="1"/>
          </p:cNvPicPr>
          <p:nvPr/>
        </p:nvPicPr>
        <p:blipFill>
          <a:blip r:embed="rId5"/>
          <a:stretch>
            <a:fillRect/>
          </a:stretch>
        </p:blipFill>
        <p:spPr>
          <a:xfrm>
            <a:off x="859536" y="5111495"/>
            <a:ext cx="402336" cy="365760"/>
          </a:xfrm>
          <a:prstGeom prst="rect">
            <a:avLst/>
          </a:prstGeom>
        </p:spPr>
      </p:pic>
      <p:sp>
        <p:nvSpPr>
          <p:cNvPr id="38" name="TextBox 37"/>
          <p:cNvSpPr txBox="1"/>
          <p:nvPr/>
        </p:nvSpPr>
        <p:spPr>
          <a:xfrm>
            <a:off x="1408176" y="5093207"/>
            <a:ext cx="2494178" cy="292608"/>
          </a:xfrm>
          <a:prstGeom prst="rect">
            <a:avLst/>
          </a:prstGeom>
          <a:noFill/>
        </p:spPr>
        <p:txBody>
          <a:bodyPr wrap="square" anchor="t" lIns="0" rIns="0" tIns="0" bIns="0">
            <a:spAutoFit/>
          </a:bodyPr>
          <a:lstStyle/>
          <a:p>
            <a:pPr algn="l"/>
            <a:r>
              <a:rPr sz="1400" b="1" i="0">
                <a:solidFill>
                  <a:srgbClr val="101631"/>
                </a:solidFill>
                <a:latin typeface="Segoe UI"/>
              </a:rPr>
              <a:t>Lớp vui hơn</a:t>
            </a:r>
          </a:p>
        </p:txBody>
      </p:sp>
      <p:sp>
        <p:nvSpPr>
          <p:cNvPr id="39" name="TextBox 38"/>
          <p:cNvSpPr txBox="1"/>
          <p:nvPr/>
        </p:nvSpPr>
        <p:spPr>
          <a:xfrm>
            <a:off x="1408176"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Segoe UI"/>
              </a:rPr>
              <a:t>Ai cũng thấy mình được kết nối.</a:t>
            </a:r>
          </a:p>
        </p:txBody>
      </p:sp>
      <p:sp>
        <p:nvSpPr>
          <p:cNvPr id="40" name="Rounded Rectangle 39"/>
          <p:cNvSpPr/>
          <p:nvPr/>
        </p:nvSpPr>
        <p:spPr>
          <a:xfrm>
            <a:off x="4368698" y="4892040"/>
            <a:ext cx="3454298" cy="123444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rot="20880000">
            <a:off x="5370444" y="4966106"/>
            <a:ext cx="1450805" cy="12344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ook-fill.png"/>
          <p:cNvPicPr>
            <a:picLocks noChangeAspect="1"/>
          </p:cNvPicPr>
          <p:nvPr/>
        </p:nvPicPr>
        <p:blipFill>
          <a:blip r:embed="rId6"/>
          <a:stretch>
            <a:fillRect/>
          </a:stretch>
        </p:blipFill>
        <p:spPr>
          <a:xfrm>
            <a:off x="4624730" y="5136315"/>
            <a:ext cx="402336" cy="316121"/>
          </a:xfrm>
          <a:prstGeom prst="rect">
            <a:avLst/>
          </a:prstGeom>
        </p:spPr>
      </p:pic>
      <p:sp>
        <p:nvSpPr>
          <p:cNvPr id="43" name="TextBox 42"/>
          <p:cNvSpPr txBox="1"/>
          <p:nvPr/>
        </p:nvSpPr>
        <p:spPr>
          <a:xfrm>
            <a:off x="5173370" y="5093207"/>
            <a:ext cx="2494178" cy="292608"/>
          </a:xfrm>
          <a:prstGeom prst="rect">
            <a:avLst/>
          </a:prstGeom>
          <a:noFill/>
        </p:spPr>
        <p:txBody>
          <a:bodyPr wrap="square" anchor="t" lIns="0" rIns="0" tIns="0" bIns="0">
            <a:spAutoFit/>
          </a:bodyPr>
          <a:lstStyle/>
          <a:p>
            <a:pPr algn="l"/>
            <a:r>
              <a:rPr sz="1400" b="1" i="0">
                <a:solidFill>
                  <a:srgbClr val="101631"/>
                </a:solidFill>
                <a:latin typeface="Segoe UI"/>
              </a:rPr>
              <a:t>Học tốt hơn</a:t>
            </a:r>
          </a:p>
        </p:txBody>
      </p:sp>
      <p:sp>
        <p:nvSpPr>
          <p:cNvPr id="44" name="TextBox 43"/>
          <p:cNvSpPr txBox="1"/>
          <p:nvPr/>
        </p:nvSpPr>
        <p:spPr>
          <a:xfrm>
            <a:off x="5173370"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Segoe UI"/>
              </a:rPr>
              <a:t>Kèm cặp, giúp nhau cùng tiến bộ.</a:t>
            </a:r>
          </a:p>
        </p:txBody>
      </p:sp>
      <p:sp>
        <p:nvSpPr>
          <p:cNvPr id="45" name="Rounded Rectangle 44"/>
          <p:cNvSpPr/>
          <p:nvPr/>
        </p:nvSpPr>
        <p:spPr>
          <a:xfrm>
            <a:off x="8133892" y="4892040"/>
            <a:ext cx="3454298" cy="123444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rot="20880000">
            <a:off x="9135639" y="4966106"/>
            <a:ext cx="1450805" cy="12344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bolt-fill.png"/>
          <p:cNvPicPr>
            <a:picLocks noChangeAspect="1"/>
          </p:cNvPicPr>
          <p:nvPr/>
        </p:nvPicPr>
        <p:blipFill>
          <a:blip r:embed="rId7"/>
          <a:stretch>
            <a:fillRect/>
          </a:stretch>
        </p:blipFill>
        <p:spPr>
          <a:xfrm>
            <a:off x="8432029" y="5093207"/>
            <a:ext cx="318126" cy="402336"/>
          </a:xfrm>
          <a:prstGeom prst="rect">
            <a:avLst/>
          </a:prstGeom>
        </p:spPr>
      </p:pic>
      <p:sp>
        <p:nvSpPr>
          <p:cNvPr id="48" name="TextBox 47"/>
          <p:cNvSpPr txBox="1"/>
          <p:nvPr/>
        </p:nvSpPr>
        <p:spPr>
          <a:xfrm>
            <a:off x="8938564" y="5093207"/>
            <a:ext cx="2494178" cy="292608"/>
          </a:xfrm>
          <a:prstGeom prst="rect">
            <a:avLst/>
          </a:prstGeom>
          <a:noFill/>
        </p:spPr>
        <p:txBody>
          <a:bodyPr wrap="square" anchor="t" lIns="0" rIns="0" tIns="0" bIns="0">
            <a:spAutoFit/>
          </a:bodyPr>
          <a:lstStyle/>
          <a:p>
            <a:pPr algn="l"/>
            <a:r>
              <a:rPr sz="1400" b="1" i="0">
                <a:solidFill>
                  <a:srgbClr val="101631"/>
                </a:solidFill>
                <a:latin typeface="Segoe UI"/>
              </a:rPr>
              <a:t>Mạnh hơn</a:t>
            </a:r>
          </a:p>
        </p:txBody>
      </p:sp>
      <p:sp>
        <p:nvSpPr>
          <p:cNvPr id="49" name="TextBox 48"/>
          <p:cNvSpPr txBox="1"/>
          <p:nvPr/>
        </p:nvSpPr>
        <p:spPr>
          <a:xfrm>
            <a:off x="8938564"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Segoe UI"/>
              </a:rPr>
              <a:t>Khó khăn nào cũng có tập thể chung vai.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40"/>
                                  </p:tgtEl>
                                  <p:attrNameLst>
                                    <p:attrName>style.visibility</p:attrName>
                                  </p:attrNameLst>
                                </p:cBhvr>
                                <p:to>
                                  <p:strVal val="visible"/>
                                </p:to>
                              </p:set>
                              <p:animEffect transition="in" filter="fade">
                                <p:cBhvr>
                                  <p:cTn id="1052" dur="700"/>
                                  <p:tgtEl>
                                    <p:spTgt spid="4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41"/>
                                  </p:tgtEl>
                                  <p:attrNameLst>
                                    <p:attrName>style.visibility</p:attrName>
                                  </p:attrNameLst>
                                </p:cBhvr>
                                <p:to>
                                  <p:strVal val="visible"/>
                                </p:to>
                              </p:set>
                              <p:animEffect transition="in" filter="fade">
                                <p:cBhvr>
                                  <p:cTn id="1055" dur="700"/>
                                  <p:tgtEl>
                                    <p:spTgt spid="41"/>
                                  </p:tgtEl>
                                </p:cBhvr>
                              </p:animEffect>
                            </p:childTnLst>
                          </p:cTn>
                        </p:par>
                        <p:par>
                          <p:cTn id="1056" presetID="10" presetClass="entr" presetSubtype="0" fill="hold" grpId="0" nodeType="withEffect">
                            <p:stCondLst>
                              <p:cond delay="0"/>
                            </p:stCondLst>
                            <p:childTnLst>
                              <p:set>
                                <p:cBhvr>
                                  <p:cTn id="1057" dur="1" fill="hold">
                                    <p:stCondLst>
                                      <p:cond delay="0"/>
                                    </p:stCondLst>
                                  </p:cTn>
                                  <p:tgtEl>
                                    <p:spTgt spid="42"/>
                                  </p:tgtEl>
                                  <p:attrNameLst>
                                    <p:attrName>style.visibility</p:attrName>
                                  </p:attrNameLst>
                                </p:cBhvr>
                                <p:to>
                                  <p:strVal val="visible"/>
                                </p:to>
                              </p:set>
                              <p:animEffect transition="in" filter="fade">
                                <p:cBhvr>
                                  <p:cTn id="1058" dur="700"/>
                                  <p:tgtEl>
                                    <p:spTgt spid="42"/>
                                  </p:tgtEl>
                                </p:cBhvr>
                              </p:animEffect>
                            </p:childTnLst>
                          </p:cTn>
                        </p:par>
                        <p:par>
                          <p:cTn id="1059" presetID="10" presetClass="entr" presetSubtype="0" fill="hold" grpId="0" nodeType="withEffect">
                            <p:stCondLst>
                              <p:cond delay="0"/>
                            </p:stCondLst>
                            <p:childTnLst>
                              <p:set>
                                <p:cBhvr>
                                  <p:cTn id="1060" dur="1" fill="hold">
                                    <p:stCondLst>
                                      <p:cond delay="0"/>
                                    </p:stCondLst>
                                  </p:cTn>
                                  <p:tgtEl>
                                    <p:spTgt spid="43"/>
                                  </p:tgtEl>
                                  <p:attrNameLst>
                                    <p:attrName>style.visibility</p:attrName>
                                  </p:attrNameLst>
                                </p:cBhvr>
                                <p:to>
                                  <p:strVal val="visible"/>
                                </p:to>
                              </p:set>
                              <p:animEffect transition="in" filter="fade">
                                <p:cBhvr>
                                  <p:cTn id="1061" dur="700"/>
                                  <p:tgtEl>
                                    <p:spTgt spid="43"/>
                                  </p:tgtEl>
                                </p:cBhvr>
                              </p:animEffect>
                            </p:childTnLst>
                          </p:cTn>
                        </p:par>
                        <p:par>
                          <p:cTn id="1062" presetID="10" presetClass="entr" presetSubtype="0" fill="hold" grpId="0" nodeType="withEffect">
                            <p:stCondLst>
                              <p:cond delay="0"/>
                            </p:stCondLst>
                            <p:childTnLst>
                              <p:set>
                                <p:cBhvr>
                                  <p:cTn id="1063" dur="1" fill="hold">
                                    <p:stCondLst>
                                      <p:cond delay="0"/>
                                    </p:stCondLst>
                                  </p:cTn>
                                  <p:tgtEl>
                                    <p:spTgt spid="44"/>
                                  </p:tgtEl>
                                  <p:attrNameLst>
                                    <p:attrName>style.visibility</p:attrName>
                                  </p:attrNameLst>
                                </p:cBhvr>
                                <p:to>
                                  <p:strVal val="visible"/>
                                </p:to>
                              </p:set>
                              <p:animEffect transition="in" filter="fade">
                                <p:cBhvr>
                                  <p:cTn id="1064" dur="700"/>
                                  <p:tgtEl>
                                    <p:spTgt spid="44"/>
                                  </p:tgtEl>
                                </p:cBhvr>
                              </p:animEffect>
                            </p:childTnLst>
                          </p:cTn>
                        </p:par>
                        <p:par>
                          <p:cTn id="1065" presetID="10" presetClass="entr" presetSubtype="0" fill="hold" grpId="0" nodeType="withEffect">
                            <p:stCondLst>
                              <p:cond delay="0"/>
                            </p:stCondLst>
                            <p:childTnLst>
                              <p:set>
                                <p:cBhvr>
                                  <p:cTn id="1066" dur="1" fill="hold">
                                    <p:stCondLst>
                                      <p:cond delay="0"/>
                                    </p:stCondLst>
                                  </p:cTn>
                                  <p:tgtEl>
                                    <p:spTgt spid="45"/>
                                  </p:tgtEl>
                                  <p:attrNameLst>
                                    <p:attrName>style.visibility</p:attrName>
                                  </p:attrNameLst>
                                </p:cBhvr>
                                <p:to>
                                  <p:strVal val="visible"/>
                                </p:to>
                              </p:set>
                              <p:animEffect transition="in" filter="fade">
                                <p:cBhvr>
                                  <p:cTn id="1067" dur="700"/>
                                  <p:tgtEl>
                                    <p:spTgt spid="45"/>
                                  </p:tgtEl>
                                </p:cBhvr>
                              </p:animEffect>
                            </p:childTnLst>
                          </p:cTn>
                        </p:par>
                        <p:par>
                          <p:cTn id="1068" presetID="10" presetClass="entr" presetSubtype="0" fill="hold" grpId="0" nodeType="withEffect">
                            <p:stCondLst>
                              <p:cond delay="0"/>
                            </p:stCondLst>
                            <p:childTnLst>
                              <p:set>
                                <p:cBhvr>
                                  <p:cTn id="1069" dur="1" fill="hold">
                                    <p:stCondLst>
                                      <p:cond delay="0"/>
                                    </p:stCondLst>
                                  </p:cTn>
                                  <p:tgtEl>
                                    <p:spTgt spid="46"/>
                                  </p:tgtEl>
                                  <p:attrNameLst>
                                    <p:attrName>style.visibility</p:attrName>
                                  </p:attrNameLst>
                                </p:cBhvr>
                                <p:to>
                                  <p:strVal val="visible"/>
                                </p:to>
                              </p:set>
                              <p:animEffect transition="in" filter="fade">
                                <p:cBhvr>
                                  <p:cTn id="1070" dur="700"/>
                                  <p:tgtEl>
                                    <p:spTgt spid="46"/>
                                  </p:tgtEl>
                                </p:cBhvr>
                              </p:animEffect>
                            </p:childTnLst>
                          </p:cTn>
                        </p:par>
                        <p:par>
                          <p:cTn id="1071" presetID="10" presetClass="entr" presetSubtype="0" fill="hold" grpId="0" nodeType="withEffect">
                            <p:stCondLst>
                              <p:cond delay="0"/>
                            </p:stCondLst>
                            <p:childTnLst>
                              <p:set>
                                <p:cBhvr>
                                  <p:cTn id="1072" dur="1" fill="hold">
                                    <p:stCondLst>
                                      <p:cond delay="0"/>
                                    </p:stCondLst>
                                  </p:cTn>
                                  <p:tgtEl>
                                    <p:spTgt spid="47"/>
                                  </p:tgtEl>
                                  <p:attrNameLst>
                                    <p:attrName>style.visibility</p:attrName>
                                  </p:attrNameLst>
                                </p:cBhvr>
                                <p:to>
                                  <p:strVal val="visible"/>
                                </p:to>
                              </p:set>
                              <p:animEffect transition="in" filter="fade">
                                <p:cBhvr>
                                  <p:cTn id="1073" dur="700"/>
                                  <p:tgtEl>
                                    <p:spTgt spid="47"/>
                                  </p:tgtEl>
                                </p:cBhvr>
                              </p:animEffect>
                            </p:childTnLst>
                          </p:cTn>
                        </p:par>
                        <p:par>
                          <p:cTn id="1074" presetID="10" presetClass="entr" presetSubtype="0" fill="hold" grpId="0" nodeType="withEffect">
                            <p:stCondLst>
                              <p:cond delay="0"/>
                            </p:stCondLst>
                            <p:childTnLst>
                              <p:set>
                                <p:cBhvr>
                                  <p:cTn id="1075" dur="1" fill="hold">
                                    <p:stCondLst>
                                      <p:cond delay="0"/>
                                    </p:stCondLst>
                                  </p:cTn>
                                  <p:tgtEl>
                                    <p:spTgt spid="48"/>
                                  </p:tgtEl>
                                  <p:attrNameLst>
                                    <p:attrName>style.visibility</p:attrName>
                                  </p:attrNameLst>
                                </p:cBhvr>
                                <p:to>
                                  <p:strVal val="visible"/>
                                </p:to>
                              </p:set>
                              <p:animEffect transition="in" filter="fade">
                                <p:cBhvr>
                                  <p:cTn id="1076" dur="700"/>
                                  <p:tgtEl>
                                    <p:spTgt spid="48"/>
                                  </p:tgtEl>
                                </p:cBhvr>
                              </p:animEffect>
                            </p:childTnLst>
                          </p:cTn>
                        </p:par>
                        <p:par>
                          <p:cTn id="1077" presetID="10" presetClass="entr" presetSubtype="0" fill="hold" grpId="0" nodeType="withEffect">
                            <p:stCondLst>
                              <p:cond delay="0"/>
                            </p:stCondLst>
                            <p:childTnLst>
                              <p:set>
                                <p:cBhvr>
                                  <p:cTn id="1078" dur="1" fill="hold">
                                    <p:stCondLst>
                                      <p:cond delay="0"/>
                                    </p:stCondLst>
                                  </p:cTn>
                                  <p:tgtEl>
                                    <p:spTgt spid="49"/>
                                  </p:tgtEl>
                                  <p:attrNameLst>
                                    <p:attrName>style.visibility</p:attrName>
                                  </p:attrNameLst>
                                </p:cBhvr>
                                <p:to>
                                  <p:strVal val="visible"/>
                                </p:to>
                              </p:set>
                              <p:animEffect transition="in" filter="fade">
                                <p:cBhvr>
                                  <p:cTn id="1079" dur="700"/>
                                  <p:tgtEl>
                                    <p:spTgt spid="4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bubble-left-fill.png"/>
          <p:cNvPicPr>
            <a:picLocks noChangeAspect="1"/>
          </p:cNvPicPr>
          <p:nvPr/>
        </p:nvPicPr>
        <p:blipFill>
          <a:blip r:embed="rId2"/>
          <a:stretch>
            <a:fillRect/>
          </a:stretch>
        </p:blipFill>
        <p:spPr>
          <a:xfrm>
            <a:off x="621792" y="416966"/>
            <a:ext cx="219456" cy="190195"/>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5A54D6"/>
                </a:solidFill>
                <a:latin typeface="Segoe UI"/>
              </a:rPr>
              <a:t>TIẾT 1 · KẾT NỐI VỚI BẠN BÈ</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Segoe UI"/>
              </a:rPr>
              <a:t>Bốn “chìa khóa” kết nối với bạn bè</a:t>
            </a:r>
          </a:p>
        </p:txBody>
      </p:sp>
      <p:sp>
        <p:nvSpPr>
          <p:cNvPr id="17" name="~hdrRounded Rectangle 16"/>
          <p:cNvSpPr/>
          <p:nvPr/>
        </p:nvSpPr>
        <p:spPr>
          <a:xfrm>
            <a:off x="608076" y="1408176"/>
            <a:ext cx="658368" cy="45720"/>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06</a:t>
            </a:r>
          </a:p>
        </p:txBody>
      </p:sp>
      <p:sp>
        <p:nvSpPr>
          <p:cNvPr id="24" name="Rounded Rectangle 23"/>
          <p:cNvSpPr/>
          <p:nvPr/>
        </p:nvSpPr>
        <p:spPr>
          <a:xfrm>
            <a:off x="603504" y="1783080"/>
            <a:ext cx="5346039" cy="1810512"/>
          </a:xfrm>
          <a:prstGeom prst="roundRect">
            <a:avLst>
              <a:gd name="adj" fmla="val 15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2153855" y="1891710"/>
            <a:ext cx="2245336" cy="181051"/>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ubble-left-fill.png"/>
          <p:cNvPicPr>
            <a:picLocks noChangeAspect="1"/>
          </p:cNvPicPr>
          <p:nvPr/>
        </p:nvPicPr>
        <p:blipFill>
          <a:blip r:embed="rId2"/>
          <a:stretch>
            <a:fillRect/>
          </a:stretch>
        </p:blipFill>
        <p:spPr>
          <a:xfrm>
            <a:off x="877824" y="2073249"/>
            <a:ext cx="512064" cy="443788"/>
          </a:xfrm>
          <a:prstGeom prst="rect">
            <a:avLst/>
          </a:prstGeom>
        </p:spPr>
      </p:pic>
      <p:sp>
        <p:nvSpPr>
          <p:cNvPr id="27" name="TextBox 26"/>
          <p:cNvSpPr txBox="1"/>
          <p:nvPr/>
        </p:nvSpPr>
        <p:spPr>
          <a:xfrm>
            <a:off x="1563624" y="2093976"/>
            <a:ext cx="4157319" cy="365760"/>
          </a:xfrm>
          <a:prstGeom prst="rect">
            <a:avLst/>
          </a:prstGeom>
          <a:noFill/>
        </p:spPr>
        <p:txBody>
          <a:bodyPr wrap="square" anchor="t" lIns="0" rIns="0" tIns="0" bIns="0">
            <a:spAutoFit/>
          </a:bodyPr>
          <a:lstStyle/>
          <a:p>
            <a:pPr algn="l"/>
            <a:r>
              <a:rPr sz="1550" b="1" i="0">
                <a:solidFill>
                  <a:srgbClr val="101631"/>
                </a:solidFill>
                <a:latin typeface="Segoe UI"/>
              </a:rPr>
              <a:t>Trò chuyện, tâm sự</a:t>
            </a:r>
          </a:p>
        </p:txBody>
      </p:sp>
      <p:sp>
        <p:nvSpPr>
          <p:cNvPr id="28" name="TextBox 27"/>
          <p:cNvSpPr txBox="1"/>
          <p:nvPr/>
        </p:nvSpPr>
        <p:spPr>
          <a:xfrm>
            <a:off x="896112" y="2770632"/>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Segoe UI"/>
              </a:rPr>
              <a:t>Chủ động hỏi thăm bạn; chia sẻ niềm vui, nỗi buồn và khó khăn của mình.</a:t>
            </a:r>
          </a:p>
        </p:txBody>
      </p:sp>
      <p:sp>
        <p:nvSpPr>
          <p:cNvPr id="29" name="Rounded Rectangle 28"/>
          <p:cNvSpPr/>
          <p:nvPr/>
        </p:nvSpPr>
        <p:spPr>
          <a:xfrm>
            <a:off x="6242151" y="1783080"/>
            <a:ext cx="5346039" cy="1810512"/>
          </a:xfrm>
          <a:prstGeom prst="roundRect">
            <a:avLst>
              <a:gd name="adj" fmla="val 15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rot="20880000">
            <a:off x="7792503" y="1891710"/>
            <a:ext cx="2245336" cy="181051"/>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book-fill.png"/>
          <p:cNvPicPr>
            <a:picLocks noChangeAspect="1"/>
          </p:cNvPicPr>
          <p:nvPr/>
        </p:nvPicPr>
        <p:blipFill>
          <a:blip r:embed="rId3"/>
          <a:stretch>
            <a:fillRect/>
          </a:stretch>
        </p:blipFill>
        <p:spPr>
          <a:xfrm>
            <a:off x="6516471" y="2093976"/>
            <a:ext cx="512064" cy="402336"/>
          </a:xfrm>
          <a:prstGeom prst="rect">
            <a:avLst/>
          </a:prstGeom>
        </p:spPr>
      </p:pic>
      <p:sp>
        <p:nvSpPr>
          <p:cNvPr id="32" name="TextBox 31"/>
          <p:cNvSpPr txBox="1"/>
          <p:nvPr/>
        </p:nvSpPr>
        <p:spPr>
          <a:xfrm>
            <a:off x="7202271" y="2093976"/>
            <a:ext cx="4157319" cy="365760"/>
          </a:xfrm>
          <a:prstGeom prst="rect">
            <a:avLst/>
          </a:prstGeom>
          <a:noFill/>
        </p:spPr>
        <p:txBody>
          <a:bodyPr wrap="square" anchor="t" lIns="0" rIns="0" tIns="0" bIns="0">
            <a:spAutoFit/>
          </a:bodyPr>
          <a:lstStyle/>
          <a:p>
            <a:pPr algn="l"/>
            <a:r>
              <a:rPr sz="1550" b="1" i="0">
                <a:solidFill>
                  <a:srgbClr val="101631"/>
                </a:solidFill>
                <a:latin typeface="Segoe UI"/>
              </a:rPr>
              <a:t>Cùng học</a:t>
            </a:r>
          </a:p>
        </p:txBody>
      </p:sp>
      <p:sp>
        <p:nvSpPr>
          <p:cNvPr id="33" name="TextBox 32"/>
          <p:cNvSpPr txBox="1"/>
          <p:nvPr/>
        </p:nvSpPr>
        <p:spPr>
          <a:xfrm>
            <a:off x="6534759" y="2770632"/>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Segoe UI"/>
              </a:rPr>
              <a:t>Học nhóm, giảng bài cho nhau, cùng chinh phục những bài khó.</a:t>
            </a:r>
          </a:p>
        </p:txBody>
      </p:sp>
      <p:sp>
        <p:nvSpPr>
          <p:cNvPr id="34" name="Rounded Rectangle 33"/>
          <p:cNvSpPr/>
          <p:nvPr/>
        </p:nvSpPr>
        <p:spPr>
          <a:xfrm>
            <a:off x="603504" y="3904487"/>
            <a:ext cx="5346039" cy="1810512"/>
          </a:xfrm>
          <a:prstGeom prst="roundRect">
            <a:avLst>
              <a:gd name="adj" fmla="val 15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rot="20880000">
            <a:off x="2153855" y="4013118"/>
            <a:ext cx="2245336" cy="181051"/>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star-fill.png"/>
          <p:cNvPicPr>
            <a:picLocks noChangeAspect="1"/>
          </p:cNvPicPr>
          <p:nvPr/>
        </p:nvPicPr>
        <p:blipFill>
          <a:blip r:embed="rId4"/>
          <a:stretch>
            <a:fillRect/>
          </a:stretch>
        </p:blipFill>
        <p:spPr>
          <a:xfrm>
            <a:off x="877824" y="4183795"/>
            <a:ext cx="512064" cy="465512"/>
          </a:xfrm>
          <a:prstGeom prst="rect">
            <a:avLst/>
          </a:prstGeom>
        </p:spPr>
      </p:pic>
      <p:sp>
        <p:nvSpPr>
          <p:cNvPr id="37" name="TextBox 36"/>
          <p:cNvSpPr txBox="1"/>
          <p:nvPr/>
        </p:nvSpPr>
        <p:spPr>
          <a:xfrm>
            <a:off x="1563624" y="4215383"/>
            <a:ext cx="4157319" cy="365760"/>
          </a:xfrm>
          <a:prstGeom prst="rect">
            <a:avLst/>
          </a:prstGeom>
          <a:noFill/>
        </p:spPr>
        <p:txBody>
          <a:bodyPr wrap="square" anchor="t" lIns="0" rIns="0" tIns="0" bIns="0">
            <a:spAutoFit/>
          </a:bodyPr>
          <a:lstStyle/>
          <a:p>
            <a:pPr algn="l"/>
            <a:r>
              <a:rPr sz="1550" b="1" i="0">
                <a:solidFill>
                  <a:srgbClr val="101631"/>
                </a:solidFill>
                <a:latin typeface="Segoe UI"/>
              </a:rPr>
              <a:t>Cùng tham gia hoạt động</a:t>
            </a:r>
          </a:p>
        </p:txBody>
      </p:sp>
      <p:sp>
        <p:nvSpPr>
          <p:cNvPr id="38" name="TextBox 37"/>
          <p:cNvSpPr txBox="1"/>
          <p:nvPr/>
        </p:nvSpPr>
        <p:spPr>
          <a:xfrm>
            <a:off x="896112" y="4892040"/>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Segoe UI"/>
              </a:rPr>
              <a:t>Thể thao, văn nghệ, trực nhật, câu lạc bộ… vui gấp đôi khi có bạn cùng chơi.</a:t>
            </a:r>
          </a:p>
        </p:txBody>
      </p:sp>
      <p:sp>
        <p:nvSpPr>
          <p:cNvPr id="39" name="Rounded Rectangle 38"/>
          <p:cNvSpPr/>
          <p:nvPr/>
        </p:nvSpPr>
        <p:spPr>
          <a:xfrm>
            <a:off x="6242151" y="3904487"/>
            <a:ext cx="5346039" cy="1810512"/>
          </a:xfrm>
          <a:prstGeom prst="roundRect">
            <a:avLst>
              <a:gd name="adj" fmla="val 15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rot="20880000">
            <a:off x="7792503" y="4013118"/>
            <a:ext cx="2245336" cy="181051"/>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ear.png"/>
          <p:cNvPicPr>
            <a:picLocks noChangeAspect="1"/>
          </p:cNvPicPr>
          <p:nvPr/>
        </p:nvPicPr>
        <p:blipFill>
          <a:blip r:embed="rId5"/>
          <a:stretch>
            <a:fillRect/>
          </a:stretch>
        </p:blipFill>
        <p:spPr>
          <a:xfrm>
            <a:off x="6561277" y="4160520"/>
            <a:ext cx="422452" cy="512064"/>
          </a:xfrm>
          <a:prstGeom prst="rect">
            <a:avLst/>
          </a:prstGeom>
        </p:spPr>
      </p:pic>
      <p:sp>
        <p:nvSpPr>
          <p:cNvPr id="42" name="TextBox 41"/>
          <p:cNvSpPr txBox="1"/>
          <p:nvPr/>
        </p:nvSpPr>
        <p:spPr>
          <a:xfrm>
            <a:off x="7202271" y="4215383"/>
            <a:ext cx="4157319" cy="365760"/>
          </a:xfrm>
          <a:prstGeom prst="rect">
            <a:avLst/>
          </a:prstGeom>
          <a:noFill/>
        </p:spPr>
        <p:txBody>
          <a:bodyPr wrap="square" anchor="t" lIns="0" rIns="0" tIns="0" bIns="0">
            <a:spAutoFit/>
          </a:bodyPr>
          <a:lstStyle/>
          <a:p>
            <a:pPr algn="l"/>
            <a:r>
              <a:rPr sz="1550" b="1" i="0">
                <a:solidFill>
                  <a:srgbClr val="101631"/>
                </a:solidFill>
                <a:latin typeface="Segoe UI"/>
              </a:rPr>
              <a:t>Lắng nghe – tôn trọng</a:t>
            </a:r>
          </a:p>
        </p:txBody>
      </p:sp>
      <p:sp>
        <p:nvSpPr>
          <p:cNvPr id="43" name="TextBox 42"/>
          <p:cNvSpPr txBox="1"/>
          <p:nvPr/>
        </p:nvSpPr>
        <p:spPr>
          <a:xfrm>
            <a:off x="6534759" y="4892040"/>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Segoe UI"/>
              </a:rPr>
              <a:t>Lắng nghe để thấu hiểu; tôn trọng ý kiến và sự khác biệt của nhau.</a:t>
            </a:r>
          </a:p>
        </p:txBody>
      </p:sp>
      <p:sp>
        <p:nvSpPr>
          <p:cNvPr id="44" name="Rounded Rectangle 43"/>
          <p:cNvSpPr/>
          <p:nvPr/>
        </p:nvSpPr>
        <p:spPr>
          <a:xfrm>
            <a:off x="603504" y="5989320"/>
            <a:ext cx="6103366" cy="365760"/>
          </a:xfrm>
          <a:prstGeom prst="roundRect">
            <a:avLst>
              <a:gd name="adj" fmla="val 50000"/>
            </a:avLst>
          </a:prstGeom>
          <a:effectLst/>
          <a:solidFill>
            <a:srgbClr val="FFFFFF">
              <a:alpha val="18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5A54D6"/>
                </a:solidFill>
                <a:latin typeface="Segoe UI"/>
              </a:rPr>
              <a:t>Bí quyết nhỏ: một nụ cười và lời chào buổi sáng là chìa khóa vạn năng!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40"/>
                                  </p:tgtEl>
                                  <p:attrNameLst>
                                    <p:attrName>style.visibility</p:attrName>
                                  </p:attrNameLst>
                                </p:cBhvr>
                                <p:to>
                                  <p:strVal val="visible"/>
                                </p:to>
                              </p:set>
                              <p:animEffect transition="in" filter="fade">
                                <p:cBhvr>
                                  <p:cTn id="1052" dur="700"/>
                                  <p:tgtEl>
                                    <p:spTgt spid="4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41"/>
                                  </p:tgtEl>
                                  <p:attrNameLst>
                                    <p:attrName>style.visibility</p:attrName>
                                  </p:attrNameLst>
                                </p:cBhvr>
                                <p:to>
                                  <p:strVal val="visible"/>
                                </p:to>
                              </p:set>
                              <p:animEffect transition="in" filter="fade">
                                <p:cBhvr>
                                  <p:cTn id="1055" dur="700"/>
                                  <p:tgtEl>
                                    <p:spTgt spid="41"/>
                                  </p:tgtEl>
                                </p:cBhvr>
                              </p:animEffect>
                            </p:childTnLst>
                          </p:cTn>
                        </p:par>
                        <p:par>
                          <p:cTn id="1056" presetID="10" presetClass="entr" presetSubtype="0" fill="hold" grpId="0" nodeType="withEffect">
                            <p:stCondLst>
                              <p:cond delay="0"/>
                            </p:stCondLst>
                            <p:childTnLst>
                              <p:set>
                                <p:cBhvr>
                                  <p:cTn id="1057" dur="1" fill="hold">
                                    <p:stCondLst>
                                      <p:cond delay="0"/>
                                    </p:stCondLst>
                                  </p:cTn>
                                  <p:tgtEl>
                                    <p:spTgt spid="42"/>
                                  </p:tgtEl>
                                  <p:attrNameLst>
                                    <p:attrName>style.visibility</p:attrName>
                                  </p:attrNameLst>
                                </p:cBhvr>
                                <p:to>
                                  <p:strVal val="visible"/>
                                </p:to>
                              </p:set>
                              <p:animEffect transition="in" filter="fade">
                                <p:cBhvr>
                                  <p:cTn id="1058" dur="700"/>
                                  <p:tgtEl>
                                    <p:spTgt spid="42"/>
                                  </p:tgtEl>
                                </p:cBhvr>
                              </p:animEffect>
                            </p:childTnLst>
                          </p:cTn>
                        </p:par>
                        <p:par>
                          <p:cTn id="1059" presetID="10" presetClass="entr" presetSubtype="0" fill="hold" grpId="0" nodeType="withEffect">
                            <p:stCondLst>
                              <p:cond delay="0"/>
                            </p:stCondLst>
                            <p:childTnLst>
                              <p:set>
                                <p:cBhvr>
                                  <p:cTn id="1060" dur="1" fill="hold">
                                    <p:stCondLst>
                                      <p:cond delay="0"/>
                                    </p:stCondLst>
                                  </p:cTn>
                                  <p:tgtEl>
                                    <p:spTgt spid="43"/>
                                  </p:tgtEl>
                                  <p:attrNameLst>
                                    <p:attrName>style.visibility</p:attrName>
                                  </p:attrNameLst>
                                </p:cBhvr>
                                <p:to>
                                  <p:strVal val="visible"/>
                                </p:to>
                              </p:set>
                              <p:animEffect transition="in" filter="fade">
                                <p:cBhvr>
                                  <p:cTn id="1061" dur="700"/>
                                  <p:tgtEl>
                                    <p:spTgt spid="43"/>
                                  </p:tgtEl>
                                </p:cBhvr>
                              </p:animEffect>
                            </p:childTnLst>
                          </p:cTn>
                        </p:par>
                        <p:par>
                          <p:cTn id="1062" presetID="10" presetClass="entr" presetSubtype="0" fill="hold" grpId="0" nodeType="withEffect">
                            <p:stCondLst>
                              <p:cond delay="0"/>
                            </p:stCondLst>
                            <p:childTnLst>
                              <p:set>
                                <p:cBhvr>
                                  <p:cTn id="1063" dur="1" fill="hold">
                                    <p:stCondLst>
                                      <p:cond delay="0"/>
                                    </p:stCondLst>
                                  </p:cTn>
                                  <p:tgtEl>
                                    <p:spTgt spid="44"/>
                                  </p:tgtEl>
                                  <p:attrNameLst>
                                    <p:attrName>style.visibility</p:attrName>
                                  </p:attrNameLst>
                                </p:cBhvr>
                                <p:to>
                                  <p:strVal val="visible"/>
                                </p:to>
                              </p:set>
                              <p:animEffect transition="in" filter="fade">
                                <p:cBhvr>
                                  <p:cTn id="1064" dur="700"/>
                                  <p:tgtEl>
                                    <p:spTgt spid="4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2-fill.png"/>
          <p:cNvPicPr>
            <a:picLocks noChangeAspect="1"/>
          </p:cNvPicPr>
          <p:nvPr/>
        </p:nvPicPr>
        <p:blipFill>
          <a:blip r:embed="rId2"/>
          <a:stretch>
            <a:fillRect/>
          </a:stretch>
        </p:blipFill>
        <p:spPr>
          <a:xfrm>
            <a:off x="621792" y="442976"/>
            <a:ext cx="219456" cy="138176"/>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E9E96"/>
                </a:solidFill>
                <a:latin typeface="Segoe UI"/>
              </a:rPr>
              <a:t>TIẾT 1 · KINH NGHIỆM LÀM VIỆC NHÓM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Segoe UI"/>
              </a:rPr>
              <a:t>Bốn bước nhỏ để nhóm nào cũng ăn ý</a:t>
            </a:r>
          </a:p>
        </p:txBody>
      </p:sp>
      <p:sp>
        <p:nvSpPr>
          <p:cNvPr id="17" name="~hdrRounded Rectangle 16"/>
          <p:cNvSpPr/>
          <p:nvPr/>
        </p:nvSpPr>
        <p:spPr>
          <a:xfrm>
            <a:off x="608076" y="1408176"/>
            <a:ext cx="658368" cy="45720"/>
          </a:xfrm>
          <a:prstGeom prst="roundRect">
            <a:avLst>
              <a:gd name="adj" fmla="val 50000"/>
            </a:avLst>
          </a:prstGeom>
          <a:effectLst/>
          <a:solidFill>
            <a:srgbClr val="0E9E9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07</a:t>
            </a:r>
          </a:p>
        </p:txBody>
      </p:sp>
      <p:sp>
        <p:nvSpPr>
          <p:cNvPr id="24" name="Rounded Rectangle 23"/>
          <p:cNvSpPr/>
          <p:nvPr/>
        </p:nvSpPr>
        <p:spPr>
          <a:xfrm>
            <a:off x="603504" y="1828800"/>
            <a:ext cx="2609011" cy="365760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1360117" y="2048256"/>
            <a:ext cx="1095784" cy="365760"/>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679409"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0A66E0"/>
                </a:solidFill>
                <a:latin typeface="Segoe UI"/>
              </a:rPr>
              <a:t>1</a:t>
            </a:r>
          </a:p>
        </p:txBody>
      </p:sp>
      <p:pic>
        <p:nvPicPr>
          <p:cNvPr id="27" name="Picture 26" descr="doc-on-clipboard-fill.png"/>
          <p:cNvPicPr>
            <a:picLocks noChangeAspect="1"/>
          </p:cNvPicPr>
          <p:nvPr/>
        </p:nvPicPr>
        <p:blipFill>
          <a:blip r:embed="rId3"/>
          <a:stretch>
            <a:fillRect/>
          </a:stretch>
        </p:blipFill>
        <p:spPr>
          <a:xfrm>
            <a:off x="1657036" y="2788920"/>
            <a:ext cx="501947" cy="548640"/>
          </a:xfrm>
          <a:prstGeom prst="rect">
            <a:avLst/>
          </a:prstGeom>
        </p:spPr>
      </p:pic>
      <p:sp>
        <p:nvSpPr>
          <p:cNvPr id="28" name="TextBox 27"/>
          <p:cNvSpPr txBox="1"/>
          <p:nvPr/>
        </p:nvSpPr>
        <p:spPr>
          <a:xfrm>
            <a:off x="694944" y="3456432"/>
            <a:ext cx="2426131" cy="502920"/>
          </a:xfrm>
          <a:prstGeom prst="rect">
            <a:avLst/>
          </a:prstGeom>
          <a:noFill/>
        </p:spPr>
        <p:txBody>
          <a:bodyPr wrap="square" anchor="t" lIns="0" rIns="0" tIns="0" bIns="0">
            <a:spAutoFit/>
          </a:bodyPr>
          <a:lstStyle/>
          <a:p>
            <a:pPr algn="ctr"/>
            <a:r>
              <a:rPr sz="1500" b="1" i="0">
                <a:solidFill>
                  <a:srgbClr val="101631"/>
                </a:solidFill>
                <a:latin typeface="Segoe UI"/>
              </a:rPr>
              <a:t>Lên kế hoạch</a:t>
            </a:r>
          </a:p>
        </p:txBody>
      </p:sp>
      <p:sp>
        <p:nvSpPr>
          <p:cNvPr id="29" name="TextBox 28"/>
          <p:cNvSpPr txBox="1"/>
          <p:nvPr/>
        </p:nvSpPr>
        <p:spPr>
          <a:xfrm>
            <a:off x="786384"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Segoe UI"/>
              </a:rPr>
              <a:t>Xác định mục tiêu, việc cần làm và thời hạn.</a:t>
            </a:r>
          </a:p>
        </p:txBody>
      </p:sp>
      <p:sp>
        <p:nvSpPr>
          <p:cNvPr id="30" name="Chevron 29"/>
          <p:cNvSpPr/>
          <p:nvPr/>
        </p:nvSpPr>
        <p:spPr>
          <a:xfrm>
            <a:off x="3157651"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3395395" y="1828800"/>
            <a:ext cx="2609011" cy="365760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rot="20880000">
            <a:off x="4152009" y="2048256"/>
            <a:ext cx="1095784" cy="365760"/>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471301"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0E9E96"/>
                </a:solidFill>
                <a:latin typeface="Segoe UI"/>
              </a:rPr>
              <a:t>2</a:t>
            </a:r>
          </a:p>
        </p:txBody>
      </p:sp>
      <p:pic>
        <p:nvPicPr>
          <p:cNvPr id="34" name="Picture 33" descr="person-2-fill.png"/>
          <p:cNvPicPr>
            <a:picLocks noChangeAspect="1"/>
          </p:cNvPicPr>
          <p:nvPr/>
        </p:nvPicPr>
        <p:blipFill>
          <a:blip r:embed="rId2"/>
          <a:stretch>
            <a:fillRect/>
          </a:stretch>
        </p:blipFill>
        <p:spPr>
          <a:xfrm>
            <a:off x="4425581" y="2890520"/>
            <a:ext cx="548640" cy="345440"/>
          </a:xfrm>
          <a:prstGeom prst="rect">
            <a:avLst/>
          </a:prstGeom>
        </p:spPr>
      </p:pic>
      <p:sp>
        <p:nvSpPr>
          <p:cNvPr id="35" name="TextBox 34"/>
          <p:cNvSpPr txBox="1"/>
          <p:nvPr/>
        </p:nvSpPr>
        <p:spPr>
          <a:xfrm>
            <a:off x="3486835" y="3456432"/>
            <a:ext cx="2426131" cy="502920"/>
          </a:xfrm>
          <a:prstGeom prst="rect">
            <a:avLst/>
          </a:prstGeom>
          <a:noFill/>
        </p:spPr>
        <p:txBody>
          <a:bodyPr wrap="square" anchor="t" lIns="0" rIns="0" tIns="0" bIns="0">
            <a:spAutoFit/>
          </a:bodyPr>
          <a:lstStyle/>
          <a:p>
            <a:pPr algn="ctr"/>
            <a:r>
              <a:rPr sz="1500" b="1" i="0">
                <a:solidFill>
                  <a:srgbClr val="101631"/>
                </a:solidFill>
                <a:latin typeface="Segoe UI"/>
              </a:rPr>
              <a:t>Phân công việc</a:t>
            </a:r>
          </a:p>
        </p:txBody>
      </p:sp>
      <p:sp>
        <p:nvSpPr>
          <p:cNvPr id="36" name="TextBox 35"/>
          <p:cNvSpPr txBox="1"/>
          <p:nvPr/>
        </p:nvSpPr>
        <p:spPr>
          <a:xfrm>
            <a:off x="3578275"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Segoe UI"/>
              </a:rPr>
              <a:t>Chia việc hợp khả năng từng bạn, ai cũng có việc.</a:t>
            </a:r>
          </a:p>
        </p:txBody>
      </p:sp>
      <p:sp>
        <p:nvSpPr>
          <p:cNvPr id="37" name="Chevron 36"/>
          <p:cNvSpPr/>
          <p:nvPr/>
        </p:nvSpPr>
        <p:spPr>
          <a:xfrm>
            <a:off x="5949543"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87287" y="1828800"/>
            <a:ext cx="2609011" cy="365760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rot="20880000">
            <a:off x="6943901" y="2048256"/>
            <a:ext cx="1095784" cy="365760"/>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263193"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A24AD6"/>
                </a:solidFill>
                <a:latin typeface="Segoe UI"/>
              </a:rPr>
              <a:t>3</a:t>
            </a:r>
          </a:p>
        </p:txBody>
      </p:sp>
      <p:pic>
        <p:nvPicPr>
          <p:cNvPr id="41" name="Picture 40" descr="bubble-pair-fill.png"/>
          <p:cNvPicPr>
            <a:picLocks noChangeAspect="1"/>
          </p:cNvPicPr>
          <p:nvPr/>
        </p:nvPicPr>
        <p:blipFill>
          <a:blip r:embed="rId4"/>
          <a:stretch>
            <a:fillRect/>
          </a:stretch>
        </p:blipFill>
        <p:spPr>
          <a:xfrm>
            <a:off x="7217473" y="2853759"/>
            <a:ext cx="548640" cy="418961"/>
          </a:xfrm>
          <a:prstGeom prst="rect">
            <a:avLst/>
          </a:prstGeom>
        </p:spPr>
      </p:pic>
      <p:sp>
        <p:nvSpPr>
          <p:cNvPr id="42" name="TextBox 41"/>
          <p:cNvSpPr txBox="1"/>
          <p:nvPr/>
        </p:nvSpPr>
        <p:spPr>
          <a:xfrm>
            <a:off x="6278727" y="3456432"/>
            <a:ext cx="2426131" cy="502920"/>
          </a:xfrm>
          <a:prstGeom prst="rect">
            <a:avLst/>
          </a:prstGeom>
          <a:noFill/>
        </p:spPr>
        <p:txBody>
          <a:bodyPr wrap="square" anchor="t" lIns="0" rIns="0" tIns="0" bIns="0">
            <a:spAutoFit/>
          </a:bodyPr>
          <a:lstStyle/>
          <a:p>
            <a:pPr algn="ctr"/>
            <a:r>
              <a:rPr sz="1500" b="1" i="0">
                <a:solidFill>
                  <a:srgbClr val="101631"/>
                </a:solidFill>
                <a:latin typeface="Segoe UI"/>
              </a:rPr>
              <a:t>Lắng nghe nhau</a:t>
            </a:r>
          </a:p>
        </p:txBody>
      </p:sp>
      <p:sp>
        <p:nvSpPr>
          <p:cNvPr id="43" name="TextBox 42"/>
          <p:cNvSpPr txBox="1"/>
          <p:nvPr/>
        </p:nvSpPr>
        <p:spPr>
          <a:xfrm>
            <a:off x="6370167"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Segoe UI"/>
              </a:rPr>
              <a:t>Tiếp thu ý kiến, bàn bạc rồi thống nhất.</a:t>
            </a:r>
          </a:p>
        </p:txBody>
      </p:sp>
      <p:sp>
        <p:nvSpPr>
          <p:cNvPr id="44" name="Chevron 43"/>
          <p:cNvSpPr/>
          <p:nvPr/>
        </p:nvSpPr>
        <p:spPr>
          <a:xfrm>
            <a:off x="8741435"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8979179" y="1828800"/>
            <a:ext cx="2609011" cy="365760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rot="20880000">
            <a:off x="9735792" y="2048256"/>
            <a:ext cx="1095784" cy="365760"/>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055085"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D97600"/>
                </a:solidFill>
                <a:latin typeface="Segoe UI"/>
              </a:rPr>
              <a:t>4</a:t>
            </a:r>
          </a:p>
        </p:txBody>
      </p:sp>
      <p:pic>
        <p:nvPicPr>
          <p:cNvPr id="48" name="Picture 47" descr="flag-fill.png"/>
          <p:cNvPicPr>
            <a:picLocks noChangeAspect="1"/>
          </p:cNvPicPr>
          <p:nvPr/>
        </p:nvPicPr>
        <p:blipFill>
          <a:blip r:embed="rId5"/>
          <a:stretch>
            <a:fillRect/>
          </a:stretch>
        </p:blipFill>
        <p:spPr>
          <a:xfrm>
            <a:off x="10009365" y="2802987"/>
            <a:ext cx="548640" cy="520504"/>
          </a:xfrm>
          <a:prstGeom prst="rect">
            <a:avLst/>
          </a:prstGeom>
        </p:spPr>
      </p:pic>
      <p:sp>
        <p:nvSpPr>
          <p:cNvPr id="49" name="TextBox 48"/>
          <p:cNvSpPr txBox="1"/>
          <p:nvPr/>
        </p:nvSpPr>
        <p:spPr>
          <a:xfrm>
            <a:off x="9070619" y="3456432"/>
            <a:ext cx="2426131" cy="502920"/>
          </a:xfrm>
          <a:prstGeom prst="rect">
            <a:avLst/>
          </a:prstGeom>
          <a:noFill/>
        </p:spPr>
        <p:txBody>
          <a:bodyPr wrap="square" anchor="t" lIns="0" rIns="0" tIns="0" bIns="0">
            <a:spAutoFit/>
          </a:bodyPr>
          <a:lstStyle/>
          <a:p>
            <a:pPr algn="ctr"/>
            <a:r>
              <a:rPr sz="1500" b="1" i="0">
                <a:solidFill>
                  <a:srgbClr val="101631"/>
                </a:solidFill>
                <a:latin typeface="Segoe UI"/>
              </a:rPr>
              <a:t>Giúp nhau về đích</a:t>
            </a:r>
          </a:p>
        </p:txBody>
      </p:sp>
      <p:sp>
        <p:nvSpPr>
          <p:cNvPr id="50" name="TextBox 49"/>
          <p:cNvSpPr txBox="1"/>
          <p:nvPr/>
        </p:nvSpPr>
        <p:spPr>
          <a:xfrm>
            <a:off x="9162059"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Segoe UI"/>
              </a:rPr>
              <a:t>Hỗ trợ lúc khó; cùng kiểm tra kết quả.</a:t>
            </a:r>
          </a:p>
        </p:txBody>
      </p:sp>
      <p:sp>
        <p:nvSpPr>
          <p:cNvPr id="51" name="Rounded Rectangle 50"/>
          <p:cNvSpPr/>
          <p:nvPr/>
        </p:nvSpPr>
        <p:spPr>
          <a:xfrm>
            <a:off x="603504" y="5760720"/>
            <a:ext cx="6910832" cy="402336"/>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spc="20">
                <a:solidFill>
                  <a:srgbClr val="101631"/>
                </a:solidFill>
                <a:latin typeface="Segoe UI"/>
              </a:rPr>
              <a:t>Nhóm mạnh nhất không phải nhóm toàn ngôi sao, mà là nhóm biết phối hợp!</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40"/>
                                  </p:tgtEl>
                                  <p:attrNameLst>
                                    <p:attrName>style.visibility</p:attrName>
                                  </p:attrNameLst>
                                </p:cBhvr>
                                <p:to>
                                  <p:strVal val="visible"/>
                                </p:to>
                              </p:set>
                              <p:animEffect transition="in" filter="fade">
                                <p:cBhvr>
                                  <p:cTn id="1052" dur="700"/>
                                  <p:tgtEl>
                                    <p:spTgt spid="4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41"/>
                                  </p:tgtEl>
                                  <p:attrNameLst>
                                    <p:attrName>style.visibility</p:attrName>
                                  </p:attrNameLst>
                                </p:cBhvr>
                                <p:to>
                                  <p:strVal val="visible"/>
                                </p:to>
                              </p:set>
                              <p:animEffect transition="in" filter="fade">
                                <p:cBhvr>
                                  <p:cTn id="1055" dur="700"/>
                                  <p:tgtEl>
                                    <p:spTgt spid="41"/>
                                  </p:tgtEl>
                                </p:cBhvr>
                              </p:animEffect>
                            </p:childTnLst>
                          </p:cTn>
                        </p:par>
                        <p:par>
                          <p:cTn id="1056" presetID="10" presetClass="entr" presetSubtype="0" fill="hold" grpId="0" nodeType="withEffect">
                            <p:stCondLst>
                              <p:cond delay="0"/>
                            </p:stCondLst>
                            <p:childTnLst>
                              <p:set>
                                <p:cBhvr>
                                  <p:cTn id="1057" dur="1" fill="hold">
                                    <p:stCondLst>
                                      <p:cond delay="0"/>
                                    </p:stCondLst>
                                  </p:cTn>
                                  <p:tgtEl>
                                    <p:spTgt spid="42"/>
                                  </p:tgtEl>
                                  <p:attrNameLst>
                                    <p:attrName>style.visibility</p:attrName>
                                  </p:attrNameLst>
                                </p:cBhvr>
                                <p:to>
                                  <p:strVal val="visible"/>
                                </p:to>
                              </p:set>
                              <p:animEffect transition="in" filter="fade">
                                <p:cBhvr>
                                  <p:cTn id="1058" dur="700"/>
                                  <p:tgtEl>
                                    <p:spTgt spid="42"/>
                                  </p:tgtEl>
                                </p:cBhvr>
                              </p:animEffect>
                            </p:childTnLst>
                          </p:cTn>
                        </p:par>
                        <p:par>
                          <p:cTn id="1059" presetID="10" presetClass="entr" presetSubtype="0" fill="hold" grpId="0" nodeType="withEffect">
                            <p:stCondLst>
                              <p:cond delay="0"/>
                            </p:stCondLst>
                            <p:childTnLst>
                              <p:set>
                                <p:cBhvr>
                                  <p:cTn id="1060" dur="1" fill="hold">
                                    <p:stCondLst>
                                      <p:cond delay="0"/>
                                    </p:stCondLst>
                                  </p:cTn>
                                  <p:tgtEl>
                                    <p:spTgt spid="43"/>
                                  </p:tgtEl>
                                  <p:attrNameLst>
                                    <p:attrName>style.visibility</p:attrName>
                                  </p:attrNameLst>
                                </p:cBhvr>
                                <p:to>
                                  <p:strVal val="visible"/>
                                </p:to>
                              </p:set>
                              <p:animEffect transition="in" filter="fade">
                                <p:cBhvr>
                                  <p:cTn id="1061" dur="700"/>
                                  <p:tgtEl>
                                    <p:spTgt spid="43"/>
                                  </p:tgtEl>
                                </p:cBhvr>
                              </p:animEffect>
                            </p:childTnLst>
                          </p:cTn>
                        </p:par>
                        <p:par>
                          <p:cTn id="1062" presetID="10" presetClass="entr" presetSubtype="0" fill="hold" grpId="0" nodeType="withEffect">
                            <p:stCondLst>
                              <p:cond delay="0"/>
                            </p:stCondLst>
                            <p:childTnLst>
                              <p:set>
                                <p:cBhvr>
                                  <p:cTn id="1063" dur="1" fill="hold">
                                    <p:stCondLst>
                                      <p:cond delay="0"/>
                                    </p:stCondLst>
                                  </p:cTn>
                                  <p:tgtEl>
                                    <p:spTgt spid="44"/>
                                  </p:tgtEl>
                                  <p:attrNameLst>
                                    <p:attrName>style.visibility</p:attrName>
                                  </p:attrNameLst>
                                </p:cBhvr>
                                <p:to>
                                  <p:strVal val="visible"/>
                                </p:to>
                              </p:set>
                              <p:animEffect transition="in" filter="fade">
                                <p:cBhvr>
                                  <p:cTn id="1064" dur="700"/>
                                  <p:tgtEl>
                                    <p:spTgt spid="44"/>
                                  </p:tgtEl>
                                </p:cBhvr>
                              </p:animEffect>
                            </p:childTnLst>
                          </p:cTn>
                        </p:par>
                        <p:par>
                          <p:cTn id="1065" presetID="10" presetClass="entr" presetSubtype="0" fill="hold" grpId="0" nodeType="withEffect">
                            <p:stCondLst>
                              <p:cond delay="0"/>
                            </p:stCondLst>
                            <p:childTnLst>
                              <p:set>
                                <p:cBhvr>
                                  <p:cTn id="1066" dur="1" fill="hold">
                                    <p:stCondLst>
                                      <p:cond delay="0"/>
                                    </p:stCondLst>
                                  </p:cTn>
                                  <p:tgtEl>
                                    <p:spTgt spid="45"/>
                                  </p:tgtEl>
                                  <p:attrNameLst>
                                    <p:attrName>style.visibility</p:attrName>
                                  </p:attrNameLst>
                                </p:cBhvr>
                                <p:to>
                                  <p:strVal val="visible"/>
                                </p:to>
                              </p:set>
                              <p:animEffect transition="in" filter="fade">
                                <p:cBhvr>
                                  <p:cTn id="1067" dur="700"/>
                                  <p:tgtEl>
                                    <p:spTgt spid="45"/>
                                  </p:tgtEl>
                                </p:cBhvr>
                              </p:animEffect>
                            </p:childTnLst>
                          </p:cTn>
                        </p:par>
                        <p:par>
                          <p:cTn id="1068" presetID="10" presetClass="entr" presetSubtype="0" fill="hold" grpId="0" nodeType="withEffect">
                            <p:stCondLst>
                              <p:cond delay="0"/>
                            </p:stCondLst>
                            <p:childTnLst>
                              <p:set>
                                <p:cBhvr>
                                  <p:cTn id="1069" dur="1" fill="hold">
                                    <p:stCondLst>
                                      <p:cond delay="0"/>
                                    </p:stCondLst>
                                  </p:cTn>
                                  <p:tgtEl>
                                    <p:spTgt spid="46"/>
                                  </p:tgtEl>
                                  <p:attrNameLst>
                                    <p:attrName>style.visibility</p:attrName>
                                  </p:attrNameLst>
                                </p:cBhvr>
                                <p:to>
                                  <p:strVal val="visible"/>
                                </p:to>
                              </p:set>
                              <p:animEffect transition="in" filter="fade">
                                <p:cBhvr>
                                  <p:cTn id="1070" dur="700"/>
                                  <p:tgtEl>
                                    <p:spTgt spid="46"/>
                                  </p:tgtEl>
                                </p:cBhvr>
                              </p:animEffect>
                            </p:childTnLst>
                          </p:cTn>
                        </p:par>
                        <p:par>
                          <p:cTn id="1071" presetID="10" presetClass="entr" presetSubtype="0" fill="hold" grpId="0" nodeType="withEffect">
                            <p:stCondLst>
                              <p:cond delay="0"/>
                            </p:stCondLst>
                            <p:childTnLst>
                              <p:set>
                                <p:cBhvr>
                                  <p:cTn id="1072" dur="1" fill="hold">
                                    <p:stCondLst>
                                      <p:cond delay="0"/>
                                    </p:stCondLst>
                                  </p:cTn>
                                  <p:tgtEl>
                                    <p:spTgt spid="47"/>
                                  </p:tgtEl>
                                  <p:attrNameLst>
                                    <p:attrName>style.visibility</p:attrName>
                                  </p:attrNameLst>
                                </p:cBhvr>
                                <p:to>
                                  <p:strVal val="visible"/>
                                </p:to>
                              </p:set>
                              <p:animEffect transition="in" filter="fade">
                                <p:cBhvr>
                                  <p:cTn id="1073" dur="700"/>
                                  <p:tgtEl>
                                    <p:spTgt spid="47"/>
                                  </p:tgtEl>
                                </p:cBhvr>
                              </p:animEffect>
                            </p:childTnLst>
                          </p:cTn>
                        </p:par>
                        <p:par>
                          <p:cTn id="1074" presetID="10" presetClass="entr" presetSubtype="0" fill="hold" grpId="0" nodeType="withEffect">
                            <p:stCondLst>
                              <p:cond delay="0"/>
                            </p:stCondLst>
                            <p:childTnLst>
                              <p:set>
                                <p:cBhvr>
                                  <p:cTn id="1075" dur="1" fill="hold">
                                    <p:stCondLst>
                                      <p:cond delay="0"/>
                                    </p:stCondLst>
                                  </p:cTn>
                                  <p:tgtEl>
                                    <p:spTgt spid="48"/>
                                  </p:tgtEl>
                                  <p:attrNameLst>
                                    <p:attrName>style.visibility</p:attrName>
                                  </p:attrNameLst>
                                </p:cBhvr>
                                <p:to>
                                  <p:strVal val="visible"/>
                                </p:to>
                              </p:set>
                              <p:animEffect transition="in" filter="fade">
                                <p:cBhvr>
                                  <p:cTn id="1076" dur="700"/>
                                  <p:tgtEl>
                                    <p:spTgt spid="48"/>
                                  </p:tgtEl>
                                </p:cBhvr>
                              </p:animEffect>
                            </p:childTnLst>
                          </p:cTn>
                        </p:par>
                        <p:par>
                          <p:cTn id="1077" presetID="10" presetClass="entr" presetSubtype="0" fill="hold" grpId="0" nodeType="withEffect">
                            <p:stCondLst>
                              <p:cond delay="0"/>
                            </p:stCondLst>
                            <p:childTnLst>
                              <p:set>
                                <p:cBhvr>
                                  <p:cTn id="1078" dur="1" fill="hold">
                                    <p:stCondLst>
                                      <p:cond delay="0"/>
                                    </p:stCondLst>
                                  </p:cTn>
                                  <p:tgtEl>
                                    <p:spTgt spid="49"/>
                                  </p:tgtEl>
                                  <p:attrNameLst>
                                    <p:attrName>style.visibility</p:attrName>
                                  </p:attrNameLst>
                                </p:cBhvr>
                                <p:to>
                                  <p:strVal val="visible"/>
                                </p:to>
                              </p:set>
                              <p:animEffect transition="in" filter="fade">
                                <p:cBhvr>
                                  <p:cTn id="1079" dur="700"/>
                                  <p:tgtEl>
                                    <p:spTgt spid="49"/>
                                  </p:tgtEl>
                                </p:cBhvr>
                              </p:animEffect>
                            </p:childTnLst>
                          </p:cTn>
                        </p:par>
                        <p:par>
                          <p:cTn id="1080" presetID="10" presetClass="entr" presetSubtype="0" fill="hold" grpId="0" nodeType="withEffect">
                            <p:stCondLst>
                              <p:cond delay="0"/>
                            </p:stCondLst>
                            <p:childTnLst>
                              <p:set>
                                <p:cBhvr>
                                  <p:cTn id="1081" dur="1" fill="hold">
                                    <p:stCondLst>
                                      <p:cond delay="0"/>
                                    </p:stCondLst>
                                  </p:cTn>
                                  <p:tgtEl>
                                    <p:spTgt spid="50"/>
                                  </p:tgtEl>
                                  <p:attrNameLst>
                                    <p:attrName>style.visibility</p:attrName>
                                  </p:attrNameLst>
                                </p:cBhvr>
                                <p:to>
                                  <p:strVal val="visible"/>
                                </p:to>
                              </p:set>
                              <p:animEffect transition="in" filter="fade">
                                <p:cBhvr>
                                  <p:cTn id="1082" dur="700"/>
                                  <p:tgtEl>
                                    <p:spTgt spid="50"/>
                                  </p:tgtEl>
                                </p:cBhvr>
                              </p:animEffect>
                            </p:childTnLst>
                          </p:cTn>
                        </p:par>
                        <p:par>
                          <p:cTn id="1083" presetID="10" presetClass="entr" presetSubtype="0" fill="hold" grpId="0" nodeType="withEffect">
                            <p:stCondLst>
                              <p:cond delay="0"/>
                            </p:stCondLst>
                            <p:childTnLst>
                              <p:set>
                                <p:cBhvr>
                                  <p:cTn id="1084" dur="1" fill="hold">
                                    <p:stCondLst>
                                      <p:cond delay="0"/>
                                    </p:stCondLst>
                                  </p:cTn>
                                  <p:tgtEl>
                                    <p:spTgt spid="51"/>
                                  </p:tgtEl>
                                  <p:attrNameLst>
                                    <p:attrName>style.visibility</p:attrName>
                                  </p:attrNameLst>
                                </p:cBhvr>
                                <p:to>
                                  <p:strVal val="visible"/>
                                </p:to>
                              </p:set>
                              <p:animEffect transition="in" filter="fade">
                                <p:cBhvr>
                                  <p:cTn id="1085" dur="700"/>
                                  <p:tgtEl>
                                    <p:spTgt spid="51"/>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crop-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A24AD6"/>
                </a:solidFill>
                <a:latin typeface="Segoe UI"/>
              </a:rPr>
              <a:t>TIẾT 1 · HỢP TÁC VỚI THẦY CÔ</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600" b="1" i="0" spc="20">
                <a:solidFill>
                  <a:srgbClr val="101631"/>
                </a:solidFill>
                <a:latin typeface="Segoe UI"/>
              </a:rPr>
              <a:t>Thầy cô — người đồng hành của chúng em</a:t>
            </a:r>
          </a:p>
        </p:txBody>
      </p:sp>
      <p:sp>
        <p:nvSpPr>
          <p:cNvPr id="17" name="~hdrRounded Rectangle 16"/>
          <p:cNvSpPr/>
          <p:nvPr/>
        </p:nvSpPr>
        <p:spPr>
          <a:xfrm>
            <a:off x="608076" y="1408176"/>
            <a:ext cx="658368" cy="45720"/>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08</a:t>
            </a:r>
          </a:p>
        </p:txBody>
      </p:sp>
      <p:sp>
        <p:nvSpPr>
          <p:cNvPr id="24" name="Rounded Rectangle 23"/>
          <p:cNvSpPr/>
          <p:nvPr/>
        </p:nvSpPr>
        <p:spPr>
          <a:xfrm>
            <a:off x="603504" y="1828800"/>
            <a:ext cx="3454298" cy="3246120"/>
          </a:xfrm>
          <a:prstGeom prst="roundRect">
            <a:avLst>
              <a:gd name="adj" fmla="val 17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1605250" y="2023567"/>
            <a:ext cx="1450805" cy="32461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ear.png"/>
          <p:cNvPicPr>
            <a:picLocks noChangeAspect="1"/>
          </p:cNvPicPr>
          <p:nvPr/>
        </p:nvPicPr>
        <p:blipFill>
          <a:blip r:embed="rId3"/>
          <a:stretch>
            <a:fillRect/>
          </a:stretch>
        </p:blipFill>
        <p:spPr>
          <a:xfrm>
            <a:off x="2096795" y="2103120"/>
            <a:ext cx="467715" cy="566928"/>
          </a:xfrm>
          <a:prstGeom prst="rect">
            <a:avLst/>
          </a:prstGeom>
        </p:spPr>
      </p:pic>
      <p:sp>
        <p:nvSpPr>
          <p:cNvPr id="27" name="TextBox 26"/>
          <p:cNvSpPr txBox="1"/>
          <p:nvPr/>
        </p:nvSpPr>
        <p:spPr>
          <a:xfrm>
            <a:off x="731520" y="2852928"/>
            <a:ext cx="3198266" cy="658368"/>
          </a:xfrm>
          <a:prstGeom prst="rect">
            <a:avLst/>
          </a:prstGeom>
          <a:noFill/>
        </p:spPr>
        <p:txBody>
          <a:bodyPr wrap="square" anchor="t" lIns="0" rIns="0" tIns="0" bIns="0">
            <a:spAutoFit/>
          </a:bodyPr>
          <a:lstStyle/>
          <a:p>
            <a:pPr algn="ctr"/>
            <a:r>
              <a:rPr sz="1450" b="1" i="0">
                <a:solidFill>
                  <a:srgbClr val="101631"/>
                </a:solidFill>
                <a:latin typeface="Segoe UI"/>
              </a:rPr>
              <a:t>Lắng nghe và làm theo hướng dẫn</a:t>
            </a:r>
          </a:p>
        </p:txBody>
      </p:sp>
      <p:sp>
        <p:nvSpPr>
          <p:cNvPr id="28" name="TextBox 27"/>
          <p:cNvSpPr txBox="1"/>
          <p:nvPr/>
        </p:nvSpPr>
        <p:spPr>
          <a:xfrm>
            <a:off x="822960"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Segoe UI"/>
              </a:rPr>
              <a:t>Chú ý nghe thầy cô giao việc; chưa rõ thì hỏi lại; làm bài đúng và đầy đủ.</a:t>
            </a:r>
          </a:p>
        </p:txBody>
      </p:sp>
      <p:sp>
        <p:nvSpPr>
          <p:cNvPr id="29" name="Rounded Rectangle 28"/>
          <p:cNvSpPr/>
          <p:nvPr/>
        </p:nvSpPr>
        <p:spPr>
          <a:xfrm>
            <a:off x="4368698" y="1828800"/>
            <a:ext cx="3454298" cy="3246120"/>
          </a:xfrm>
          <a:prstGeom prst="roundRect">
            <a:avLst>
              <a:gd name="adj" fmla="val 17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rot="20880000">
            <a:off x="5370444" y="2023567"/>
            <a:ext cx="1450805" cy="32461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bubble-left-fill.png"/>
          <p:cNvPicPr>
            <a:picLocks noChangeAspect="1"/>
          </p:cNvPicPr>
          <p:nvPr/>
        </p:nvPicPr>
        <p:blipFill>
          <a:blip r:embed="rId4"/>
          <a:stretch>
            <a:fillRect/>
          </a:stretch>
        </p:blipFill>
        <p:spPr>
          <a:xfrm>
            <a:off x="5812383" y="2140915"/>
            <a:ext cx="566928" cy="491337"/>
          </a:xfrm>
          <a:prstGeom prst="rect">
            <a:avLst/>
          </a:prstGeom>
        </p:spPr>
      </p:pic>
      <p:sp>
        <p:nvSpPr>
          <p:cNvPr id="32" name="TextBox 31"/>
          <p:cNvSpPr txBox="1"/>
          <p:nvPr/>
        </p:nvSpPr>
        <p:spPr>
          <a:xfrm>
            <a:off x="4496714" y="2852928"/>
            <a:ext cx="3198266" cy="658368"/>
          </a:xfrm>
          <a:prstGeom prst="rect">
            <a:avLst/>
          </a:prstGeom>
          <a:noFill/>
        </p:spPr>
        <p:txBody>
          <a:bodyPr wrap="square" anchor="t" lIns="0" rIns="0" tIns="0" bIns="0">
            <a:spAutoFit/>
          </a:bodyPr>
          <a:lstStyle/>
          <a:p>
            <a:pPr algn="ctr"/>
            <a:r>
              <a:rPr sz="1450" b="1" i="0">
                <a:solidFill>
                  <a:srgbClr val="101631"/>
                </a:solidFill>
                <a:latin typeface="Segoe UI"/>
              </a:rPr>
              <a:t>Mạnh dạn xin ý kiến</a:t>
            </a:r>
          </a:p>
        </p:txBody>
      </p:sp>
      <p:sp>
        <p:nvSpPr>
          <p:cNvPr id="33" name="TextBox 32"/>
          <p:cNvSpPr txBox="1"/>
          <p:nvPr/>
        </p:nvSpPr>
        <p:spPr>
          <a:xfrm>
            <a:off x="4588154"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Segoe UI"/>
              </a:rPr>
              <a:t>Câu hỏi “ngại” nhất thường là câu nhiều bạn cùng thắc mắc. Cứ hỏi, thầy cô luôn sẵn lòng góp ý!</a:t>
            </a:r>
          </a:p>
        </p:txBody>
      </p:sp>
      <p:sp>
        <p:nvSpPr>
          <p:cNvPr id="34" name="Rounded Rectangle 33"/>
          <p:cNvSpPr/>
          <p:nvPr/>
        </p:nvSpPr>
        <p:spPr>
          <a:xfrm>
            <a:off x="8133892" y="1828800"/>
            <a:ext cx="3454298" cy="3246120"/>
          </a:xfrm>
          <a:prstGeom prst="roundRect">
            <a:avLst>
              <a:gd name="adj" fmla="val 17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rot="20880000">
            <a:off x="9135639" y="2023567"/>
            <a:ext cx="1450805" cy="32461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heckmark-circle-fill.png"/>
          <p:cNvPicPr>
            <a:picLocks noChangeAspect="1"/>
          </p:cNvPicPr>
          <p:nvPr/>
        </p:nvPicPr>
        <p:blipFill>
          <a:blip r:embed="rId5"/>
          <a:stretch>
            <a:fillRect/>
          </a:stretch>
        </p:blipFill>
        <p:spPr>
          <a:xfrm>
            <a:off x="9577578" y="2117293"/>
            <a:ext cx="566928" cy="538581"/>
          </a:xfrm>
          <a:prstGeom prst="rect">
            <a:avLst/>
          </a:prstGeom>
        </p:spPr>
      </p:pic>
      <p:sp>
        <p:nvSpPr>
          <p:cNvPr id="37" name="TextBox 36"/>
          <p:cNvSpPr txBox="1"/>
          <p:nvPr/>
        </p:nvSpPr>
        <p:spPr>
          <a:xfrm>
            <a:off x="8261908" y="2852928"/>
            <a:ext cx="3198266" cy="658368"/>
          </a:xfrm>
          <a:prstGeom prst="rect">
            <a:avLst/>
          </a:prstGeom>
          <a:noFill/>
        </p:spPr>
        <p:txBody>
          <a:bodyPr wrap="square" anchor="t" lIns="0" rIns="0" tIns="0" bIns="0">
            <a:spAutoFit/>
          </a:bodyPr>
          <a:lstStyle/>
          <a:p>
            <a:pPr algn="ctr"/>
            <a:r>
              <a:rPr sz="1450" b="1" i="0">
                <a:solidFill>
                  <a:srgbClr val="101631"/>
                </a:solidFill>
                <a:latin typeface="Segoe UI"/>
              </a:rPr>
              <a:t>Lễ phép, có trách nhiệm</a:t>
            </a:r>
          </a:p>
        </p:txBody>
      </p:sp>
      <p:sp>
        <p:nvSpPr>
          <p:cNvPr id="38" name="TextBox 37"/>
          <p:cNvSpPr txBox="1"/>
          <p:nvPr/>
        </p:nvSpPr>
        <p:spPr>
          <a:xfrm>
            <a:off x="8353348"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Segoe UI"/>
              </a:rPr>
              <a:t>Chào hỏi lễ phép, giữ lời hứa, hoàn thành tốt việc thầy cô giao.</a:t>
            </a:r>
          </a:p>
        </p:txBody>
      </p:sp>
      <p:sp>
        <p:nvSpPr>
          <p:cNvPr id="39" name="TextBox 38"/>
          <p:cNvSpPr txBox="1"/>
          <p:nvPr/>
        </p:nvSpPr>
        <p:spPr>
          <a:xfrm>
            <a:off x="603504" y="5440680"/>
            <a:ext cx="10984687" cy="457200"/>
          </a:xfrm>
          <a:prstGeom prst="rect">
            <a:avLst/>
          </a:prstGeom>
          <a:noFill/>
        </p:spPr>
        <p:txBody>
          <a:bodyPr wrap="square" anchor="t" lIns="0" rIns="0" tIns="0" bIns="0">
            <a:spAutoFit/>
          </a:bodyPr>
          <a:lstStyle/>
          <a:p>
            <a:pPr algn="ctr"/>
            <a:r>
              <a:rPr sz="1500" b="0" i="1">
                <a:solidFill>
                  <a:srgbClr val="101631"/>
                </a:solidFill>
                <a:latin typeface="Segoe UI"/>
              </a:rPr>
              <a:t>Đừng ngại nhé — </a:t>
            </a:r>
            <a:r>
              <a:rPr sz="1500" b="1" i="0">
                <a:solidFill>
                  <a:srgbClr val="101631"/>
                </a:solidFill>
                <a:latin typeface="Segoe UI"/>
              </a:rPr>
              <a:t>thầy cô luôn lắng nghe chúng em!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book-fill.png"/>
          <p:cNvPicPr>
            <a:picLocks noChangeAspect="1"/>
          </p:cNvPicPr>
          <p:nvPr/>
        </p:nvPicPr>
        <p:blipFill>
          <a:blip r:embed="rId2"/>
          <a:stretch>
            <a:fillRect/>
          </a:stretch>
        </p:blipFill>
        <p:spPr>
          <a:xfrm>
            <a:off x="621792" y="425849"/>
            <a:ext cx="219456" cy="172429"/>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Segoe UI"/>
              </a:rPr>
              <a:t>TIẾT 1 · PHẦN CHUẨN BỊ CỦA CHÚNG EM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700" b="1" i="0" spc="20">
                <a:solidFill>
                  <a:srgbClr val="101631"/>
                </a:solidFill>
                <a:latin typeface="Segoe UI"/>
              </a:rPr>
              <a:t>Câu chuyện của em về một lần hợp tác</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09</a:t>
            </a:r>
          </a:p>
        </p:txBody>
      </p:sp>
      <p:sp>
        <p:nvSpPr>
          <p:cNvPr id="24" name="Rounded Rectangle 23"/>
          <p:cNvSpPr/>
          <p:nvPr/>
        </p:nvSpPr>
        <p:spPr>
          <a:xfrm>
            <a:off x="603504" y="1783080"/>
            <a:ext cx="5300319" cy="3977639"/>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2140596" y="2021738"/>
            <a:ext cx="2226134" cy="39776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 y="2011680"/>
            <a:ext cx="4660239" cy="365760"/>
          </a:xfrm>
          <a:prstGeom prst="rect">
            <a:avLst/>
          </a:prstGeom>
          <a:noFill/>
        </p:spPr>
        <p:txBody>
          <a:bodyPr wrap="square" anchor="t" lIns="0" rIns="0" tIns="0" bIns="0">
            <a:spAutoFit/>
          </a:bodyPr>
          <a:lstStyle/>
          <a:p>
            <a:pPr algn="l"/>
            <a:r>
              <a:rPr sz="1550" b="1" i="0">
                <a:solidFill>
                  <a:srgbClr val="101631"/>
                </a:solidFill>
                <a:latin typeface="Segoe UI"/>
              </a:rPr>
              <a:t>Kể theo ba phần cho dễ nhớ</a:t>
            </a:r>
          </a:p>
        </p:txBody>
      </p:sp>
      <p:sp>
        <p:nvSpPr>
          <p:cNvPr id="27" name="Oval 26"/>
          <p:cNvSpPr/>
          <p:nvPr/>
        </p:nvSpPr>
        <p:spPr>
          <a:xfrm>
            <a:off x="923544" y="2633472"/>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Segoe UI"/>
              </a:rPr>
              <a:t>1</a:t>
            </a:r>
          </a:p>
        </p:txBody>
      </p:sp>
      <p:sp>
        <p:nvSpPr>
          <p:cNvPr id="28" name="TextBox 27"/>
          <p:cNvSpPr txBox="1"/>
          <p:nvPr/>
        </p:nvSpPr>
        <p:spPr>
          <a:xfrm>
            <a:off x="1563624" y="2624328"/>
            <a:ext cx="4020159" cy="292608"/>
          </a:xfrm>
          <a:prstGeom prst="rect">
            <a:avLst/>
          </a:prstGeom>
          <a:noFill/>
        </p:spPr>
        <p:txBody>
          <a:bodyPr wrap="square" anchor="t" lIns="0" rIns="0" tIns="0" bIns="0">
            <a:spAutoFit/>
          </a:bodyPr>
          <a:lstStyle/>
          <a:p>
            <a:pPr algn="l"/>
            <a:r>
              <a:rPr sz="1350" b="1" i="0">
                <a:solidFill>
                  <a:srgbClr val="101631"/>
                </a:solidFill>
                <a:latin typeface="Segoe UI"/>
              </a:rPr>
              <a:t>Hoàn cảnh</a:t>
            </a:r>
          </a:p>
        </p:txBody>
      </p:sp>
      <p:sp>
        <p:nvSpPr>
          <p:cNvPr id="29" name="TextBox 28"/>
          <p:cNvSpPr txBox="1"/>
          <p:nvPr/>
        </p:nvSpPr>
        <p:spPr>
          <a:xfrm>
            <a:off x="1563624" y="2926079"/>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Segoe UI"/>
              </a:rPr>
              <a:t>Chuyện xảy ra lúc nào, ở đâu, có những ai?</a:t>
            </a:r>
          </a:p>
        </p:txBody>
      </p:sp>
      <p:sp>
        <p:nvSpPr>
          <p:cNvPr id="30" name="Oval 29"/>
          <p:cNvSpPr/>
          <p:nvPr/>
        </p:nvSpPr>
        <p:spPr>
          <a:xfrm>
            <a:off x="923544" y="3666743"/>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Segoe UI"/>
              </a:rPr>
              <a:t>2</a:t>
            </a:r>
          </a:p>
        </p:txBody>
      </p:sp>
      <p:sp>
        <p:nvSpPr>
          <p:cNvPr id="31" name="TextBox 30"/>
          <p:cNvSpPr txBox="1"/>
          <p:nvPr/>
        </p:nvSpPr>
        <p:spPr>
          <a:xfrm>
            <a:off x="1563624" y="3657599"/>
            <a:ext cx="4020159" cy="292608"/>
          </a:xfrm>
          <a:prstGeom prst="rect">
            <a:avLst/>
          </a:prstGeom>
          <a:noFill/>
        </p:spPr>
        <p:txBody>
          <a:bodyPr wrap="square" anchor="t" lIns="0" rIns="0" tIns="0" bIns="0">
            <a:spAutoFit/>
          </a:bodyPr>
          <a:lstStyle/>
          <a:p>
            <a:pPr algn="l"/>
            <a:r>
              <a:rPr sz="1350" b="1" i="0">
                <a:solidFill>
                  <a:srgbClr val="101631"/>
                </a:solidFill>
                <a:latin typeface="Segoe UI"/>
              </a:rPr>
              <a:t>Chúng em đã làm gì</a:t>
            </a:r>
          </a:p>
        </p:txBody>
      </p:sp>
      <p:sp>
        <p:nvSpPr>
          <p:cNvPr id="32" name="TextBox 31"/>
          <p:cNvSpPr txBox="1"/>
          <p:nvPr/>
        </p:nvSpPr>
        <p:spPr>
          <a:xfrm>
            <a:off x="1563624" y="3959351"/>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Segoe UI"/>
              </a:rPr>
              <a:t>Em và các bạn đã phối hợp với nhau ra sao?</a:t>
            </a:r>
          </a:p>
        </p:txBody>
      </p:sp>
      <p:sp>
        <p:nvSpPr>
          <p:cNvPr id="33" name="Oval 32"/>
          <p:cNvSpPr/>
          <p:nvPr/>
        </p:nvSpPr>
        <p:spPr>
          <a:xfrm>
            <a:off x="923544" y="4700015"/>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Segoe UI"/>
              </a:rPr>
              <a:t>3</a:t>
            </a:r>
          </a:p>
        </p:txBody>
      </p:sp>
      <p:sp>
        <p:nvSpPr>
          <p:cNvPr id="34" name="TextBox 33"/>
          <p:cNvSpPr txBox="1"/>
          <p:nvPr/>
        </p:nvSpPr>
        <p:spPr>
          <a:xfrm>
            <a:off x="1563624" y="4690871"/>
            <a:ext cx="4020159" cy="292608"/>
          </a:xfrm>
          <a:prstGeom prst="rect">
            <a:avLst/>
          </a:prstGeom>
          <a:noFill/>
        </p:spPr>
        <p:txBody>
          <a:bodyPr wrap="square" anchor="t" lIns="0" rIns="0" tIns="0" bIns="0">
            <a:spAutoFit/>
          </a:bodyPr>
          <a:lstStyle/>
          <a:p>
            <a:pPr algn="l"/>
            <a:r>
              <a:rPr sz="1350" b="1" i="0">
                <a:solidFill>
                  <a:srgbClr val="101631"/>
                </a:solidFill>
                <a:latin typeface="Segoe UI"/>
              </a:rPr>
              <a:t>Kết quả và bài học</a:t>
            </a:r>
          </a:p>
        </p:txBody>
      </p:sp>
      <p:sp>
        <p:nvSpPr>
          <p:cNvPr id="35" name="TextBox 34"/>
          <p:cNvSpPr txBox="1"/>
          <p:nvPr/>
        </p:nvSpPr>
        <p:spPr>
          <a:xfrm>
            <a:off x="1563624" y="4992623"/>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Segoe UI"/>
              </a:rPr>
              <a:t>Việc kết thúc thế nào? Em rút ra được điều gì?</a:t>
            </a:r>
          </a:p>
        </p:txBody>
      </p:sp>
      <p:sp>
        <p:nvSpPr>
          <p:cNvPr id="36" name="Rounded Rectangle 35"/>
          <p:cNvSpPr/>
          <p:nvPr/>
        </p:nvSpPr>
        <p:spPr>
          <a:xfrm>
            <a:off x="6287871" y="1783080"/>
            <a:ext cx="5300319" cy="3977639"/>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rot="20880000">
            <a:off x="7824964" y="2021738"/>
            <a:ext cx="2226134" cy="39776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quote-bubble-fill.png"/>
          <p:cNvPicPr>
            <a:picLocks noChangeAspect="1"/>
          </p:cNvPicPr>
          <p:nvPr/>
        </p:nvPicPr>
        <p:blipFill>
          <a:blip r:embed="rId3"/>
          <a:stretch>
            <a:fillRect/>
          </a:stretch>
        </p:blipFill>
        <p:spPr>
          <a:xfrm>
            <a:off x="6607911" y="2039721"/>
            <a:ext cx="420624" cy="364540"/>
          </a:xfrm>
          <a:prstGeom prst="rect">
            <a:avLst/>
          </a:prstGeom>
        </p:spPr>
      </p:pic>
      <p:sp>
        <p:nvSpPr>
          <p:cNvPr id="39" name="TextBox 38"/>
          <p:cNvSpPr txBox="1"/>
          <p:nvPr/>
        </p:nvSpPr>
        <p:spPr>
          <a:xfrm>
            <a:off x="7156551" y="2057400"/>
            <a:ext cx="4111599" cy="365760"/>
          </a:xfrm>
          <a:prstGeom prst="rect">
            <a:avLst/>
          </a:prstGeom>
          <a:noFill/>
        </p:spPr>
        <p:txBody>
          <a:bodyPr wrap="square" anchor="t" lIns="0" rIns="0" tIns="0" bIns="0">
            <a:spAutoFit/>
          </a:bodyPr>
          <a:lstStyle/>
          <a:p>
            <a:pPr algn="l"/>
            <a:r>
              <a:rPr sz="1550" b="1" i="0">
                <a:solidFill>
                  <a:srgbClr val="101631"/>
                </a:solidFill>
                <a:latin typeface="Segoe UI"/>
              </a:rPr>
              <a:t>Câu chuyện của em (kể mẫu)</a:t>
            </a:r>
          </a:p>
        </p:txBody>
      </p:sp>
      <p:sp>
        <p:nvSpPr>
          <p:cNvPr id="40" name="TextBox 39"/>
          <p:cNvSpPr txBox="1"/>
          <p:nvPr/>
        </p:nvSpPr>
        <p:spPr>
          <a:xfrm>
            <a:off x="6607911" y="2651760"/>
            <a:ext cx="4660239" cy="2880359"/>
          </a:xfrm>
          <a:prstGeom prst="rect">
            <a:avLst/>
          </a:prstGeom>
          <a:noFill/>
        </p:spPr>
        <p:txBody>
          <a:bodyPr wrap="square" anchor="t" lIns="0" rIns="0" tIns="0" bIns="0">
            <a:spAutoFit/>
          </a:bodyPr>
          <a:lstStyle/>
          <a:p>
            <a:pPr algn="l">
              <a:lnSpc>
                <a:spcPct val="138000"/>
              </a:lnSpc>
            </a:pPr>
            <a:r>
              <a:rPr sz="1180" b="0" i="0">
                <a:solidFill>
                  <a:srgbClr val="4E5879"/>
                </a:solidFill>
                <a:latin typeface="Segoe UI"/>
              </a:rPr>
              <a:t>Tuần trước, nhóm em làm mô hình “Ngôi trường xanh”. Bạn Hùng mải chơi quên phần việc của mình, cả nhóm lo lắng vì sắp đến hạn nộp. Em góp ý nhẹ nhàng, rủ Hùng cùng làm vào giờ ra chơi và nhận giúp một phần để bạn bắt kịp nhóm. Mô hình hoàn thành đúng hạn, cả nhóm vui lắm! Từ đó Hùng có trách nhiệm hơn. Em hiểu ra: hợp tác là giúp nhau cùng tiến bộ, chứ không phải trách móc nhau.</a:t>
            </a:r>
          </a:p>
        </p:txBody>
      </p:sp>
      <p:sp>
        <p:nvSpPr>
          <p:cNvPr id="41" name="Rounded Rectangle 40"/>
          <p:cNvSpPr/>
          <p:nvPr/>
        </p:nvSpPr>
        <p:spPr>
          <a:xfrm>
            <a:off x="603504" y="5989320"/>
            <a:ext cx="6181007" cy="365760"/>
          </a:xfrm>
          <a:prstGeom prst="roundRect">
            <a:avLst>
              <a:gd name="adj" fmla="val 50000"/>
            </a:avLst>
          </a:prstGeom>
          <a:effectLst/>
          <a:solidFill>
            <a:srgbClr val="FFFFFF">
              <a:alpha val="18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0A66E0"/>
                </a:solidFill>
                <a:latin typeface="Segoe UI"/>
              </a:rPr>
              <a:t>Các bạn hãy thay bằng kỉ niệm thật của mình — kể tự nhiên sẽ hay hơn!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40"/>
                                  </p:tgtEl>
                                  <p:attrNameLst>
                                    <p:attrName>style.visibility</p:attrName>
                                  </p:attrNameLst>
                                </p:cBhvr>
                                <p:to>
                                  <p:strVal val="visible"/>
                                </p:to>
                              </p:set>
                              <p:animEffect transition="in" filter="fade">
                                <p:cBhvr>
                                  <p:cTn id="1052" dur="700"/>
                                  <p:tgtEl>
                                    <p:spTgt spid="4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41"/>
                                  </p:tgtEl>
                                  <p:attrNameLst>
                                    <p:attrName>style.visibility</p:attrName>
                                  </p:attrNameLst>
                                </p:cBhvr>
                                <p:to>
                                  <p:strVal val="visible"/>
                                </p:to>
                              </p:set>
                              <p:animEffect transition="in" filter="fade">
                                <p:cBhvr>
                                  <p:cTn id="1055" dur="700"/>
                                  <p:tgtEl>
                                    <p:spTgt spid="41"/>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 y="777240"/>
            <a:ext cx="3429063" cy="36576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200">
                <a:solidFill>
                  <a:srgbClr val="DE1F8B"/>
                </a:solidFill>
                <a:latin typeface="Segoe UI"/>
              </a:rPr>
              <a:t>BƯỚC SANG TIẾT 2 · CÙNG THỰC HÀNH</a:t>
            </a:r>
          </a:p>
        </p:txBody>
      </p:sp>
      <p:sp>
        <p:nvSpPr>
          <p:cNvPr id="15" name="TextBox 14"/>
          <p:cNvSpPr txBox="1"/>
          <p:nvPr/>
        </p:nvSpPr>
        <p:spPr>
          <a:xfrm>
            <a:off x="603504" y="1325880"/>
            <a:ext cx="6309360" cy="1463040"/>
          </a:xfrm>
          <a:prstGeom prst="rect">
            <a:avLst/>
          </a:prstGeom>
          <a:noFill/>
        </p:spPr>
        <p:txBody>
          <a:bodyPr wrap="square" anchor="t" lIns="0" rIns="0" tIns="0" bIns="0">
            <a:spAutoFit/>
          </a:bodyPr>
          <a:lstStyle/>
          <a:p>
            <a:pPr algn="l"/>
            <a:r>
              <a:rPr sz="3500" b="1" i="0">
                <a:solidFill>
                  <a:srgbClr val="101631"/>
                </a:solidFill>
                <a:latin typeface="Segoe UI"/>
              </a:rPr>
              <a:t>Chúng em mời cả lớp
cùng xử lí 3 tình huống</a:t>
            </a:r>
          </a:p>
        </p:txBody>
      </p:sp>
      <p:sp>
        <p:nvSpPr>
          <p:cNvPr id="16" name="TextBox 15"/>
          <p:cNvSpPr txBox="1"/>
          <p:nvPr/>
        </p:nvSpPr>
        <p:spPr>
          <a:xfrm>
            <a:off x="603504" y="3246120"/>
            <a:ext cx="5852160" cy="685800"/>
          </a:xfrm>
          <a:prstGeom prst="rect">
            <a:avLst/>
          </a:prstGeom>
          <a:noFill/>
        </p:spPr>
        <p:txBody>
          <a:bodyPr wrap="square" anchor="t" lIns="0" rIns="0" tIns="0" bIns="0">
            <a:spAutoFit/>
          </a:bodyPr>
          <a:lstStyle/>
          <a:p>
            <a:pPr algn="l">
              <a:lnSpc>
                <a:spcPct val="130000"/>
              </a:lnSpc>
            </a:pPr>
            <a:r>
              <a:rPr sz="1350" b="0" i="1">
                <a:solidFill>
                  <a:srgbClr val="4E5879"/>
                </a:solidFill>
                <a:latin typeface="Segoe UI"/>
              </a:rPr>
              <a:t>Các nhóm sẽ phân vai, diễn hoặc thuyết trình. Cả lớp theo dõi và góp ý.</a:t>
            </a:r>
          </a:p>
        </p:txBody>
      </p:sp>
      <p:sp>
        <p:nvSpPr>
          <p:cNvPr id="17" name="Rounded Rectangle 16"/>
          <p:cNvSpPr/>
          <p:nvPr/>
        </p:nvSpPr>
        <p:spPr>
          <a:xfrm>
            <a:off x="7086600" y="1417320"/>
            <a:ext cx="4480560" cy="731520"/>
          </a:xfrm>
          <a:prstGeom prst="roundRect">
            <a:avLst>
              <a:gd name="adj" fmla="val 22000"/>
            </a:avLst>
          </a:prstGeom>
          <a:solidFill>
            <a:srgbClr val="FFFFFF">
              <a:alpha val="52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rot="20880000">
            <a:off x="8385962" y="1461211"/>
            <a:ext cx="1881835" cy="7315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rop-triangle-fill.png"/>
          <p:cNvPicPr>
            <a:picLocks noChangeAspect="1"/>
          </p:cNvPicPr>
          <p:nvPr/>
        </p:nvPicPr>
        <p:blipFill>
          <a:blip r:embed="rId2"/>
          <a:stretch>
            <a:fillRect/>
          </a:stretch>
        </p:blipFill>
        <p:spPr>
          <a:xfrm>
            <a:off x="7232904" y="1598415"/>
            <a:ext cx="420624" cy="369328"/>
          </a:xfrm>
          <a:prstGeom prst="rect">
            <a:avLst/>
          </a:prstGeom>
        </p:spPr>
      </p:pic>
      <p:sp>
        <p:nvSpPr>
          <p:cNvPr id="20" name="TextBox 19"/>
          <p:cNvSpPr txBox="1"/>
          <p:nvPr/>
        </p:nvSpPr>
        <p:spPr>
          <a:xfrm>
            <a:off x="7799831" y="1490472"/>
            <a:ext cx="3657600" cy="274320"/>
          </a:xfrm>
          <a:prstGeom prst="rect">
            <a:avLst/>
          </a:prstGeom>
          <a:noFill/>
        </p:spPr>
        <p:txBody>
          <a:bodyPr wrap="square" anchor="t" lIns="0" rIns="0" tIns="0" bIns="0">
            <a:spAutoFit/>
          </a:bodyPr>
          <a:lstStyle/>
          <a:p>
            <a:pPr algn="l"/>
            <a:r>
              <a:rPr sz="1200" b="1" i="0" spc="150">
                <a:solidFill>
                  <a:srgbClr val="149A4E"/>
                </a:solidFill>
                <a:latin typeface="Segoe UI"/>
              </a:rPr>
              <a:t>TH1</a:t>
            </a:r>
          </a:p>
        </p:txBody>
      </p:sp>
      <p:sp>
        <p:nvSpPr>
          <p:cNvPr id="21" name="TextBox 20"/>
          <p:cNvSpPr txBox="1"/>
          <p:nvPr/>
        </p:nvSpPr>
        <p:spPr>
          <a:xfrm>
            <a:off x="7799831" y="1783080"/>
            <a:ext cx="3657600" cy="310896"/>
          </a:xfrm>
          <a:prstGeom prst="rect">
            <a:avLst/>
          </a:prstGeom>
          <a:noFill/>
        </p:spPr>
        <p:txBody>
          <a:bodyPr wrap="square" anchor="t" lIns="0" rIns="0" tIns="0" bIns="0">
            <a:spAutoFit/>
          </a:bodyPr>
          <a:lstStyle/>
          <a:p>
            <a:pPr algn="l"/>
            <a:r>
              <a:rPr sz="1300" b="1" i="0">
                <a:solidFill>
                  <a:srgbClr val="101631"/>
                </a:solidFill>
                <a:latin typeface="Segoe UI"/>
              </a:rPr>
              <a:t>Việc riêng trong giờ thực hành</a:t>
            </a:r>
          </a:p>
        </p:txBody>
      </p:sp>
      <p:sp>
        <p:nvSpPr>
          <p:cNvPr id="22" name="Rounded Rectangle 21"/>
          <p:cNvSpPr/>
          <p:nvPr/>
        </p:nvSpPr>
        <p:spPr>
          <a:xfrm>
            <a:off x="7086600" y="2331720"/>
            <a:ext cx="4480560" cy="731520"/>
          </a:xfrm>
          <a:prstGeom prst="roundRect">
            <a:avLst>
              <a:gd name="adj" fmla="val 22000"/>
            </a:avLst>
          </a:prstGeom>
          <a:solidFill>
            <a:srgbClr val="FFFFFF">
              <a:alpha val="52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rot="20880000">
            <a:off x="8385962" y="2375611"/>
            <a:ext cx="1881835" cy="7315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waveform.png"/>
          <p:cNvPicPr>
            <a:picLocks noChangeAspect="1"/>
          </p:cNvPicPr>
          <p:nvPr/>
        </p:nvPicPr>
        <p:blipFill>
          <a:blip r:embed="rId3"/>
          <a:stretch>
            <a:fillRect/>
          </a:stretch>
        </p:blipFill>
        <p:spPr>
          <a:xfrm>
            <a:off x="7232904" y="2487168"/>
            <a:ext cx="420624" cy="420624"/>
          </a:xfrm>
          <a:prstGeom prst="rect">
            <a:avLst/>
          </a:prstGeom>
        </p:spPr>
      </p:pic>
      <p:sp>
        <p:nvSpPr>
          <p:cNvPr id="25" name="TextBox 24"/>
          <p:cNvSpPr txBox="1"/>
          <p:nvPr/>
        </p:nvSpPr>
        <p:spPr>
          <a:xfrm>
            <a:off x="7799831" y="2404872"/>
            <a:ext cx="3657600" cy="274320"/>
          </a:xfrm>
          <a:prstGeom prst="rect">
            <a:avLst/>
          </a:prstGeom>
          <a:noFill/>
        </p:spPr>
        <p:txBody>
          <a:bodyPr wrap="square" anchor="t" lIns="0" rIns="0" tIns="0" bIns="0">
            <a:spAutoFit/>
          </a:bodyPr>
          <a:lstStyle/>
          <a:p>
            <a:pPr algn="l"/>
            <a:r>
              <a:rPr sz="1200" b="1" i="0" spc="150">
                <a:solidFill>
                  <a:srgbClr val="DE1F8B"/>
                </a:solidFill>
                <a:latin typeface="Segoe UI"/>
              </a:rPr>
              <a:t>TH2</a:t>
            </a:r>
          </a:p>
        </p:txBody>
      </p:sp>
      <p:sp>
        <p:nvSpPr>
          <p:cNvPr id="26" name="TextBox 25"/>
          <p:cNvSpPr txBox="1"/>
          <p:nvPr/>
        </p:nvSpPr>
        <p:spPr>
          <a:xfrm>
            <a:off x="7799831" y="2697479"/>
            <a:ext cx="3657600" cy="310896"/>
          </a:xfrm>
          <a:prstGeom prst="rect">
            <a:avLst/>
          </a:prstGeom>
          <a:noFill/>
        </p:spPr>
        <p:txBody>
          <a:bodyPr wrap="square" anchor="t" lIns="0" rIns="0" tIns="0" bIns="0">
            <a:spAutoFit/>
          </a:bodyPr>
          <a:lstStyle/>
          <a:p>
            <a:pPr algn="l"/>
            <a:r>
              <a:rPr sz="1300" b="1" i="0">
                <a:solidFill>
                  <a:srgbClr val="101631"/>
                </a:solidFill>
                <a:latin typeface="Segoe UI"/>
              </a:rPr>
              <a:t>Bạn ốm trước buổi biểu diễn</a:t>
            </a:r>
          </a:p>
        </p:txBody>
      </p:sp>
      <p:sp>
        <p:nvSpPr>
          <p:cNvPr id="27" name="Rounded Rectangle 26"/>
          <p:cNvSpPr/>
          <p:nvPr/>
        </p:nvSpPr>
        <p:spPr>
          <a:xfrm>
            <a:off x="7086600" y="3246120"/>
            <a:ext cx="4480560" cy="731520"/>
          </a:xfrm>
          <a:prstGeom prst="roundRect">
            <a:avLst>
              <a:gd name="adj" fmla="val 22000"/>
            </a:avLst>
          </a:prstGeom>
          <a:solidFill>
            <a:srgbClr val="FFFFFF">
              <a:alpha val="52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rot="20880000">
            <a:off x="8385962" y="3290011"/>
            <a:ext cx="1881835" cy="7315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person-badge-plus.png"/>
          <p:cNvPicPr>
            <a:picLocks noChangeAspect="1"/>
          </p:cNvPicPr>
          <p:nvPr/>
        </p:nvPicPr>
        <p:blipFill>
          <a:blip r:embed="rId4"/>
          <a:stretch>
            <a:fillRect/>
          </a:stretch>
        </p:blipFill>
        <p:spPr>
          <a:xfrm>
            <a:off x="7232904" y="3420262"/>
            <a:ext cx="420624" cy="383235"/>
          </a:xfrm>
          <a:prstGeom prst="rect">
            <a:avLst/>
          </a:prstGeom>
        </p:spPr>
      </p:pic>
      <p:sp>
        <p:nvSpPr>
          <p:cNvPr id="30" name="TextBox 29"/>
          <p:cNvSpPr txBox="1"/>
          <p:nvPr/>
        </p:nvSpPr>
        <p:spPr>
          <a:xfrm>
            <a:off x="7799831" y="3319272"/>
            <a:ext cx="3657600" cy="274320"/>
          </a:xfrm>
          <a:prstGeom prst="rect">
            <a:avLst/>
          </a:prstGeom>
          <a:noFill/>
        </p:spPr>
        <p:txBody>
          <a:bodyPr wrap="square" anchor="t" lIns="0" rIns="0" tIns="0" bIns="0">
            <a:spAutoFit/>
          </a:bodyPr>
          <a:lstStyle/>
          <a:p>
            <a:pPr algn="l"/>
            <a:r>
              <a:rPr sz="1200" b="1" i="0" spc="150">
                <a:solidFill>
                  <a:srgbClr val="0A66E0"/>
                </a:solidFill>
                <a:latin typeface="Segoe UI"/>
              </a:rPr>
              <a:t>TH3</a:t>
            </a:r>
          </a:p>
        </p:txBody>
      </p:sp>
      <p:sp>
        <p:nvSpPr>
          <p:cNvPr id="31" name="TextBox 30"/>
          <p:cNvSpPr txBox="1"/>
          <p:nvPr/>
        </p:nvSpPr>
        <p:spPr>
          <a:xfrm>
            <a:off x="7799831" y="3611879"/>
            <a:ext cx="3657600" cy="310896"/>
          </a:xfrm>
          <a:prstGeom prst="rect">
            <a:avLst/>
          </a:prstGeom>
          <a:noFill/>
        </p:spPr>
        <p:txBody>
          <a:bodyPr wrap="square" anchor="t" lIns="0" rIns="0" tIns="0" bIns="0">
            <a:spAutoFit/>
          </a:bodyPr>
          <a:lstStyle/>
          <a:p>
            <a:pPr algn="l"/>
            <a:r>
              <a:rPr sz="1300" b="1" i="0">
                <a:solidFill>
                  <a:srgbClr val="101631"/>
                </a:solidFill>
                <a:latin typeface="Segoe UI"/>
              </a:rPr>
              <a:t>Bạn mới chuyển đến nhút nhát</a:t>
            </a:r>
          </a:p>
        </p:txBody>
      </p:sp>
      <p:sp>
        <p:nvSpPr>
          <p:cNvPr id="32" name="Rounded Rectangle 31"/>
          <p:cNvSpPr/>
          <p:nvPr/>
        </p:nvSpPr>
        <p:spPr>
          <a:xfrm>
            <a:off x="603504" y="4663440"/>
            <a:ext cx="5943600" cy="1188720"/>
          </a:xfrm>
          <a:prstGeom prst="roundRect">
            <a:avLst>
              <a:gd name="adj" fmla="val 20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rot="20880000">
            <a:off x="2327148" y="4734763"/>
            <a:ext cx="2496312" cy="11887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3544" y="4892040"/>
            <a:ext cx="5394960" cy="822960"/>
          </a:xfrm>
          <a:prstGeom prst="rect">
            <a:avLst/>
          </a:prstGeom>
          <a:noFill/>
        </p:spPr>
        <p:txBody>
          <a:bodyPr wrap="square" anchor="t" lIns="0" rIns="0" tIns="0" bIns="0">
            <a:spAutoFit/>
          </a:bodyPr>
          <a:lstStyle/>
          <a:p>
            <a:pPr algn="l">
              <a:lnSpc>
                <a:spcPct val="130000"/>
              </a:lnSpc>
            </a:pPr>
            <a:r>
              <a:rPr sz="1350" b="1" i="0">
                <a:solidFill>
                  <a:srgbClr val="101631"/>
                </a:solidFill>
                <a:latin typeface="Segoe UI"/>
              </a:rPr>
              <a:t>Cách chúng em tổ chức:  </a:t>
            </a:r>
            <a:r>
              <a:rPr sz="1250" b="0" i="0">
                <a:solidFill>
                  <a:srgbClr val="4E5879"/>
                </a:solidFill>
                <a:latin typeface="Segoe UI"/>
              </a:rPr>
              <a:t>chia nhóm → bốc thăm tình huống → chuẩn bị 5 phút → diễn hoặc trình bày.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14"/>
                                  </p:tgtEl>
                                  <p:attrNameLst>
                                    <p:attrName>style.visibility</p:attrName>
                                  </p:attrNameLst>
                                </p:cBhvr>
                                <p:to>
                                  <p:strVal val="visible"/>
                                </p:to>
                              </p:set>
                              <p:animEffect transition="in" filter="fade">
                                <p:cBhvr>
                                  <p:cTn id="1004" dur="700"/>
                                  <p:tgtEl>
                                    <p:spTgt spid="1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15"/>
                                  </p:tgtEl>
                                  <p:attrNameLst>
                                    <p:attrName>style.visibility</p:attrName>
                                  </p:attrNameLst>
                                </p:cBhvr>
                                <p:to>
                                  <p:strVal val="visible"/>
                                </p:to>
                              </p:set>
                              <p:animEffect transition="in" filter="fade">
                                <p:cBhvr>
                                  <p:cTn id="1007" dur="700"/>
                                  <p:tgtEl>
                                    <p:spTgt spid="1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16"/>
                                  </p:tgtEl>
                                  <p:attrNameLst>
                                    <p:attrName>style.visibility</p:attrName>
                                  </p:attrNameLst>
                                </p:cBhvr>
                                <p:to>
                                  <p:strVal val="visible"/>
                                </p:to>
                              </p:set>
                              <p:animEffect transition="in" filter="fade">
                                <p:cBhvr>
                                  <p:cTn id="1010" dur="700"/>
                                  <p:tgtEl>
                                    <p:spTgt spid="1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17"/>
                                  </p:tgtEl>
                                  <p:attrNameLst>
                                    <p:attrName>style.visibility</p:attrName>
                                  </p:attrNameLst>
                                </p:cBhvr>
                                <p:to>
                                  <p:strVal val="visible"/>
                                </p:to>
                              </p:set>
                              <p:animEffect transition="in" filter="fade">
                                <p:cBhvr>
                                  <p:cTn id="1013" dur="700"/>
                                  <p:tgtEl>
                                    <p:spTgt spid="1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18"/>
                                  </p:tgtEl>
                                  <p:attrNameLst>
                                    <p:attrName>style.visibility</p:attrName>
                                  </p:attrNameLst>
                                </p:cBhvr>
                                <p:to>
                                  <p:strVal val="visible"/>
                                </p:to>
                              </p:set>
                              <p:animEffect transition="in" filter="fade">
                                <p:cBhvr>
                                  <p:cTn id="1016" dur="700"/>
                                  <p:tgtEl>
                                    <p:spTgt spid="1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19"/>
                                  </p:tgtEl>
                                  <p:attrNameLst>
                                    <p:attrName>style.visibility</p:attrName>
                                  </p:attrNameLst>
                                </p:cBhvr>
                                <p:to>
                                  <p:strVal val="visible"/>
                                </p:to>
                              </p:set>
                              <p:animEffect transition="in" filter="fade">
                                <p:cBhvr>
                                  <p:cTn id="1019" dur="700"/>
                                  <p:tgtEl>
                                    <p:spTgt spid="1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20"/>
                                  </p:tgtEl>
                                  <p:attrNameLst>
                                    <p:attrName>style.visibility</p:attrName>
                                  </p:attrNameLst>
                                </p:cBhvr>
                                <p:to>
                                  <p:strVal val="visible"/>
                                </p:to>
                              </p:set>
                              <p:animEffect transition="in" filter="fade">
                                <p:cBhvr>
                                  <p:cTn id="1022" dur="700"/>
                                  <p:tgtEl>
                                    <p:spTgt spid="2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21"/>
                                  </p:tgtEl>
                                  <p:attrNameLst>
                                    <p:attrName>style.visibility</p:attrName>
                                  </p:attrNameLst>
                                </p:cBhvr>
                                <p:to>
                                  <p:strVal val="visible"/>
                                </p:to>
                              </p:set>
                              <p:animEffect transition="in" filter="fade">
                                <p:cBhvr>
                                  <p:cTn id="1025" dur="700"/>
                                  <p:tgtEl>
                                    <p:spTgt spid="2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22"/>
                                  </p:tgtEl>
                                  <p:attrNameLst>
                                    <p:attrName>style.visibility</p:attrName>
                                  </p:attrNameLst>
                                </p:cBhvr>
                                <p:to>
                                  <p:strVal val="visible"/>
                                </p:to>
                              </p:set>
                              <p:animEffect transition="in" filter="fade">
                                <p:cBhvr>
                                  <p:cTn id="1028" dur="700"/>
                                  <p:tgtEl>
                                    <p:spTgt spid="2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23"/>
                                  </p:tgtEl>
                                  <p:attrNameLst>
                                    <p:attrName>style.visibility</p:attrName>
                                  </p:attrNameLst>
                                </p:cBhvr>
                                <p:to>
                                  <p:strVal val="visible"/>
                                </p:to>
                              </p:set>
                              <p:animEffect transition="in" filter="fade">
                                <p:cBhvr>
                                  <p:cTn id="1031" dur="700"/>
                                  <p:tgtEl>
                                    <p:spTgt spid="2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24"/>
                                  </p:tgtEl>
                                  <p:attrNameLst>
                                    <p:attrName>style.visibility</p:attrName>
                                  </p:attrNameLst>
                                </p:cBhvr>
                                <p:to>
                                  <p:strVal val="visible"/>
                                </p:to>
                              </p:set>
                              <p:animEffect transition="in" filter="fade">
                                <p:cBhvr>
                                  <p:cTn id="1034" dur="700"/>
                                  <p:tgtEl>
                                    <p:spTgt spid="2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25"/>
                                  </p:tgtEl>
                                  <p:attrNameLst>
                                    <p:attrName>style.visibility</p:attrName>
                                  </p:attrNameLst>
                                </p:cBhvr>
                                <p:to>
                                  <p:strVal val="visible"/>
                                </p:to>
                              </p:set>
                              <p:animEffect transition="in" filter="fade">
                                <p:cBhvr>
                                  <p:cTn id="1037" dur="700"/>
                                  <p:tgtEl>
                                    <p:spTgt spid="2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26"/>
                                  </p:tgtEl>
                                  <p:attrNameLst>
                                    <p:attrName>style.visibility</p:attrName>
                                  </p:attrNameLst>
                                </p:cBhvr>
                                <p:to>
                                  <p:strVal val="visible"/>
                                </p:to>
                              </p:set>
                              <p:animEffect transition="in" filter="fade">
                                <p:cBhvr>
                                  <p:cTn id="1040" dur="700"/>
                                  <p:tgtEl>
                                    <p:spTgt spid="2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27"/>
                                  </p:tgtEl>
                                  <p:attrNameLst>
                                    <p:attrName>style.visibility</p:attrName>
                                  </p:attrNameLst>
                                </p:cBhvr>
                                <p:to>
                                  <p:strVal val="visible"/>
                                </p:to>
                              </p:set>
                              <p:animEffect transition="in" filter="fade">
                                <p:cBhvr>
                                  <p:cTn id="1043" dur="700"/>
                                  <p:tgtEl>
                                    <p:spTgt spid="2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28"/>
                                  </p:tgtEl>
                                  <p:attrNameLst>
                                    <p:attrName>style.visibility</p:attrName>
                                  </p:attrNameLst>
                                </p:cBhvr>
                                <p:to>
                                  <p:strVal val="visible"/>
                                </p:to>
                              </p:set>
                              <p:animEffect transition="in" filter="fade">
                                <p:cBhvr>
                                  <p:cTn id="1046" dur="700"/>
                                  <p:tgtEl>
                                    <p:spTgt spid="2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29"/>
                                  </p:tgtEl>
                                  <p:attrNameLst>
                                    <p:attrName>style.visibility</p:attrName>
                                  </p:attrNameLst>
                                </p:cBhvr>
                                <p:to>
                                  <p:strVal val="visible"/>
                                </p:to>
                              </p:set>
                              <p:animEffect transition="in" filter="fade">
                                <p:cBhvr>
                                  <p:cTn id="1049" dur="700"/>
                                  <p:tgtEl>
                                    <p:spTgt spid="2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30"/>
                                  </p:tgtEl>
                                  <p:attrNameLst>
                                    <p:attrName>style.visibility</p:attrName>
                                  </p:attrNameLst>
                                </p:cBhvr>
                                <p:to>
                                  <p:strVal val="visible"/>
                                </p:to>
                              </p:set>
                              <p:animEffect transition="in" filter="fade">
                                <p:cBhvr>
                                  <p:cTn id="1052" dur="700"/>
                                  <p:tgtEl>
                                    <p:spTgt spid="3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31"/>
                                  </p:tgtEl>
                                  <p:attrNameLst>
                                    <p:attrName>style.visibility</p:attrName>
                                  </p:attrNameLst>
                                </p:cBhvr>
                                <p:to>
                                  <p:strVal val="visible"/>
                                </p:to>
                              </p:set>
                              <p:animEffect transition="in" filter="fade">
                                <p:cBhvr>
                                  <p:cTn id="1055" dur="700"/>
                                  <p:tgtEl>
                                    <p:spTgt spid="31"/>
                                  </p:tgtEl>
                                </p:cBhvr>
                              </p:animEffect>
                            </p:childTnLst>
                          </p:cTn>
                        </p:par>
                        <p:par>
                          <p:cTn id="1056" presetID="10" presetClass="entr" presetSubtype="0" fill="hold" grpId="0" nodeType="withEffect">
                            <p:stCondLst>
                              <p:cond delay="0"/>
                            </p:stCondLst>
                            <p:childTnLst>
                              <p:set>
                                <p:cBhvr>
                                  <p:cTn id="1057" dur="1" fill="hold">
                                    <p:stCondLst>
                                      <p:cond delay="0"/>
                                    </p:stCondLst>
                                  </p:cTn>
                                  <p:tgtEl>
                                    <p:spTgt spid="32"/>
                                  </p:tgtEl>
                                  <p:attrNameLst>
                                    <p:attrName>style.visibility</p:attrName>
                                  </p:attrNameLst>
                                </p:cBhvr>
                                <p:to>
                                  <p:strVal val="visible"/>
                                </p:to>
                              </p:set>
                              <p:animEffect transition="in" filter="fade">
                                <p:cBhvr>
                                  <p:cTn id="1058" dur="700"/>
                                  <p:tgtEl>
                                    <p:spTgt spid="32"/>
                                  </p:tgtEl>
                                </p:cBhvr>
                              </p:animEffect>
                            </p:childTnLst>
                          </p:cTn>
                        </p:par>
                        <p:par>
                          <p:cTn id="1059" presetID="10" presetClass="entr" presetSubtype="0" fill="hold" grpId="0" nodeType="withEffect">
                            <p:stCondLst>
                              <p:cond delay="0"/>
                            </p:stCondLst>
                            <p:childTnLst>
                              <p:set>
                                <p:cBhvr>
                                  <p:cTn id="1060" dur="1" fill="hold">
                                    <p:stCondLst>
                                      <p:cond delay="0"/>
                                    </p:stCondLst>
                                  </p:cTn>
                                  <p:tgtEl>
                                    <p:spTgt spid="33"/>
                                  </p:tgtEl>
                                  <p:attrNameLst>
                                    <p:attrName>style.visibility</p:attrName>
                                  </p:attrNameLst>
                                </p:cBhvr>
                                <p:to>
                                  <p:strVal val="visible"/>
                                </p:to>
                              </p:set>
                              <p:animEffect transition="in" filter="fade">
                                <p:cBhvr>
                                  <p:cTn id="1061" dur="700"/>
                                  <p:tgtEl>
                                    <p:spTgt spid="33"/>
                                  </p:tgtEl>
                                </p:cBhvr>
                              </p:animEffect>
                            </p:childTnLst>
                          </p:cTn>
                        </p:par>
                        <p:par>
                          <p:cTn id="1062" presetID="10" presetClass="entr" presetSubtype="0" fill="hold" grpId="0" nodeType="withEffect">
                            <p:stCondLst>
                              <p:cond delay="0"/>
                            </p:stCondLst>
                            <p:childTnLst>
                              <p:set>
                                <p:cBhvr>
                                  <p:cTn id="1063" dur="1" fill="hold">
                                    <p:stCondLst>
                                      <p:cond delay="0"/>
                                    </p:stCondLst>
                                  </p:cTn>
                                  <p:tgtEl>
                                    <p:spTgt spid="34"/>
                                  </p:tgtEl>
                                  <p:attrNameLst>
                                    <p:attrName>style.visibility</p:attrName>
                                  </p:attrNameLst>
                                </p:cBhvr>
                                <p:to>
                                  <p:strVal val="visible"/>
                                </p:to>
                              </p:set>
                              <p:animEffect transition="in" filter="fade">
                                <p:cBhvr>
                                  <p:cTn id="1064" dur="700"/>
                                  <p:tgtEl>
                                    <p:spTgt spid="3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drop-triangle-fill.png"/>
          <p:cNvPicPr>
            <a:picLocks noChangeAspect="1"/>
          </p:cNvPicPr>
          <p:nvPr/>
        </p:nvPicPr>
        <p:blipFill>
          <a:blip r:embed="rId2"/>
          <a:stretch>
            <a:fillRect/>
          </a:stretch>
        </p:blipFill>
        <p:spPr>
          <a:xfrm>
            <a:off x="621792" y="415717"/>
            <a:ext cx="219456" cy="19269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149A4E"/>
                </a:solidFill>
                <a:latin typeface="Segoe UI"/>
              </a:rPr>
              <a:t>TIẾT 2 · TÌNH HUỐNG 1 — MỜI CẢ LỚP CÙNG XỬ LÍ</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Segoe UI"/>
              </a:rPr>
              <a:t>Tình huống 1: Việc riêng trong giờ thực hành</a:t>
            </a:r>
          </a:p>
        </p:txBody>
      </p:sp>
      <p:sp>
        <p:nvSpPr>
          <p:cNvPr id="17" name="~hdrRounded Rectangle 16"/>
          <p:cNvSpPr/>
          <p:nvPr/>
        </p:nvSpPr>
        <p:spPr>
          <a:xfrm>
            <a:off x="608076" y="1408176"/>
            <a:ext cx="658368" cy="45720"/>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11</a:t>
            </a:r>
          </a:p>
        </p:txBody>
      </p:sp>
      <p:sp>
        <p:nvSpPr>
          <p:cNvPr id="24" name="Rounded Rectangle 23"/>
          <p:cNvSpPr/>
          <p:nvPr/>
        </p:nvSpPr>
        <p:spPr>
          <a:xfrm>
            <a:off x="603504" y="1600200"/>
            <a:ext cx="10984687" cy="1417320"/>
          </a:xfrm>
          <a:prstGeom prst="roundRect">
            <a:avLst>
              <a:gd name="adj" fmla="val 17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3789063" y="1685239"/>
            <a:ext cx="4613568" cy="14173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rop-triangle-fill.png"/>
          <p:cNvPicPr>
            <a:picLocks noChangeAspect="1"/>
          </p:cNvPicPr>
          <p:nvPr/>
        </p:nvPicPr>
        <p:blipFill>
          <a:blip r:embed="rId2"/>
          <a:stretch>
            <a:fillRect/>
          </a:stretch>
        </p:blipFill>
        <p:spPr>
          <a:xfrm>
            <a:off x="859536" y="2039335"/>
            <a:ext cx="603504" cy="529905"/>
          </a:xfrm>
          <a:prstGeom prst="rect">
            <a:avLst/>
          </a:prstGeom>
        </p:spPr>
      </p:pic>
      <p:sp>
        <p:nvSpPr>
          <p:cNvPr id="27" name="TextBox 26"/>
          <p:cNvSpPr txBox="1"/>
          <p:nvPr/>
        </p:nvSpPr>
        <p:spPr>
          <a:xfrm>
            <a:off x="1700784" y="1819656"/>
            <a:ext cx="9521647" cy="960120"/>
          </a:xfrm>
          <a:prstGeom prst="rect">
            <a:avLst/>
          </a:prstGeom>
          <a:noFill/>
        </p:spPr>
        <p:txBody>
          <a:bodyPr wrap="square" anchor="t" lIns="0" rIns="0" tIns="0" bIns="0">
            <a:spAutoFit/>
          </a:bodyPr>
          <a:lstStyle/>
          <a:p>
            <a:pPr algn="l">
              <a:lnSpc>
                <a:spcPct val="134000"/>
              </a:lnSpc>
            </a:pPr>
            <a:r>
              <a:rPr sz="1350" b="1" i="0">
                <a:solidFill>
                  <a:srgbClr val="0A66E0"/>
                </a:solidFill>
                <a:latin typeface="Segoe UI"/>
              </a:rPr>
              <a:t>Tình huống:  </a:t>
            </a:r>
            <a:r>
              <a:rPr sz="1350" b="0" i="0">
                <a:solidFill>
                  <a:srgbClr val="101631"/>
                </a:solidFill>
                <a:latin typeface="Segoe UI"/>
              </a:rPr>
              <a:t>Trong giờ thực hành môn Khoa học tự nhiên, các bạn cùng nhóm với Thanh đang làm thí nghiệm thì Thanh lấy bài tập Toán ra làm, không tham gia cùng nhóm.</a:t>
            </a:r>
          </a:p>
        </p:txBody>
      </p:sp>
      <p:sp>
        <p:nvSpPr>
          <p:cNvPr id="28" name="Rounded Rectangle 27"/>
          <p:cNvSpPr/>
          <p:nvPr/>
        </p:nvSpPr>
        <p:spPr>
          <a:xfrm>
            <a:off x="603504" y="3246120"/>
            <a:ext cx="7269480" cy="269748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rot="20880000">
            <a:off x="2711653" y="3407968"/>
            <a:ext cx="3053181" cy="269748"/>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3429000"/>
            <a:ext cx="6766560" cy="365760"/>
          </a:xfrm>
          <a:prstGeom prst="rect">
            <a:avLst/>
          </a:prstGeom>
          <a:noFill/>
        </p:spPr>
        <p:txBody>
          <a:bodyPr wrap="square" anchor="t" lIns="0" rIns="0" tIns="0" bIns="0">
            <a:spAutoFit/>
          </a:bodyPr>
          <a:lstStyle/>
          <a:p>
            <a:pPr algn="l"/>
            <a:r>
              <a:rPr sz="1450" b="1" i="0">
                <a:solidFill>
                  <a:srgbClr val="101631"/>
                </a:solidFill>
                <a:latin typeface="Segoe UI"/>
              </a:rPr>
              <a:t>Cách nhóm em định xử lí — các bạn bổ sung nhé!</a:t>
            </a:r>
          </a:p>
        </p:txBody>
      </p:sp>
      <p:sp>
        <p:nvSpPr>
          <p:cNvPr id="31" name="Oval 30"/>
          <p:cNvSpPr/>
          <p:nvPr/>
        </p:nvSpPr>
        <p:spPr>
          <a:xfrm>
            <a:off x="850392" y="3849624"/>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Segoe UI"/>
              </a:rPr>
              <a:t>1</a:t>
            </a:r>
          </a:p>
        </p:txBody>
      </p:sp>
      <p:sp>
        <p:nvSpPr>
          <p:cNvPr id="32" name="TextBox 31"/>
          <p:cNvSpPr txBox="1"/>
          <p:nvPr/>
        </p:nvSpPr>
        <p:spPr>
          <a:xfrm>
            <a:off x="1517904" y="3941064"/>
            <a:ext cx="6217920" cy="713232"/>
          </a:xfrm>
          <a:prstGeom prst="rect">
            <a:avLst/>
          </a:prstGeom>
          <a:noFill/>
        </p:spPr>
        <p:txBody>
          <a:bodyPr wrap="square" anchor="t" lIns="0" rIns="0" tIns="0" bIns="0">
            <a:spAutoFit/>
          </a:bodyPr>
          <a:lstStyle/>
          <a:p>
            <a:pPr algn="l">
              <a:lnSpc>
                <a:spcPct val="122000"/>
              </a:lnSpc>
            </a:pPr>
            <a:r>
              <a:rPr sz="1200" b="0" i="0">
                <a:solidFill>
                  <a:srgbClr val="4E5879"/>
                </a:solidFill>
                <a:latin typeface="Segoe UI"/>
              </a:rPr>
              <a:t>Nhắc nhở nhẹ nhàng, thân thiện: “Thanh ơi, giờ đang thực hành, cậu để bài Toán sang giờ ra chơi làm nhé!”</a:t>
            </a:r>
          </a:p>
        </p:txBody>
      </p:sp>
      <p:sp>
        <p:nvSpPr>
          <p:cNvPr id="33" name="Oval 32"/>
          <p:cNvSpPr/>
          <p:nvPr/>
        </p:nvSpPr>
        <p:spPr>
          <a:xfrm>
            <a:off x="850392" y="4489704"/>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Segoe UI"/>
              </a:rPr>
              <a:t>2</a:t>
            </a:r>
          </a:p>
        </p:txBody>
      </p:sp>
      <p:sp>
        <p:nvSpPr>
          <p:cNvPr id="34" name="TextBox 33"/>
          <p:cNvSpPr txBox="1"/>
          <p:nvPr/>
        </p:nvSpPr>
        <p:spPr>
          <a:xfrm>
            <a:off x="1517904" y="4581144"/>
            <a:ext cx="6217920" cy="713232"/>
          </a:xfrm>
          <a:prstGeom prst="rect">
            <a:avLst/>
          </a:prstGeom>
          <a:noFill/>
        </p:spPr>
        <p:txBody>
          <a:bodyPr wrap="square" anchor="t" lIns="0" rIns="0" tIns="0" bIns="0">
            <a:spAutoFit/>
          </a:bodyPr>
          <a:lstStyle/>
          <a:p>
            <a:pPr algn="l">
              <a:lnSpc>
                <a:spcPct val="122000"/>
              </a:lnSpc>
            </a:pPr>
            <a:r>
              <a:rPr sz="1200" b="0" i="0">
                <a:solidFill>
                  <a:srgbClr val="4E5879"/>
                </a:solidFill>
                <a:latin typeface="Segoe UI"/>
              </a:rPr>
              <a:t>Mời Thanh tham gia bằng một việc phù hợp: ghi số liệu, quan sát hiện tượng, thao tác thí nghiệm…</a:t>
            </a:r>
          </a:p>
        </p:txBody>
      </p:sp>
      <p:sp>
        <p:nvSpPr>
          <p:cNvPr id="35" name="Oval 34"/>
          <p:cNvSpPr/>
          <p:nvPr/>
        </p:nvSpPr>
        <p:spPr>
          <a:xfrm>
            <a:off x="850392" y="5129784"/>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Segoe UI"/>
              </a:rPr>
              <a:t>3</a:t>
            </a:r>
          </a:p>
        </p:txBody>
      </p:sp>
      <p:sp>
        <p:nvSpPr>
          <p:cNvPr id="36" name="TextBox 35"/>
          <p:cNvSpPr txBox="1"/>
          <p:nvPr/>
        </p:nvSpPr>
        <p:spPr>
          <a:xfrm>
            <a:off x="1517904" y="5221224"/>
            <a:ext cx="6217920" cy="713232"/>
          </a:xfrm>
          <a:prstGeom prst="rect">
            <a:avLst/>
          </a:prstGeom>
          <a:noFill/>
        </p:spPr>
        <p:txBody>
          <a:bodyPr wrap="square" anchor="t" lIns="0" rIns="0" tIns="0" bIns="0">
            <a:spAutoFit/>
          </a:bodyPr>
          <a:lstStyle/>
          <a:p>
            <a:pPr algn="l">
              <a:lnSpc>
                <a:spcPct val="122000"/>
              </a:lnSpc>
            </a:pPr>
            <a:r>
              <a:rPr sz="1200" b="0" i="0">
                <a:solidFill>
                  <a:srgbClr val="4E5879"/>
                </a:solidFill>
                <a:latin typeface="Segoe UI"/>
              </a:rPr>
              <a:t>Nếu Thanh vẫn chưa hợp tác: bình tĩnh nhờ thầy cô góp ý để cả nhóm hoàn thành nhiệm vụ chung.</a:t>
            </a:r>
          </a:p>
        </p:txBody>
      </p:sp>
      <p:sp>
        <p:nvSpPr>
          <p:cNvPr id="37" name="Rounded Rectangle 36"/>
          <p:cNvSpPr/>
          <p:nvPr/>
        </p:nvSpPr>
        <p:spPr>
          <a:xfrm>
            <a:off x="8101583" y="3246120"/>
            <a:ext cx="3483864" cy="1298448"/>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rot="20880000">
            <a:off x="9111904" y="3324026"/>
            <a:ext cx="1463222" cy="12984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bubble-pair-fill.png"/>
          <p:cNvPicPr>
            <a:picLocks noChangeAspect="1"/>
          </p:cNvPicPr>
          <p:nvPr/>
        </p:nvPicPr>
        <p:blipFill>
          <a:blip r:embed="rId3"/>
          <a:stretch>
            <a:fillRect/>
          </a:stretch>
        </p:blipFill>
        <p:spPr>
          <a:xfrm>
            <a:off x="8302752" y="3474387"/>
            <a:ext cx="384048" cy="293273"/>
          </a:xfrm>
          <a:prstGeom prst="rect">
            <a:avLst/>
          </a:prstGeom>
        </p:spPr>
      </p:pic>
      <p:sp>
        <p:nvSpPr>
          <p:cNvPr id="40" name="TextBox 39"/>
          <p:cNvSpPr txBox="1"/>
          <p:nvPr/>
        </p:nvSpPr>
        <p:spPr>
          <a:xfrm>
            <a:off x="8814815" y="3429000"/>
            <a:ext cx="2651760"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Segoe UI"/>
              </a:rPr>
              <a:t>Bàn cùng cả lớp</a:t>
            </a:r>
          </a:p>
          <a:p>
            <a:pPr algn="l">
              <a:lnSpc>
                <a:spcPct val="120000"/>
              </a:lnSpc>
            </a:pPr>
            <a:r>
              <a:rPr sz="1050" b="0" i="0">
                <a:solidFill>
                  <a:srgbClr val="4E5879"/>
                </a:solidFill>
                <a:latin typeface="Segoe UI"/>
              </a:rPr>
              <a:t>Vì sao nên nhắc khéo trước, và nhờ thầy cô chỉ là giải pháp cuối?</a:t>
            </a:r>
          </a:p>
        </p:txBody>
      </p:sp>
      <p:sp>
        <p:nvSpPr>
          <p:cNvPr id="41" name="Rounded Rectangle 40"/>
          <p:cNvSpPr/>
          <p:nvPr/>
        </p:nvSpPr>
        <p:spPr>
          <a:xfrm>
            <a:off x="8101583" y="4690872"/>
            <a:ext cx="3483864" cy="1252728"/>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rot="20880000">
            <a:off x="9111904" y="4766035"/>
            <a:ext cx="1463222" cy="12527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bolt-fill.png"/>
          <p:cNvPicPr>
            <a:picLocks noChangeAspect="1"/>
          </p:cNvPicPr>
          <p:nvPr/>
        </p:nvPicPr>
        <p:blipFill>
          <a:blip r:embed="rId4"/>
          <a:stretch>
            <a:fillRect/>
          </a:stretch>
        </p:blipFill>
        <p:spPr>
          <a:xfrm>
            <a:off x="8342943" y="4873752"/>
            <a:ext cx="303665" cy="384048"/>
          </a:xfrm>
          <a:prstGeom prst="rect">
            <a:avLst/>
          </a:prstGeom>
        </p:spPr>
      </p:pic>
      <p:sp>
        <p:nvSpPr>
          <p:cNvPr id="44" name="TextBox 43"/>
          <p:cNvSpPr txBox="1"/>
          <p:nvPr/>
        </p:nvSpPr>
        <p:spPr>
          <a:xfrm>
            <a:off x="8814815" y="4855464"/>
            <a:ext cx="2651760" cy="960120"/>
          </a:xfrm>
          <a:prstGeom prst="rect">
            <a:avLst/>
          </a:prstGeom>
          <a:noFill/>
        </p:spPr>
        <p:txBody>
          <a:bodyPr wrap="square" anchor="t" lIns="0" rIns="0" tIns="0" bIns="0">
            <a:spAutoFit/>
          </a:bodyPr>
          <a:lstStyle/>
          <a:p>
            <a:pPr algn="l">
              <a:spcAft>
                <a:spcPts val="400"/>
              </a:spcAft>
            </a:pPr>
            <a:r>
              <a:rPr sz="1250" b="1" i="0">
                <a:solidFill>
                  <a:srgbClr val="101631"/>
                </a:solidFill>
                <a:latin typeface="Segoe UI"/>
              </a:rPr>
              <a:t>Chúng em vận dụng</a:t>
            </a:r>
          </a:p>
          <a:p>
            <a:pPr algn="l">
              <a:lnSpc>
                <a:spcPct val="120000"/>
              </a:lnSpc>
            </a:pPr>
            <a:r>
              <a:rPr sz="1050" b="0" i="0">
                <a:solidFill>
                  <a:srgbClr val="4E5879"/>
                </a:solidFill>
                <a:latin typeface="Segoe UI"/>
              </a:rPr>
              <a:t>giao tiếp khéo léo · kiên nhẫn · tôn trọng bạn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40"/>
                                  </p:tgtEl>
                                  <p:attrNameLst>
                                    <p:attrName>style.visibility</p:attrName>
                                  </p:attrNameLst>
                                </p:cBhvr>
                                <p:to>
                                  <p:strVal val="visible"/>
                                </p:to>
                              </p:set>
                              <p:animEffect transition="in" filter="fade">
                                <p:cBhvr>
                                  <p:cTn id="1052" dur="700"/>
                                  <p:tgtEl>
                                    <p:spTgt spid="4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41"/>
                                  </p:tgtEl>
                                  <p:attrNameLst>
                                    <p:attrName>style.visibility</p:attrName>
                                  </p:attrNameLst>
                                </p:cBhvr>
                                <p:to>
                                  <p:strVal val="visible"/>
                                </p:to>
                              </p:set>
                              <p:animEffect transition="in" filter="fade">
                                <p:cBhvr>
                                  <p:cTn id="1055" dur="700"/>
                                  <p:tgtEl>
                                    <p:spTgt spid="41"/>
                                  </p:tgtEl>
                                </p:cBhvr>
                              </p:animEffect>
                            </p:childTnLst>
                          </p:cTn>
                        </p:par>
                        <p:par>
                          <p:cTn id="1056" presetID="10" presetClass="entr" presetSubtype="0" fill="hold" grpId="0" nodeType="withEffect">
                            <p:stCondLst>
                              <p:cond delay="0"/>
                            </p:stCondLst>
                            <p:childTnLst>
                              <p:set>
                                <p:cBhvr>
                                  <p:cTn id="1057" dur="1" fill="hold">
                                    <p:stCondLst>
                                      <p:cond delay="0"/>
                                    </p:stCondLst>
                                  </p:cTn>
                                  <p:tgtEl>
                                    <p:spTgt spid="42"/>
                                  </p:tgtEl>
                                  <p:attrNameLst>
                                    <p:attrName>style.visibility</p:attrName>
                                  </p:attrNameLst>
                                </p:cBhvr>
                                <p:to>
                                  <p:strVal val="visible"/>
                                </p:to>
                              </p:set>
                              <p:animEffect transition="in" filter="fade">
                                <p:cBhvr>
                                  <p:cTn id="1058" dur="700"/>
                                  <p:tgtEl>
                                    <p:spTgt spid="42"/>
                                  </p:tgtEl>
                                </p:cBhvr>
                              </p:animEffect>
                            </p:childTnLst>
                          </p:cTn>
                        </p:par>
                        <p:par>
                          <p:cTn id="1059" presetID="10" presetClass="entr" presetSubtype="0" fill="hold" grpId="0" nodeType="withEffect">
                            <p:stCondLst>
                              <p:cond delay="0"/>
                            </p:stCondLst>
                            <p:childTnLst>
                              <p:set>
                                <p:cBhvr>
                                  <p:cTn id="1060" dur="1" fill="hold">
                                    <p:stCondLst>
                                      <p:cond delay="0"/>
                                    </p:stCondLst>
                                  </p:cTn>
                                  <p:tgtEl>
                                    <p:spTgt spid="43"/>
                                  </p:tgtEl>
                                  <p:attrNameLst>
                                    <p:attrName>style.visibility</p:attrName>
                                  </p:attrNameLst>
                                </p:cBhvr>
                                <p:to>
                                  <p:strVal val="visible"/>
                                </p:to>
                              </p:set>
                              <p:animEffect transition="in" filter="fade">
                                <p:cBhvr>
                                  <p:cTn id="1061" dur="700"/>
                                  <p:tgtEl>
                                    <p:spTgt spid="43"/>
                                  </p:tgtEl>
                                </p:cBhvr>
                              </p:animEffect>
                            </p:childTnLst>
                          </p:cTn>
                        </p:par>
                        <p:par>
                          <p:cTn id="1062" presetID="10" presetClass="entr" presetSubtype="0" fill="hold" grpId="0" nodeType="withEffect">
                            <p:stCondLst>
                              <p:cond delay="0"/>
                            </p:stCondLst>
                            <p:childTnLst>
                              <p:set>
                                <p:cBhvr>
                                  <p:cTn id="1063" dur="1" fill="hold">
                                    <p:stCondLst>
                                      <p:cond delay="0"/>
                                    </p:stCondLst>
                                  </p:cTn>
                                  <p:tgtEl>
                                    <p:spTgt spid="44"/>
                                  </p:tgtEl>
                                  <p:attrNameLst>
                                    <p:attrName>style.visibility</p:attrName>
                                  </p:attrNameLst>
                                </p:cBhvr>
                                <p:to>
                                  <p:strVal val="visible"/>
                                </p:to>
                              </p:set>
                              <p:animEffect transition="in" filter="fade">
                                <p:cBhvr>
                                  <p:cTn id="1064" dur="700"/>
                                  <p:tgtEl>
                                    <p:spTgt spid="4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waveform.png"/>
          <p:cNvPicPr>
            <a:picLocks noChangeAspect="1"/>
          </p:cNvPicPr>
          <p:nvPr/>
        </p:nvPicPr>
        <p:blipFill>
          <a:blip r:embed="rId2"/>
          <a:stretch>
            <a:fillRect/>
          </a:stretch>
        </p:blipFill>
        <p:spPr>
          <a:xfrm>
            <a:off x="621792" y="402336"/>
            <a:ext cx="219456" cy="219456"/>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E1F8B"/>
                </a:solidFill>
                <a:latin typeface="Segoe UI"/>
              </a:rPr>
              <a:t>TIẾT 2 · TÌNH HUỐNG 2 — MỜI CẢ LỚP CÙNG XỬ LÍ</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Segoe UI"/>
              </a:rPr>
              <a:t>Tình huống 2: Bạn ốm trước buổi biểu diễn</a:t>
            </a:r>
          </a:p>
        </p:txBody>
      </p:sp>
      <p:sp>
        <p:nvSpPr>
          <p:cNvPr id="17" name="~hdrRounded Rectangle 16"/>
          <p:cNvSpPr/>
          <p:nvPr/>
        </p:nvSpPr>
        <p:spPr>
          <a:xfrm>
            <a:off x="608076" y="1408176"/>
            <a:ext cx="658368" cy="45720"/>
          </a:xfrm>
          <a:prstGeom prst="roundRect">
            <a:avLst>
              <a:gd name="adj" fmla="val 50000"/>
            </a:avLst>
          </a:prstGeom>
          <a:effectLst/>
          <a:solidFill>
            <a:srgbClr val="DE1F8B">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12</a:t>
            </a:r>
          </a:p>
        </p:txBody>
      </p:sp>
      <p:sp>
        <p:nvSpPr>
          <p:cNvPr id="24" name="Rounded Rectangle 23"/>
          <p:cNvSpPr/>
          <p:nvPr/>
        </p:nvSpPr>
        <p:spPr>
          <a:xfrm>
            <a:off x="603504" y="1600200"/>
            <a:ext cx="10984687" cy="1417320"/>
          </a:xfrm>
          <a:prstGeom prst="roundRect">
            <a:avLst>
              <a:gd name="adj" fmla="val 17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3789063" y="1685239"/>
            <a:ext cx="4613568" cy="14173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veform.png"/>
          <p:cNvPicPr>
            <a:picLocks noChangeAspect="1"/>
          </p:cNvPicPr>
          <p:nvPr/>
        </p:nvPicPr>
        <p:blipFill>
          <a:blip r:embed="rId2"/>
          <a:stretch>
            <a:fillRect/>
          </a:stretch>
        </p:blipFill>
        <p:spPr>
          <a:xfrm>
            <a:off x="859536" y="2002536"/>
            <a:ext cx="603504" cy="603504"/>
          </a:xfrm>
          <a:prstGeom prst="rect">
            <a:avLst/>
          </a:prstGeom>
        </p:spPr>
      </p:pic>
      <p:sp>
        <p:nvSpPr>
          <p:cNvPr id="27" name="TextBox 26"/>
          <p:cNvSpPr txBox="1"/>
          <p:nvPr/>
        </p:nvSpPr>
        <p:spPr>
          <a:xfrm>
            <a:off x="1700784" y="1819656"/>
            <a:ext cx="9521647" cy="960120"/>
          </a:xfrm>
          <a:prstGeom prst="rect">
            <a:avLst/>
          </a:prstGeom>
          <a:noFill/>
        </p:spPr>
        <p:txBody>
          <a:bodyPr wrap="square" anchor="t" lIns="0" rIns="0" tIns="0" bIns="0">
            <a:spAutoFit/>
          </a:bodyPr>
          <a:lstStyle/>
          <a:p>
            <a:pPr algn="l">
              <a:lnSpc>
                <a:spcPct val="134000"/>
              </a:lnSpc>
            </a:pPr>
            <a:r>
              <a:rPr sz="1350" b="1" i="0">
                <a:solidFill>
                  <a:srgbClr val="0A66E0"/>
                </a:solidFill>
                <a:latin typeface="Segoe UI"/>
              </a:rPr>
              <a:t>Tình huống:  </a:t>
            </a:r>
            <a:r>
              <a:rPr sz="1350" b="0" i="0">
                <a:solidFill>
                  <a:srgbClr val="101631"/>
                </a:solidFill>
                <a:latin typeface="Segoe UI"/>
              </a:rPr>
              <a:t>Nhóm em đang tập tiết mục văn nghệ chào mừng ngày Nhà giáo Việt Nam. Chỉ còn hai ngày nữa là biểu diễn thì Mai — người hát chính — bị ốm, phải nghỉ học.</a:t>
            </a:r>
          </a:p>
        </p:txBody>
      </p:sp>
      <p:sp>
        <p:nvSpPr>
          <p:cNvPr id="28" name="Rounded Rectangle 27"/>
          <p:cNvSpPr/>
          <p:nvPr/>
        </p:nvSpPr>
        <p:spPr>
          <a:xfrm>
            <a:off x="603504" y="3246120"/>
            <a:ext cx="7269480" cy="269748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rot="20880000">
            <a:off x="2711653" y="3407968"/>
            <a:ext cx="3053181" cy="269748"/>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3429000"/>
            <a:ext cx="6766560" cy="365760"/>
          </a:xfrm>
          <a:prstGeom prst="rect">
            <a:avLst/>
          </a:prstGeom>
          <a:noFill/>
        </p:spPr>
        <p:txBody>
          <a:bodyPr wrap="square" anchor="t" lIns="0" rIns="0" tIns="0" bIns="0">
            <a:spAutoFit/>
          </a:bodyPr>
          <a:lstStyle/>
          <a:p>
            <a:pPr algn="l"/>
            <a:r>
              <a:rPr sz="1450" b="1" i="0">
                <a:solidFill>
                  <a:srgbClr val="101631"/>
                </a:solidFill>
                <a:latin typeface="Segoe UI"/>
              </a:rPr>
              <a:t>Cách nhóm em định xử lí — các bạn bổ sung nhé!</a:t>
            </a:r>
          </a:p>
        </p:txBody>
      </p:sp>
      <p:sp>
        <p:nvSpPr>
          <p:cNvPr id="31" name="Oval 30"/>
          <p:cNvSpPr/>
          <p:nvPr/>
        </p:nvSpPr>
        <p:spPr>
          <a:xfrm>
            <a:off x="850392" y="3849624"/>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Segoe UI"/>
              </a:rPr>
              <a:t>1</a:t>
            </a:r>
          </a:p>
        </p:txBody>
      </p:sp>
      <p:sp>
        <p:nvSpPr>
          <p:cNvPr id="32" name="TextBox 31"/>
          <p:cNvSpPr txBox="1"/>
          <p:nvPr/>
        </p:nvSpPr>
        <p:spPr>
          <a:xfrm>
            <a:off x="1517904" y="3941064"/>
            <a:ext cx="6217920" cy="713232"/>
          </a:xfrm>
          <a:prstGeom prst="rect">
            <a:avLst/>
          </a:prstGeom>
          <a:noFill/>
        </p:spPr>
        <p:txBody>
          <a:bodyPr wrap="square" anchor="t" lIns="0" rIns="0" tIns="0" bIns="0">
            <a:spAutoFit/>
          </a:bodyPr>
          <a:lstStyle/>
          <a:p>
            <a:pPr algn="l">
              <a:lnSpc>
                <a:spcPct val="122000"/>
              </a:lnSpc>
            </a:pPr>
            <a:r>
              <a:rPr sz="1200" b="0" i="0">
                <a:solidFill>
                  <a:srgbClr val="4E5879"/>
                </a:solidFill>
                <a:latin typeface="Segoe UI"/>
              </a:rPr>
              <a:t>Thăm hỏi, động viên Mai mau khỏi ốm; trấn an để bạn không phải lo lắng hay thấy có lỗi với nhóm.</a:t>
            </a:r>
          </a:p>
        </p:txBody>
      </p:sp>
      <p:sp>
        <p:nvSpPr>
          <p:cNvPr id="33" name="Oval 32"/>
          <p:cNvSpPr/>
          <p:nvPr/>
        </p:nvSpPr>
        <p:spPr>
          <a:xfrm>
            <a:off x="850392" y="4489704"/>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Segoe UI"/>
              </a:rPr>
              <a:t>2</a:t>
            </a:r>
          </a:p>
        </p:txBody>
      </p:sp>
      <p:sp>
        <p:nvSpPr>
          <p:cNvPr id="34" name="TextBox 33"/>
          <p:cNvSpPr txBox="1"/>
          <p:nvPr/>
        </p:nvSpPr>
        <p:spPr>
          <a:xfrm>
            <a:off x="1517904" y="4581144"/>
            <a:ext cx="6217920" cy="713232"/>
          </a:xfrm>
          <a:prstGeom prst="rect">
            <a:avLst/>
          </a:prstGeom>
          <a:noFill/>
        </p:spPr>
        <p:txBody>
          <a:bodyPr wrap="square" anchor="t" lIns="0" rIns="0" tIns="0" bIns="0">
            <a:spAutoFit/>
          </a:bodyPr>
          <a:lstStyle/>
          <a:p>
            <a:pPr algn="l">
              <a:lnSpc>
                <a:spcPct val="122000"/>
              </a:lnSpc>
            </a:pPr>
            <a:r>
              <a:rPr sz="1200" b="0" i="0">
                <a:solidFill>
                  <a:srgbClr val="4E5879"/>
                </a:solidFill>
                <a:latin typeface="Segoe UI"/>
              </a:rPr>
              <a:t>Họp khẩn cả nhóm: rà soát phần Mai đảm nhận, điều chỉnh tiết mục cho phù hợp (đổi người hát hoặc đổi tiết mục).</a:t>
            </a:r>
          </a:p>
        </p:txBody>
      </p:sp>
      <p:sp>
        <p:nvSpPr>
          <p:cNvPr id="35" name="Oval 34"/>
          <p:cNvSpPr/>
          <p:nvPr/>
        </p:nvSpPr>
        <p:spPr>
          <a:xfrm>
            <a:off x="850392" y="5129784"/>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Segoe UI"/>
              </a:rPr>
              <a:t>3</a:t>
            </a:r>
          </a:p>
        </p:txBody>
      </p:sp>
      <p:sp>
        <p:nvSpPr>
          <p:cNvPr id="36" name="TextBox 35"/>
          <p:cNvSpPr txBox="1"/>
          <p:nvPr/>
        </p:nvSpPr>
        <p:spPr>
          <a:xfrm>
            <a:off x="1517904" y="5221224"/>
            <a:ext cx="6217920" cy="713232"/>
          </a:xfrm>
          <a:prstGeom prst="rect">
            <a:avLst/>
          </a:prstGeom>
          <a:noFill/>
        </p:spPr>
        <p:txBody>
          <a:bodyPr wrap="square" anchor="t" lIns="0" rIns="0" tIns="0" bIns="0">
            <a:spAutoFit/>
          </a:bodyPr>
          <a:lstStyle/>
          <a:p>
            <a:pPr algn="l">
              <a:lnSpc>
                <a:spcPct val="122000"/>
              </a:lnSpc>
            </a:pPr>
            <a:r>
              <a:rPr sz="1200" b="0" i="0">
                <a:solidFill>
                  <a:srgbClr val="4E5879"/>
                </a:solidFill>
                <a:latin typeface="Segoe UI"/>
              </a:rPr>
              <a:t>Tập luyện lại với đội hình mới, nhờ thầy cô góp ý nếu cần; sau buổi diễn cử bạn thăm và báo kết quả cho Mai.</a:t>
            </a:r>
          </a:p>
        </p:txBody>
      </p:sp>
      <p:sp>
        <p:nvSpPr>
          <p:cNvPr id="37" name="Rounded Rectangle 36"/>
          <p:cNvSpPr/>
          <p:nvPr/>
        </p:nvSpPr>
        <p:spPr>
          <a:xfrm>
            <a:off x="8101583" y="3246120"/>
            <a:ext cx="3483864" cy="1298448"/>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rot="20880000">
            <a:off x="9111904" y="3324026"/>
            <a:ext cx="1463222" cy="12984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bubble-pair-fill.png"/>
          <p:cNvPicPr>
            <a:picLocks noChangeAspect="1"/>
          </p:cNvPicPr>
          <p:nvPr/>
        </p:nvPicPr>
        <p:blipFill>
          <a:blip r:embed="rId3"/>
          <a:stretch>
            <a:fillRect/>
          </a:stretch>
        </p:blipFill>
        <p:spPr>
          <a:xfrm>
            <a:off x="8302752" y="3474387"/>
            <a:ext cx="384048" cy="293273"/>
          </a:xfrm>
          <a:prstGeom prst="rect">
            <a:avLst/>
          </a:prstGeom>
        </p:spPr>
      </p:pic>
      <p:sp>
        <p:nvSpPr>
          <p:cNvPr id="40" name="TextBox 39"/>
          <p:cNvSpPr txBox="1"/>
          <p:nvPr/>
        </p:nvSpPr>
        <p:spPr>
          <a:xfrm>
            <a:off x="8814815" y="3429000"/>
            <a:ext cx="2651760"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Segoe UI"/>
              </a:rPr>
              <a:t>Bàn cùng cả lớp</a:t>
            </a:r>
          </a:p>
          <a:p>
            <a:pPr algn="l">
              <a:lnSpc>
                <a:spcPct val="120000"/>
              </a:lnSpc>
            </a:pPr>
            <a:r>
              <a:rPr sz="1050" b="0" i="0">
                <a:solidFill>
                  <a:srgbClr val="4E5879"/>
                </a:solidFill>
                <a:latin typeface="Segoe UI"/>
              </a:rPr>
              <a:t>Tinh thần quan trọng nhất của cả nhóm lúc này là gì? Làm sao để Mai không thấy áy náy?</a:t>
            </a:r>
          </a:p>
        </p:txBody>
      </p:sp>
      <p:sp>
        <p:nvSpPr>
          <p:cNvPr id="41" name="Rounded Rectangle 40"/>
          <p:cNvSpPr/>
          <p:nvPr/>
        </p:nvSpPr>
        <p:spPr>
          <a:xfrm>
            <a:off x="8101583" y="4690872"/>
            <a:ext cx="3483864" cy="1252728"/>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rot="20880000">
            <a:off x="9111904" y="4766035"/>
            <a:ext cx="1463222" cy="12527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bolt-fill.png"/>
          <p:cNvPicPr>
            <a:picLocks noChangeAspect="1"/>
          </p:cNvPicPr>
          <p:nvPr/>
        </p:nvPicPr>
        <p:blipFill>
          <a:blip r:embed="rId4"/>
          <a:stretch>
            <a:fillRect/>
          </a:stretch>
        </p:blipFill>
        <p:spPr>
          <a:xfrm>
            <a:off x="8342943" y="4873752"/>
            <a:ext cx="303665" cy="384048"/>
          </a:xfrm>
          <a:prstGeom prst="rect">
            <a:avLst/>
          </a:prstGeom>
        </p:spPr>
      </p:pic>
      <p:sp>
        <p:nvSpPr>
          <p:cNvPr id="44" name="TextBox 43"/>
          <p:cNvSpPr txBox="1"/>
          <p:nvPr/>
        </p:nvSpPr>
        <p:spPr>
          <a:xfrm>
            <a:off x="8814815" y="4855464"/>
            <a:ext cx="2651760" cy="960120"/>
          </a:xfrm>
          <a:prstGeom prst="rect">
            <a:avLst/>
          </a:prstGeom>
          <a:noFill/>
        </p:spPr>
        <p:txBody>
          <a:bodyPr wrap="square" anchor="t" lIns="0" rIns="0" tIns="0" bIns="0">
            <a:spAutoFit/>
          </a:bodyPr>
          <a:lstStyle/>
          <a:p>
            <a:pPr algn="l">
              <a:spcAft>
                <a:spcPts val="400"/>
              </a:spcAft>
            </a:pPr>
            <a:r>
              <a:rPr sz="1250" b="1" i="0">
                <a:solidFill>
                  <a:srgbClr val="101631"/>
                </a:solidFill>
                <a:latin typeface="Segoe UI"/>
              </a:rPr>
              <a:t>Chúng em vận dụng</a:t>
            </a:r>
          </a:p>
          <a:p>
            <a:pPr algn="l">
              <a:lnSpc>
                <a:spcPct val="120000"/>
              </a:lnSpc>
            </a:pPr>
            <a:r>
              <a:rPr sz="1050" b="0" i="0">
                <a:solidFill>
                  <a:srgbClr val="4E5879"/>
                </a:solidFill>
                <a:latin typeface="Segoe UI"/>
              </a:rPr>
              <a:t>quan tâm, chia sẻ · linh hoạt · trách nhiệm với nhau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40"/>
                                  </p:tgtEl>
                                  <p:attrNameLst>
                                    <p:attrName>style.visibility</p:attrName>
                                  </p:attrNameLst>
                                </p:cBhvr>
                                <p:to>
                                  <p:strVal val="visible"/>
                                </p:to>
                              </p:set>
                              <p:animEffect transition="in" filter="fade">
                                <p:cBhvr>
                                  <p:cTn id="1052" dur="700"/>
                                  <p:tgtEl>
                                    <p:spTgt spid="4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41"/>
                                  </p:tgtEl>
                                  <p:attrNameLst>
                                    <p:attrName>style.visibility</p:attrName>
                                  </p:attrNameLst>
                                </p:cBhvr>
                                <p:to>
                                  <p:strVal val="visible"/>
                                </p:to>
                              </p:set>
                              <p:animEffect transition="in" filter="fade">
                                <p:cBhvr>
                                  <p:cTn id="1055" dur="700"/>
                                  <p:tgtEl>
                                    <p:spTgt spid="41"/>
                                  </p:tgtEl>
                                </p:cBhvr>
                              </p:animEffect>
                            </p:childTnLst>
                          </p:cTn>
                        </p:par>
                        <p:par>
                          <p:cTn id="1056" presetID="10" presetClass="entr" presetSubtype="0" fill="hold" grpId="0" nodeType="withEffect">
                            <p:stCondLst>
                              <p:cond delay="0"/>
                            </p:stCondLst>
                            <p:childTnLst>
                              <p:set>
                                <p:cBhvr>
                                  <p:cTn id="1057" dur="1" fill="hold">
                                    <p:stCondLst>
                                      <p:cond delay="0"/>
                                    </p:stCondLst>
                                  </p:cTn>
                                  <p:tgtEl>
                                    <p:spTgt spid="42"/>
                                  </p:tgtEl>
                                  <p:attrNameLst>
                                    <p:attrName>style.visibility</p:attrName>
                                  </p:attrNameLst>
                                </p:cBhvr>
                                <p:to>
                                  <p:strVal val="visible"/>
                                </p:to>
                              </p:set>
                              <p:animEffect transition="in" filter="fade">
                                <p:cBhvr>
                                  <p:cTn id="1058" dur="700"/>
                                  <p:tgtEl>
                                    <p:spTgt spid="42"/>
                                  </p:tgtEl>
                                </p:cBhvr>
                              </p:animEffect>
                            </p:childTnLst>
                          </p:cTn>
                        </p:par>
                        <p:par>
                          <p:cTn id="1059" presetID="10" presetClass="entr" presetSubtype="0" fill="hold" grpId="0" nodeType="withEffect">
                            <p:stCondLst>
                              <p:cond delay="0"/>
                            </p:stCondLst>
                            <p:childTnLst>
                              <p:set>
                                <p:cBhvr>
                                  <p:cTn id="1060" dur="1" fill="hold">
                                    <p:stCondLst>
                                      <p:cond delay="0"/>
                                    </p:stCondLst>
                                  </p:cTn>
                                  <p:tgtEl>
                                    <p:spTgt spid="43"/>
                                  </p:tgtEl>
                                  <p:attrNameLst>
                                    <p:attrName>style.visibility</p:attrName>
                                  </p:attrNameLst>
                                </p:cBhvr>
                                <p:to>
                                  <p:strVal val="visible"/>
                                </p:to>
                              </p:set>
                              <p:animEffect transition="in" filter="fade">
                                <p:cBhvr>
                                  <p:cTn id="1061" dur="700"/>
                                  <p:tgtEl>
                                    <p:spTgt spid="43"/>
                                  </p:tgtEl>
                                </p:cBhvr>
                              </p:animEffect>
                            </p:childTnLst>
                          </p:cTn>
                        </p:par>
                        <p:par>
                          <p:cTn id="1062" presetID="10" presetClass="entr" presetSubtype="0" fill="hold" grpId="0" nodeType="withEffect">
                            <p:stCondLst>
                              <p:cond delay="0"/>
                            </p:stCondLst>
                            <p:childTnLst>
                              <p:set>
                                <p:cBhvr>
                                  <p:cTn id="1063" dur="1" fill="hold">
                                    <p:stCondLst>
                                      <p:cond delay="0"/>
                                    </p:stCondLst>
                                  </p:cTn>
                                  <p:tgtEl>
                                    <p:spTgt spid="44"/>
                                  </p:tgtEl>
                                  <p:attrNameLst>
                                    <p:attrName>style.visibility</p:attrName>
                                  </p:attrNameLst>
                                </p:cBhvr>
                                <p:to>
                                  <p:strVal val="visible"/>
                                </p:to>
                              </p:set>
                              <p:animEffect transition="in" filter="fade">
                                <p:cBhvr>
                                  <p:cTn id="1064" dur="700"/>
                                  <p:tgtEl>
                                    <p:spTgt spid="4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badge-plus.png"/>
          <p:cNvPicPr>
            <a:picLocks noChangeAspect="1"/>
          </p:cNvPicPr>
          <p:nvPr/>
        </p:nvPicPr>
        <p:blipFill>
          <a:blip r:embed="rId2"/>
          <a:stretch>
            <a:fillRect/>
          </a:stretch>
        </p:blipFill>
        <p:spPr>
          <a:xfrm>
            <a:off x="621792" y="412089"/>
            <a:ext cx="219456" cy="199948"/>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Segoe UI"/>
              </a:rPr>
              <a:t>TIẾT 2 · TÌNH HUỐNG 3 — MỜI CẢ LỚP CÙNG XỬ LÍ</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Segoe UI"/>
              </a:rPr>
              <a:t>Tình huống 3: Bạn mới chuyển đến lớp</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13</a:t>
            </a:r>
          </a:p>
        </p:txBody>
      </p:sp>
      <p:sp>
        <p:nvSpPr>
          <p:cNvPr id="24" name="Rounded Rectangle 23"/>
          <p:cNvSpPr/>
          <p:nvPr/>
        </p:nvSpPr>
        <p:spPr>
          <a:xfrm>
            <a:off x="603504" y="1600200"/>
            <a:ext cx="10984687" cy="1417320"/>
          </a:xfrm>
          <a:prstGeom prst="roundRect">
            <a:avLst>
              <a:gd name="adj" fmla="val 17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3789063" y="1685239"/>
            <a:ext cx="4613568" cy="14173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rson-badge-plus.png"/>
          <p:cNvPicPr>
            <a:picLocks noChangeAspect="1"/>
          </p:cNvPicPr>
          <p:nvPr/>
        </p:nvPicPr>
        <p:blipFill>
          <a:blip r:embed="rId2"/>
          <a:stretch>
            <a:fillRect/>
          </a:stretch>
        </p:blipFill>
        <p:spPr>
          <a:xfrm>
            <a:off x="859536" y="2029358"/>
            <a:ext cx="603504" cy="549859"/>
          </a:xfrm>
          <a:prstGeom prst="rect">
            <a:avLst/>
          </a:prstGeom>
        </p:spPr>
      </p:pic>
      <p:sp>
        <p:nvSpPr>
          <p:cNvPr id="27" name="TextBox 26"/>
          <p:cNvSpPr txBox="1"/>
          <p:nvPr/>
        </p:nvSpPr>
        <p:spPr>
          <a:xfrm>
            <a:off x="1700784" y="1819656"/>
            <a:ext cx="9521647" cy="960120"/>
          </a:xfrm>
          <a:prstGeom prst="rect">
            <a:avLst/>
          </a:prstGeom>
          <a:noFill/>
        </p:spPr>
        <p:txBody>
          <a:bodyPr wrap="square" anchor="t" lIns="0" rIns="0" tIns="0" bIns="0">
            <a:spAutoFit/>
          </a:bodyPr>
          <a:lstStyle/>
          <a:p>
            <a:pPr algn="l">
              <a:lnSpc>
                <a:spcPct val="134000"/>
              </a:lnSpc>
            </a:pPr>
            <a:r>
              <a:rPr sz="1350" b="1" i="0">
                <a:solidFill>
                  <a:srgbClr val="0A66E0"/>
                </a:solidFill>
                <a:latin typeface="Segoe UI"/>
              </a:rPr>
              <a:t>Tình huống:  </a:t>
            </a:r>
            <a:r>
              <a:rPr sz="1350" b="0" i="0">
                <a:solidFill>
                  <a:srgbClr val="101631"/>
                </a:solidFill>
                <a:latin typeface="Segoe UI"/>
              </a:rPr>
              <a:t>Có bạn mới chuyển đến lớp em. Bạn còn nhút nhát, ít nói, ngại tham gia các hoạt động chung cùng các bạn.</a:t>
            </a:r>
          </a:p>
        </p:txBody>
      </p:sp>
      <p:sp>
        <p:nvSpPr>
          <p:cNvPr id="28" name="Rounded Rectangle 27"/>
          <p:cNvSpPr/>
          <p:nvPr/>
        </p:nvSpPr>
        <p:spPr>
          <a:xfrm>
            <a:off x="603504" y="3246120"/>
            <a:ext cx="7269480" cy="269748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rot="20880000">
            <a:off x="2711653" y="3407968"/>
            <a:ext cx="3053181" cy="269748"/>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3429000"/>
            <a:ext cx="6766560" cy="365760"/>
          </a:xfrm>
          <a:prstGeom prst="rect">
            <a:avLst/>
          </a:prstGeom>
          <a:noFill/>
        </p:spPr>
        <p:txBody>
          <a:bodyPr wrap="square" anchor="t" lIns="0" rIns="0" tIns="0" bIns="0">
            <a:spAutoFit/>
          </a:bodyPr>
          <a:lstStyle/>
          <a:p>
            <a:pPr algn="l"/>
            <a:r>
              <a:rPr sz="1450" b="1" i="0">
                <a:solidFill>
                  <a:srgbClr val="101631"/>
                </a:solidFill>
                <a:latin typeface="Segoe UI"/>
              </a:rPr>
              <a:t>Cách nhóm em định xử lí — các bạn bổ sung nhé!</a:t>
            </a:r>
          </a:p>
        </p:txBody>
      </p:sp>
      <p:sp>
        <p:nvSpPr>
          <p:cNvPr id="31" name="Oval 30"/>
          <p:cNvSpPr/>
          <p:nvPr/>
        </p:nvSpPr>
        <p:spPr>
          <a:xfrm>
            <a:off x="850392" y="3849624"/>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Segoe UI"/>
              </a:rPr>
              <a:t>1</a:t>
            </a:r>
          </a:p>
        </p:txBody>
      </p:sp>
      <p:sp>
        <p:nvSpPr>
          <p:cNvPr id="32" name="TextBox 31"/>
          <p:cNvSpPr txBox="1"/>
          <p:nvPr/>
        </p:nvSpPr>
        <p:spPr>
          <a:xfrm>
            <a:off x="1517904" y="3941064"/>
            <a:ext cx="6217920" cy="713232"/>
          </a:xfrm>
          <a:prstGeom prst="rect">
            <a:avLst/>
          </a:prstGeom>
          <a:noFill/>
        </p:spPr>
        <p:txBody>
          <a:bodyPr wrap="square" anchor="t" lIns="0" rIns="0" tIns="0" bIns="0">
            <a:spAutoFit/>
          </a:bodyPr>
          <a:lstStyle/>
          <a:p>
            <a:pPr algn="l">
              <a:lnSpc>
                <a:spcPct val="122000"/>
              </a:lnSpc>
            </a:pPr>
            <a:r>
              <a:rPr sz="1200" b="0" i="0">
                <a:solidFill>
                  <a:srgbClr val="4E5879"/>
                </a:solidFill>
                <a:latin typeface="Segoe UI"/>
              </a:rPr>
              <a:t>Chủ động làm quen: chào hỏi, giới thiệu bản thân, rủ bạn chơi trong giờ giải lao.</a:t>
            </a:r>
          </a:p>
        </p:txBody>
      </p:sp>
      <p:sp>
        <p:nvSpPr>
          <p:cNvPr id="33" name="Oval 32"/>
          <p:cNvSpPr/>
          <p:nvPr/>
        </p:nvSpPr>
        <p:spPr>
          <a:xfrm>
            <a:off x="850392" y="4489704"/>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Segoe UI"/>
              </a:rPr>
              <a:t>2</a:t>
            </a:r>
          </a:p>
        </p:txBody>
      </p:sp>
      <p:sp>
        <p:nvSpPr>
          <p:cNvPr id="34" name="TextBox 33"/>
          <p:cNvSpPr txBox="1"/>
          <p:nvPr/>
        </p:nvSpPr>
        <p:spPr>
          <a:xfrm>
            <a:off x="1517904" y="4581144"/>
            <a:ext cx="6217920" cy="713232"/>
          </a:xfrm>
          <a:prstGeom prst="rect">
            <a:avLst/>
          </a:prstGeom>
          <a:noFill/>
        </p:spPr>
        <p:txBody>
          <a:bodyPr wrap="square" anchor="t" lIns="0" rIns="0" tIns="0" bIns="0">
            <a:spAutoFit/>
          </a:bodyPr>
          <a:lstStyle/>
          <a:p>
            <a:pPr algn="l">
              <a:lnSpc>
                <a:spcPct val="122000"/>
              </a:lnSpc>
            </a:pPr>
            <a:r>
              <a:rPr sz="1200" b="0" i="0">
                <a:solidFill>
                  <a:srgbClr val="4E5879"/>
                </a:solidFill>
                <a:latin typeface="Segoe UI"/>
              </a:rPr>
              <a:t>Giúp bạn bắt nhịp việc học: hỏi thăm, cho mượn vở, rủ bạn học nhóm; không trêu chọc, không để bạn đơn độc.</a:t>
            </a:r>
          </a:p>
        </p:txBody>
      </p:sp>
      <p:sp>
        <p:nvSpPr>
          <p:cNvPr id="35" name="Oval 34"/>
          <p:cNvSpPr/>
          <p:nvPr/>
        </p:nvSpPr>
        <p:spPr>
          <a:xfrm>
            <a:off x="850392" y="5129784"/>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Segoe UI"/>
              </a:rPr>
              <a:t>3</a:t>
            </a:r>
          </a:p>
        </p:txBody>
      </p:sp>
      <p:sp>
        <p:nvSpPr>
          <p:cNvPr id="36" name="TextBox 35"/>
          <p:cNvSpPr txBox="1"/>
          <p:nvPr/>
        </p:nvSpPr>
        <p:spPr>
          <a:xfrm>
            <a:off x="1517904" y="5221224"/>
            <a:ext cx="6217920" cy="713232"/>
          </a:xfrm>
          <a:prstGeom prst="rect">
            <a:avLst/>
          </a:prstGeom>
          <a:noFill/>
        </p:spPr>
        <p:txBody>
          <a:bodyPr wrap="square" anchor="t" lIns="0" rIns="0" tIns="0" bIns="0">
            <a:spAutoFit/>
          </a:bodyPr>
          <a:lstStyle/>
          <a:p>
            <a:pPr algn="l">
              <a:lnSpc>
                <a:spcPct val="122000"/>
              </a:lnSpc>
            </a:pPr>
            <a:r>
              <a:rPr sz="1200" b="0" i="0">
                <a:solidFill>
                  <a:srgbClr val="4E5879"/>
                </a:solidFill>
                <a:latin typeface="Segoe UI"/>
              </a:rPr>
              <a:t>Rủ bạn tham gia từ những việc nhỏ: trực nhật, thể thao, tập tiết mục… để bạn tự tin dần.</a:t>
            </a:r>
          </a:p>
        </p:txBody>
      </p:sp>
      <p:sp>
        <p:nvSpPr>
          <p:cNvPr id="37" name="Rounded Rectangle 36"/>
          <p:cNvSpPr/>
          <p:nvPr/>
        </p:nvSpPr>
        <p:spPr>
          <a:xfrm>
            <a:off x="8101583" y="3246120"/>
            <a:ext cx="3483864" cy="1298448"/>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rot="20880000">
            <a:off x="9111904" y="3324026"/>
            <a:ext cx="1463222" cy="12984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bubble-pair-fill.png"/>
          <p:cNvPicPr>
            <a:picLocks noChangeAspect="1"/>
          </p:cNvPicPr>
          <p:nvPr/>
        </p:nvPicPr>
        <p:blipFill>
          <a:blip r:embed="rId3"/>
          <a:stretch>
            <a:fillRect/>
          </a:stretch>
        </p:blipFill>
        <p:spPr>
          <a:xfrm>
            <a:off x="8302752" y="3474387"/>
            <a:ext cx="384048" cy="293273"/>
          </a:xfrm>
          <a:prstGeom prst="rect">
            <a:avLst/>
          </a:prstGeom>
        </p:spPr>
      </p:pic>
      <p:sp>
        <p:nvSpPr>
          <p:cNvPr id="40" name="TextBox 39"/>
          <p:cNvSpPr txBox="1"/>
          <p:nvPr/>
        </p:nvSpPr>
        <p:spPr>
          <a:xfrm>
            <a:off x="8814815" y="3429000"/>
            <a:ext cx="2651760"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Segoe UI"/>
              </a:rPr>
              <a:t>Bàn cùng cả lớp</a:t>
            </a:r>
          </a:p>
          <a:p>
            <a:pPr algn="l">
              <a:lnSpc>
                <a:spcPct val="120000"/>
              </a:lnSpc>
            </a:pPr>
            <a:r>
              <a:rPr sz="1050" b="0" i="0">
                <a:solidFill>
                  <a:srgbClr val="4E5879"/>
                </a:solidFill>
                <a:latin typeface="Segoe UI"/>
              </a:rPr>
              <a:t>Nếu mình là bạn mới đó, mình muốn được đón nhận như thế nào?</a:t>
            </a:r>
          </a:p>
        </p:txBody>
      </p:sp>
      <p:sp>
        <p:nvSpPr>
          <p:cNvPr id="41" name="Rounded Rectangle 40"/>
          <p:cNvSpPr/>
          <p:nvPr/>
        </p:nvSpPr>
        <p:spPr>
          <a:xfrm>
            <a:off x="8101583" y="4690872"/>
            <a:ext cx="3483864" cy="1252728"/>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rot="20880000">
            <a:off x="9111904" y="4766035"/>
            <a:ext cx="1463222" cy="12527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bolt-fill.png"/>
          <p:cNvPicPr>
            <a:picLocks noChangeAspect="1"/>
          </p:cNvPicPr>
          <p:nvPr/>
        </p:nvPicPr>
        <p:blipFill>
          <a:blip r:embed="rId4"/>
          <a:stretch>
            <a:fillRect/>
          </a:stretch>
        </p:blipFill>
        <p:spPr>
          <a:xfrm>
            <a:off x="8342943" y="4873752"/>
            <a:ext cx="303665" cy="384048"/>
          </a:xfrm>
          <a:prstGeom prst="rect">
            <a:avLst/>
          </a:prstGeom>
        </p:spPr>
      </p:pic>
      <p:sp>
        <p:nvSpPr>
          <p:cNvPr id="44" name="TextBox 43"/>
          <p:cNvSpPr txBox="1"/>
          <p:nvPr/>
        </p:nvSpPr>
        <p:spPr>
          <a:xfrm>
            <a:off x="8814815" y="4855464"/>
            <a:ext cx="2651760" cy="960120"/>
          </a:xfrm>
          <a:prstGeom prst="rect">
            <a:avLst/>
          </a:prstGeom>
          <a:noFill/>
        </p:spPr>
        <p:txBody>
          <a:bodyPr wrap="square" anchor="t" lIns="0" rIns="0" tIns="0" bIns="0">
            <a:spAutoFit/>
          </a:bodyPr>
          <a:lstStyle/>
          <a:p>
            <a:pPr algn="l">
              <a:spcAft>
                <a:spcPts val="400"/>
              </a:spcAft>
            </a:pPr>
            <a:r>
              <a:rPr sz="1250" b="1" i="0">
                <a:solidFill>
                  <a:srgbClr val="101631"/>
                </a:solidFill>
                <a:latin typeface="Segoe UI"/>
              </a:rPr>
              <a:t>Chúng em vận dụng</a:t>
            </a:r>
          </a:p>
          <a:p>
            <a:pPr algn="l">
              <a:lnSpc>
                <a:spcPct val="120000"/>
              </a:lnSpc>
            </a:pPr>
            <a:r>
              <a:rPr sz="1050" b="0" i="0">
                <a:solidFill>
                  <a:srgbClr val="4E5879"/>
                </a:solidFill>
                <a:latin typeface="Segoe UI"/>
              </a:rPr>
              <a:t>cởi mở, kiên nhẫn · đồng cảm · tạo cảm giác an toàn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40"/>
                                  </p:tgtEl>
                                  <p:attrNameLst>
                                    <p:attrName>style.visibility</p:attrName>
                                  </p:attrNameLst>
                                </p:cBhvr>
                                <p:to>
                                  <p:strVal val="visible"/>
                                </p:to>
                              </p:set>
                              <p:animEffect transition="in" filter="fade">
                                <p:cBhvr>
                                  <p:cTn id="1052" dur="700"/>
                                  <p:tgtEl>
                                    <p:spTgt spid="4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41"/>
                                  </p:tgtEl>
                                  <p:attrNameLst>
                                    <p:attrName>style.visibility</p:attrName>
                                  </p:attrNameLst>
                                </p:cBhvr>
                                <p:to>
                                  <p:strVal val="visible"/>
                                </p:to>
                              </p:set>
                              <p:animEffect transition="in" filter="fade">
                                <p:cBhvr>
                                  <p:cTn id="1055" dur="700"/>
                                  <p:tgtEl>
                                    <p:spTgt spid="41"/>
                                  </p:tgtEl>
                                </p:cBhvr>
                              </p:animEffect>
                            </p:childTnLst>
                          </p:cTn>
                        </p:par>
                        <p:par>
                          <p:cTn id="1056" presetID="10" presetClass="entr" presetSubtype="0" fill="hold" grpId="0" nodeType="withEffect">
                            <p:stCondLst>
                              <p:cond delay="0"/>
                            </p:stCondLst>
                            <p:childTnLst>
                              <p:set>
                                <p:cBhvr>
                                  <p:cTn id="1057" dur="1" fill="hold">
                                    <p:stCondLst>
                                      <p:cond delay="0"/>
                                    </p:stCondLst>
                                  </p:cTn>
                                  <p:tgtEl>
                                    <p:spTgt spid="42"/>
                                  </p:tgtEl>
                                  <p:attrNameLst>
                                    <p:attrName>style.visibility</p:attrName>
                                  </p:attrNameLst>
                                </p:cBhvr>
                                <p:to>
                                  <p:strVal val="visible"/>
                                </p:to>
                              </p:set>
                              <p:animEffect transition="in" filter="fade">
                                <p:cBhvr>
                                  <p:cTn id="1058" dur="700"/>
                                  <p:tgtEl>
                                    <p:spTgt spid="42"/>
                                  </p:tgtEl>
                                </p:cBhvr>
                              </p:animEffect>
                            </p:childTnLst>
                          </p:cTn>
                        </p:par>
                        <p:par>
                          <p:cTn id="1059" presetID="10" presetClass="entr" presetSubtype="0" fill="hold" grpId="0" nodeType="withEffect">
                            <p:stCondLst>
                              <p:cond delay="0"/>
                            </p:stCondLst>
                            <p:childTnLst>
                              <p:set>
                                <p:cBhvr>
                                  <p:cTn id="1060" dur="1" fill="hold">
                                    <p:stCondLst>
                                      <p:cond delay="0"/>
                                    </p:stCondLst>
                                  </p:cTn>
                                  <p:tgtEl>
                                    <p:spTgt spid="43"/>
                                  </p:tgtEl>
                                  <p:attrNameLst>
                                    <p:attrName>style.visibility</p:attrName>
                                  </p:attrNameLst>
                                </p:cBhvr>
                                <p:to>
                                  <p:strVal val="visible"/>
                                </p:to>
                              </p:set>
                              <p:animEffect transition="in" filter="fade">
                                <p:cBhvr>
                                  <p:cTn id="1061" dur="700"/>
                                  <p:tgtEl>
                                    <p:spTgt spid="43"/>
                                  </p:tgtEl>
                                </p:cBhvr>
                              </p:animEffect>
                            </p:childTnLst>
                          </p:cTn>
                        </p:par>
                        <p:par>
                          <p:cTn id="1062" presetID="10" presetClass="entr" presetSubtype="0" fill="hold" grpId="0" nodeType="withEffect">
                            <p:stCondLst>
                              <p:cond delay="0"/>
                            </p:stCondLst>
                            <p:childTnLst>
                              <p:set>
                                <p:cBhvr>
                                  <p:cTn id="1063" dur="1" fill="hold">
                                    <p:stCondLst>
                                      <p:cond delay="0"/>
                                    </p:stCondLst>
                                  </p:cTn>
                                  <p:tgtEl>
                                    <p:spTgt spid="44"/>
                                  </p:tgtEl>
                                  <p:attrNameLst>
                                    <p:attrName>style.visibility</p:attrName>
                                  </p:attrNameLst>
                                </p:cBhvr>
                                <p:to>
                                  <p:strVal val="visible"/>
                                </p:to>
                              </p:set>
                              <p:animEffect transition="in" filter="fade">
                                <p:cBhvr>
                                  <p:cTn id="1064" dur="700"/>
                                  <p:tgtEl>
                                    <p:spTgt spid="4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rectangle-3-offgrid-fill.png"/>
          <p:cNvPicPr>
            <a:picLocks noChangeAspect="1"/>
          </p:cNvPicPr>
          <p:nvPr/>
        </p:nvPicPr>
        <p:blipFill>
          <a:blip r:embed="rId2"/>
          <a:stretch>
            <a:fillRect/>
          </a:stretch>
        </p:blipFill>
        <p:spPr>
          <a:xfrm>
            <a:off x="621792" y="442237"/>
            <a:ext cx="219456" cy="13965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5A54D6"/>
                </a:solidFill>
                <a:latin typeface="Segoe UI"/>
              </a:rPr>
              <a:t>TIẾT 2 · KỊCH BẢN CỦA NHÓM EM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500" b="1" i="0" spc="20">
                <a:solidFill>
                  <a:srgbClr val="101631"/>
                </a:solidFill>
                <a:latin typeface="Segoe UI"/>
              </a:rPr>
              <a:t>Kịch bản mẫu — “Giờ thực hành nhóm 3”</a:t>
            </a:r>
          </a:p>
        </p:txBody>
      </p:sp>
      <p:sp>
        <p:nvSpPr>
          <p:cNvPr id="17" name="~hdrRounded Rectangle 16"/>
          <p:cNvSpPr/>
          <p:nvPr/>
        </p:nvSpPr>
        <p:spPr>
          <a:xfrm>
            <a:off x="608076" y="1408176"/>
            <a:ext cx="658368" cy="45720"/>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14</a:t>
            </a:r>
          </a:p>
        </p:txBody>
      </p:sp>
      <p:sp>
        <p:nvSpPr>
          <p:cNvPr id="24" name="Rounded Rectangle 23"/>
          <p:cNvSpPr/>
          <p:nvPr/>
        </p:nvSpPr>
        <p:spPr>
          <a:xfrm>
            <a:off x="603504" y="1572768"/>
            <a:ext cx="1074356"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Segoe UI"/>
              </a:rPr>
              <a:t>Dẫn chuyện</a:t>
            </a:r>
          </a:p>
        </p:txBody>
      </p:sp>
      <p:sp>
        <p:nvSpPr>
          <p:cNvPr id="25" name="Rounded Rectangle 24"/>
          <p:cNvSpPr/>
          <p:nvPr/>
        </p:nvSpPr>
        <p:spPr>
          <a:xfrm>
            <a:off x="1824164" y="1572768"/>
            <a:ext cx="1618869"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Segoe UI"/>
              </a:rPr>
              <a:t>Lan — nhóm trưởng</a:t>
            </a:r>
          </a:p>
        </p:txBody>
      </p:sp>
      <p:sp>
        <p:nvSpPr>
          <p:cNvPr id="26" name="Rounded Rectangle 25"/>
          <p:cNvSpPr/>
          <p:nvPr/>
        </p:nvSpPr>
        <p:spPr>
          <a:xfrm>
            <a:off x="3589337" y="1572768"/>
            <a:ext cx="685419"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Segoe UI"/>
              </a:rPr>
              <a:t>Thanh</a:t>
            </a:r>
          </a:p>
        </p:txBody>
      </p:sp>
      <p:sp>
        <p:nvSpPr>
          <p:cNvPr id="27" name="Rounded Rectangle 26"/>
          <p:cNvSpPr/>
          <p:nvPr/>
        </p:nvSpPr>
        <p:spPr>
          <a:xfrm>
            <a:off x="4421060" y="1572768"/>
            <a:ext cx="598297"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Segoe UI"/>
              </a:rPr>
              <a:t>Minh</a:t>
            </a:r>
          </a:p>
        </p:txBody>
      </p:sp>
      <p:sp>
        <p:nvSpPr>
          <p:cNvPr id="28" name="Rounded Rectangle 27"/>
          <p:cNvSpPr/>
          <p:nvPr/>
        </p:nvSpPr>
        <p:spPr>
          <a:xfrm>
            <a:off x="603504" y="2057400"/>
            <a:ext cx="10984687" cy="3794760"/>
          </a:xfrm>
          <a:prstGeom prst="roundRect">
            <a:avLst>
              <a:gd name="adj" fmla="val 14000"/>
            </a:avLst>
          </a:prstGeom>
          <a:solidFill>
            <a:srgbClr val="FFFFFF">
              <a:alpha val="44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rot="20880000">
            <a:off x="3789063" y="2285085"/>
            <a:ext cx="4613568" cy="379476"/>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6112" y="2395728"/>
            <a:ext cx="64008" cy="329184"/>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33856" y="2340864"/>
            <a:ext cx="2834640" cy="274320"/>
          </a:xfrm>
          <a:prstGeom prst="rect">
            <a:avLst/>
          </a:prstGeom>
          <a:noFill/>
        </p:spPr>
        <p:txBody>
          <a:bodyPr wrap="square" anchor="t" lIns="0" rIns="0" tIns="0" bIns="0">
            <a:spAutoFit/>
          </a:bodyPr>
          <a:lstStyle/>
          <a:p>
            <a:pPr algn="l"/>
            <a:r>
              <a:rPr sz="1150" b="1" i="0">
                <a:solidFill>
                  <a:srgbClr val="5A54D6"/>
                </a:solidFill>
                <a:latin typeface="Segoe UI"/>
              </a:rPr>
              <a:t>Dẫn chuyện</a:t>
            </a:r>
          </a:p>
        </p:txBody>
      </p:sp>
      <p:sp>
        <p:nvSpPr>
          <p:cNvPr id="32" name="TextBox 31"/>
          <p:cNvSpPr txBox="1"/>
          <p:nvPr/>
        </p:nvSpPr>
        <p:spPr>
          <a:xfrm>
            <a:off x="3803904" y="2350008"/>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Segoe UI"/>
              </a:rPr>
              <a:t>Đã đến giờ thực hành Khoa học tự nhiên. Nhóm Thanh quây quần bên bàn thí nghiệm.</a:t>
            </a:r>
          </a:p>
        </p:txBody>
      </p:sp>
      <p:sp>
        <p:nvSpPr>
          <p:cNvPr id="33" name="Rounded Rectangle 32"/>
          <p:cNvSpPr/>
          <p:nvPr/>
        </p:nvSpPr>
        <p:spPr>
          <a:xfrm>
            <a:off x="896112" y="2962656"/>
            <a:ext cx="64008" cy="329184"/>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2907792"/>
            <a:ext cx="2834640" cy="274320"/>
          </a:xfrm>
          <a:prstGeom prst="rect">
            <a:avLst/>
          </a:prstGeom>
          <a:noFill/>
        </p:spPr>
        <p:txBody>
          <a:bodyPr wrap="square" anchor="t" lIns="0" rIns="0" tIns="0" bIns="0">
            <a:spAutoFit/>
          </a:bodyPr>
          <a:lstStyle/>
          <a:p>
            <a:pPr algn="l"/>
            <a:r>
              <a:rPr sz="1150" b="1" i="0">
                <a:solidFill>
                  <a:srgbClr val="149A4E"/>
                </a:solidFill>
                <a:latin typeface="Segoe UI"/>
              </a:rPr>
              <a:t>Lan (nhóm trưởng)</a:t>
            </a:r>
          </a:p>
        </p:txBody>
      </p:sp>
      <p:sp>
        <p:nvSpPr>
          <p:cNvPr id="35" name="TextBox 34"/>
          <p:cNvSpPr txBox="1"/>
          <p:nvPr/>
        </p:nvSpPr>
        <p:spPr>
          <a:xfrm>
            <a:off x="3803904" y="2916936"/>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Segoe UI"/>
              </a:rPr>
              <a:t>Thanh ơi, đang giờ thực hành, cậu cất vở Toán đã nhé!</a:t>
            </a:r>
          </a:p>
        </p:txBody>
      </p:sp>
      <p:sp>
        <p:nvSpPr>
          <p:cNvPr id="36" name="Rounded Rectangle 35"/>
          <p:cNvSpPr/>
          <p:nvPr/>
        </p:nvSpPr>
        <p:spPr>
          <a:xfrm>
            <a:off x="896112" y="3529584"/>
            <a:ext cx="64008" cy="329184"/>
          </a:xfrm>
          <a:prstGeom prst="roundRect">
            <a:avLst>
              <a:gd name="adj" fmla="val 50000"/>
            </a:avLst>
          </a:prstGeom>
          <a:effectLst/>
          <a:solidFill>
            <a:srgbClr val="101631">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33856" y="3474720"/>
            <a:ext cx="2834640" cy="274320"/>
          </a:xfrm>
          <a:prstGeom prst="rect">
            <a:avLst/>
          </a:prstGeom>
          <a:noFill/>
        </p:spPr>
        <p:txBody>
          <a:bodyPr wrap="square" anchor="t" lIns="0" rIns="0" tIns="0" bIns="0">
            <a:spAutoFit/>
          </a:bodyPr>
          <a:lstStyle/>
          <a:p>
            <a:pPr algn="l"/>
            <a:r>
              <a:rPr sz="1150" b="1" i="0">
                <a:solidFill>
                  <a:srgbClr val="101631"/>
                </a:solidFill>
                <a:latin typeface="Segoe UI"/>
              </a:rPr>
              <a:t>Thanh</a:t>
            </a:r>
          </a:p>
        </p:txBody>
      </p:sp>
      <p:sp>
        <p:nvSpPr>
          <p:cNvPr id="38" name="TextBox 37"/>
          <p:cNvSpPr txBox="1"/>
          <p:nvPr/>
        </p:nvSpPr>
        <p:spPr>
          <a:xfrm>
            <a:off x="3803904" y="3483864"/>
            <a:ext cx="7372807" cy="594360"/>
          </a:xfrm>
          <a:prstGeom prst="rect">
            <a:avLst/>
          </a:prstGeom>
          <a:noFill/>
        </p:spPr>
        <p:txBody>
          <a:bodyPr wrap="square" anchor="t" lIns="0" rIns="0" tIns="0" bIns="0">
            <a:spAutoFit/>
          </a:bodyPr>
          <a:lstStyle/>
          <a:p>
            <a:pPr algn="l">
              <a:lnSpc>
                <a:spcPct val="118000"/>
              </a:lnSpc>
            </a:pPr>
            <a:r>
              <a:rPr sz="1200" b="0" i="0">
                <a:solidFill>
                  <a:srgbClr val="101631"/>
                </a:solidFill>
                <a:latin typeface="Segoe UI"/>
              </a:rPr>
              <a:t>Nhưng bài Toán khó quá, mai phải nộp rồi…</a:t>
            </a:r>
          </a:p>
        </p:txBody>
      </p:sp>
      <p:sp>
        <p:nvSpPr>
          <p:cNvPr id="39" name="Rounded Rectangle 38"/>
          <p:cNvSpPr/>
          <p:nvPr/>
        </p:nvSpPr>
        <p:spPr>
          <a:xfrm>
            <a:off x="896112" y="4096512"/>
            <a:ext cx="64008" cy="329184"/>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33856" y="4041648"/>
            <a:ext cx="2834640" cy="274320"/>
          </a:xfrm>
          <a:prstGeom prst="rect">
            <a:avLst/>
          </a:prstGeom>
          <a:noFill/>
        </p:spPr>
        <p:txBody>
          <a:bodyPr wrap="square" anchor="t" lIns="0" rIns="0" tIns="0" bIns="0">
            <a:spAutoFit/>
          </a:bodyPr>
          <a:lstStyle/>
          <a:p>
            <a:pPr algn="l"/>
            <a:r>
              <a:rPr sz="1150" b="1" i="0">
                <a:solidFill>
                  <a:srgbClr val="A24AD6"/>
                </a:solidFill>
                <a:latin typeface="Segoe UI"/>
              </a:rPr>
              <a:t>Minh</a:t>
            </a:r>
          </a:p>
        </p:txBody>
      </p:sp>
      <p:sp>
        <p:nvSpPr>
          <p:cNvPr id="41" name="TextBox 40"/>
          <p:cNvSpPr txBox="1"/>
          <p:nvPr/>
        </p:nvSpPr>
        <p:spPr>
          <a:xfrm>
            <a:off x="3803904" y="4050792"/>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Segoe UI"/>
              </a:rPr>
              <a:t>Hay Thanh ghi số liệu thí nghiệm cho bọn tớ — vừa giúp nhóm, xong sớm lại về làm Toán!</a:t>
            </a:r>
          </a:p>
        </p:txBody>
      </p:sp>
      <p:sp>
        <p:nvSpPr>
          <p:cNvPr id="42" name="Rounded Rectangle 41"/>
          <p:cNvSpPr/>
          <p:nvPr/>
        </p:nvSpPr>
        <p:spPr>
          <a:xfrm>
            <a:off x="896112" y="4663440"/>
            <a:ext cx="64008" cy="329184"/>
          </a:xfrm>
          <a:prstGeom prst="roundRect">
            <a:avLst>
              <a:gd name="adj" fmla="val 50000"/>
            </a:avLst>
          </a:prstGeom>
          <a:effectLst/>
          <a:solidFill>
            <a:srgbClr val="101631">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33856" y="4608576"/>
            <a:ext cx="2834640" cy="274320"/>
          </a:xfrm>
          <a:prstGeom prst="rect">
            <a:avLst/>
          </a:prstGeom>
          <a:noFill/>
        </p:spPr>
        <p:txBody>
          <a:bodyPr wrap="square" anchor="t" lIns="0" rIns="0" tIns="0" bIns="0">
            <a:spAutoFit/>
          </a:bodyPr>
          <a:lstStyle/>
          <a:p>
            <a:pPr algn="l"/>
            <a:r>
              <a:rPr sz="1150" b="1" i="0">
                <a:solidFill>
                  <a:srgbClr val="101631"/>
                </a:solidFill>
                <a:latin typeface="Segoe UI"/>
              </a:rPr>
              <a:t>Thanh</a:t>
            </a:r>
          </a:p>
        </p:txBody>
      </p:sp>
      <p:sp>
        <p:nvSpPr>
          <p:cNvPr id="44" name="TextBox 43"/>
          <p:cNvSpPr txBox="1"/>
          <p:nvPr/>
        </p:nvSpPr>
        <p:spPr>
          <a:xfrm>
            <a:off x="3803904" y="4617720"/>
            <a:ext cx="7372807" cy="594360"/>
          </a:xfrm>
          <a:prstGeom prst="rect">
            <a:avLst/>
          </a:prstGeom>
          <a:noFill/>
        </p:spPr>
        <p:txBody>
          <a:bodyPr wrap="square" anchor="t" lIns="0" rIns="0" tIns="0" bIns="0">
            <a:spAutoFit/>
          </a:bodyPr>
          <a:lstStyle/>
          <a:p>
            <a:pPr algn="l">
              <a:lnSpc>
                <a:spcPct val="118000"/>
              </a:lnSpc>
            </a:pPr>
            <a:r>
              <a:rPr sz="1200" b="0" i="0">
                <a:solidFill>
                  <a:srgbClr val="101631"/>
                </a:solidFill>
                <a:latin typeface="Segoe UI"/>
              </a:rPr>
              <a:t>Ừ nhỉ, để tớ thử! … Nhóm mình phối hợp ăn ý thật đấy!</a:t>
            </a:r>
          </a:p>
        </p:txBody>
      </p:sp>
      <p:sp>
        <p:nvSpPr>
          <p:cNvPr id="45" name="Rounded Rectangle 44"/>
          <p:cNvSpPr/>
          <p:nvPr/>
        </p:nvSpPr>
        <p:spPr>
          <a:xfrm>
            <a:off x="896112" y="5230368"/>
            <a:ext cx="64008" cy="329184"/>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33856" y="5175504"/>
            <a:ext cx="2834640" cy="274320"/>
          </a:xfrm>
          <a:prstGeom prst="rect">
            <a:avLst/>
          </a:prstGeom>
          <a:noFill/>
        </p:spPr>
        <p:txBody>
          <a:bodyPr wrap="square" anchor="t" lIns="0" rIns="0" tIns="0" bIns="0">
            <a:spAutoFit/>
          </a:bodyPr>
          <a:lstStyle/>
          <a:p>
            <a:pPr algn="l"/>
            <a:r>
              <a:rPr sz="1150" b="1" i="0">
                <a:solidFill>
                  <a:srgbClr val="149A4E"/>
                </a:solidFill>
                <a:latin typeface="Segoe UI"/>
              </a:rPr>
              <a:t>Lan (nhóm trưởng)</a:t>
            </a:r>
          </a:p>
        </p:txBody>
      </p:sp>
      <p:sp>
        <p:nvSpPr>
          <p:cNvPr id="47" name="TextBox 46"/>
          <p:cNvSpPr txBox="1"/>
          <p:nvPr/>
        </p:nvSpPr>
        <p:spPr>
          <a:xfrm>
            <a:off x="3803904" y="5184648"/>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Segoe UI"/>
              </a:rPr>
              <a:t>Cảm ơn các cậu! Có hợp tác, việc gì cũng xong.</a:t>
            </a:r>
          </a:p>
        </p:txBody>
      </p:sp>
      <p:sp>
        <p:nvSpPr>
          <p:cNvPr id="48" name="Rounded Rectangle 47"/>
          <p:cNvSpPr/>
          <p:nvPr/>
        </p:nvSpPr>
        <p:spPr>
          <a:xfrm>
            <a:off x="896112" y="6053328"/>
            <a:ext cx="6722505" cy="365760"/>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5A54D6"/>
                </a:solidFill>
                <a:latin typeface="Segoe UI"/>
              </a:rPr>
              <a:t>Mỗi nhóm tự viết lời thoại theo cách nói của mình — diễn tự nhiên là hay nhất!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40"/>
                                  </p:tgtEl>
                                  <p:attrNameLst>
                                    <p:attrName>style.visibility</p:attrName>
                                  </p:attrNameLst>
                                </p:cBhvr>
                                <p:to>
                                  <p:strVal val="visible"/>
                                </p:to>
                              </p:set>
                              <p:animEffect transition="in" filter="fade">
                                <p:cBhvr>
                                  <p:cTn id="1052" dur="700"/>
                                  <p:tgtEl>
                                    <p:spTgt spid="4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41"/>
                                  </p:tgtEl>
                                  <p:attrNameLst>
                                    <p:attrName>style.visibility</p:attrName>
                                  </p:attrNameLst>
                                </p:cBhvr>
                                <p:to>
                                  <p:strVal val="visible"/>
                                </p:to>
                              </p:set>
                              <p:animEffect transition="in" filter="fade">
                                <p:cBhvr>
                                  <p:cTn id="1055" dur="700"/>
                                  <p:tgtEl>
                                    <p:spTgt spid="41"/>
                                  </p:tgtEl>
                                </p:cBhvr>
                              </p:animEffect>
                            </p:childTnLst>
                          </p:cTn>
                        </p:par>
                        <p:par>
                          <p:cTn id="1056" presetID="10" presetClass="entr" presetSubtype="0" fill="hold" grpId="0" nodeType="withEffect">
                            <p:stCondLst>
                              <p:cond delay="0"/>
                            </p:stCondLst>
                            <p:childTnLst>
                              <p:set>
                                <p:cBhvr>
                                  <p:cTn id="1057" dur="1" fill="hold">
                                    <p:stCondLst>
                                      <p:cond delay="0"/>
                                    </p:stCondLst>
                                  </p:cTn>
                                  <p:tgtEl>
                                    <p:spTgt spid="42"/>
                                  </p:tgtEl>
                                  <p:attrNameLst>
                                    <p:attrName>style.visibility</p:attrName>
                                  </p:attrNameLst>
                                </p:cBhvr>
                                <p:to>
                                  <p:strVal val="visible"/>
                                </p:to>
                              </p:set>
                              <p:animEffect transition="in" filter="fade">
                                <p:cBhvr>
                                  <p:cTn id="1058" dur="700"/>
                                  <p:tgtEl>
                                    <p:spTgt spid="42"/>
                                  </p:tgtEl>
                                </p:cBhvr>
                              </p:animEffect>
                            </p:childTnLst>
                          </p:cTn>
                        </p:par>
                        <p:par>
                          <p:cTn id="1059" presetID="10" presetClass="entr" presetSubtype="0" fill="hold" grpId="0" nodeType="withEffect">
                            <p:stCondLst>
                              <p:cond delay="0"/>
                            </p:stCondLst>
                            <p:childTnLst>
                              <p:set>
                                <p:cBhvr>
                                  <p:cTn id="1060" dur="1" fill="hold">
                                    <p:stCondLst>
                                      <p:cond delay="0"/>
                                    </p:stCondLst>
                                  </p:cTn>
                                  <p:tgtEl>
                                    <p:spTgt spid="43"/>
                                  </p:tgtEl>
                                  <p:attrNameLst>
                                    <p:attrName>style.visibility</p:attrName>
                                  </p:attrNameLst>
                                </p:cBhvr>
                                <p:to>
                                  <p:strVal val="visible"/>
                                </p:to>
                              </p:set>
                              <p:animEffect transition="in" filter="fade">
                                <p:cBhvr>
                                  <p:cTn id="1061" dur="700"/>
                                  <p:tgtEl>
                                    <p:spTgt spid="43"/>
                                  </p:tgtEl>
                                </p:cBhvr>
                              </p:animEffect>
                            </p:childTnLst>
                          </p:cTn>
                        </p:par>
                        <p:par>
                          <p:cTn id="1062" presetID="10" presetClass="entr" presetSubtype="0" fill="hold" grpId="0" nodeType="withEffect">
                            <p:stCondLst>
                              <p:cond delay="0"/>
                            </p:stCondLst>
                            <p:childTnLst>
                              <p:set>
                                <p:cBhvr>
                                  <p:cTn id="1063" dur="1" fill="hold">
                                    <p:stCondLst>
                                      <p:cond delay="0"/>
                                    </p:stCondLst>
                                  </p:cTn>
                                  <p:tgtEl>
                                    <p:spTgt spid="44"/>
                                  </p:tgtEl>
                                  <p:attrNameLst>
                                    <p:attrName>style.visibility</p:attrName>
                                  </p:attrNameLst>
                                </p:cBhvr>
                                <p:to>
                                  <p:strVal val="visible"/>
                                </p:to>
                              </p:set>
                              <p:animEffect transition="in" filter="fade">
                                <p:cBhvr>
                                  <p:cTn id="1064" dur="700"/>
                                  <p:tgtEl>
                                    <p:spTgt spid="44"/>
                                  </p:tgtEl>
                                </p:cBhvr>
                              </p:animEffect>
                            </p:childTnLst>
                          </p:cTn>
                        </p:par>
                        <p:par>
                          <p:cTn id="1065" presetID="10" presetClass="entr" presetSubtype="0" fill="hold" grpId="0" nodeType="withEffect">
                            <p:stCondLst>
                              <p:cond delay="0"/>
                            </p:stCondLst>
                            <p:childTnLst>
                              <p:set>
                                <p:cBhvr>
                                  <p:cTn id="1066" dur="1" fill="hold">
                                    <p:stCondLst>
                                      <p:cond delay="0"/>
                                    </p:stCondLst>
                                  </p:cTn>
                                  <p:tgtEl>
                                    <p:spTgt spid="45"/>
                                  </p:tgtEl>
                                  <p:attrNameLst>
                                    <p:attrName>style.visibility</p:attrName>
                                  </p:attrNameLst>
                                </p:cBhvr>
                                <p:to>
                                  <p:strVal val="visible"/>
                                </p:to>
                              </p:set>
                              <p:animEffect transition="in" filter="fade">
                                <p:cBhvr>
                                  <p:cTn id="1067" dur="700"/>
                                  <p:tgtEl>
                                    <p:spTgt spid="45"/>
                                  </p:tgtEl>
                                </p:cBhvr>
                              </p:animEffect>
                            </p:childTnLst>
                          </p:cTn>
                        </p:par>
                        <p:par>
                          <p:cTn id="1068" presetID="10" presetClass="entr" presetSubtype="0" fill="hold" grpId="0" nodeType="withEffect">
                            <p:stCondLst>
                              <p:cond delay="0"/>
                            </p:stCondLst>
                            <p:childTnLst>
                              <p:set>
                                <p:cBhvr>
                                  <p:cTn id="1069" dur="1" fill="hold">
                                    <p:stCondLst>
                                      <p:cond delay="0"/>
                                    </p:stCondLst>
                                  </p:cTn>
                                  <p:tgtEl>
                                    <p:spTgt spid="46"/>
                                  </p:tgtEl>
                                  <p:attrNameLst>
                                    <p:attrName>style.visibility</p:attrName>
                                  </p:attrNameLst>
                                </p:cBhvr>
                                <p:to>
                                  <p:strVal val="visible"/>
                                </p:to>
                              </p:set>
                              <p:animEffect transition="in" filter="fade">
                                <p:cBhvr>
                                  <p:cTn id="1070" dur="700"/>
                                  <p:tgtEl>
                                    <p:spTgt spid="46"/>
                                  </p:tgtEl>
                                </p:cBhvr>
                              </p:animEffect>
                            </p:childTnLst>
                          </p:cTn>
                        </p:par>
                        <p:par>
                          <p:cTn id="1071" presetID="10" presetClass="entr" presetSubtype="0" fill="hold" grpId="0" nodeType="withEffect">
                            <p:stCondLst>
                              <p:cond delay="0"/>
                            </p:stCondLst>
                            <p:childTnLst>
                              <p:set>
                                <p:cBhvr>
                                  <p:cTn id="1072" dur="1" fill="hold">
                                    <p:stCondLst>
                                      <p:cond delay="0"/>
                                    </p:stCondLst>
                                  </p:cTn>
                                  <p:tgtEl>
                                    <p:spTgt spid="47"/>
                                  </p:tgtEl>
                                  <p:attrNameLst>
                                    <p:attrName>style.visibility</p:attrName>
                                  </p:attrNameLst>
                                </p:cBhvr>
                                <p:to>
                                  <p:strVal val="visible"/>
                                </p:to>
                              </p:set>
                              <p:animEffect transition="in" filter="fade">
                                <p:cBhvr>
                                  <p:cTn id="1073" dur="700"/>
                                  <p:tgtEl>
                                    <p:spTgt spid="47"/>
                                  </p:tgtEl>
                                </p:cBhvr>
                              </p:animEffect>
                            </p:childTnLst>
                          </p:cTn>
                        </p:par>
                        <p:par>
                          <p:cTn id="1074" presetID="10" presetClass="entr" presetSubtype="0" fill="hold" grpId="0" nodeType="withEffect">
                            <p:stCondLst>
                              <p:cond delay="0"/>
                            </p:stCondLst>
                            <p:childTnLst>
                              <p:set>
                                <p:cBhvr>
                                  <p:cTn id="1075" dur="1" fill="hold">
                                    <p:stCondLst>
                                      <p:cond delay="0"/>
                                    </p:stCondLst>
                                  </p:cTn>
                                  <p:tgtEl>
                                    <p:spTgt spid="48"/>
                                  </p:tgtEl>
                                  <p:attrNameLst>
                                    <p:attrName>style.visibility</p:attrName>
                                  </p:attrNameLst>
                                </p:cBhvr>
                                <p:to>
                                  <p:strVal val="visible"/>
                                </p:to>
                              </p:set>
                              <p:animEffect transition="in" filter="fade">
                                <p:cBhvr>
                                  <p:cTn id="1076" dur="700"/>
                                  <p:tgtEl>
                                    <p:spTgt spid="48"/>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checkmark-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149A4E"/>
                </a:solidFill>
                <a:latin typeface="Segoe UI"/>
              </a:rPr>
              <a:t>TIẾT 2 · SAU KHI CÙNG THỰC HÀNH</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Segoe UI"/>
              </a:rPr>
              <a:t>Điều chúng em học được hôm nay</a:t>
            </a:r>
          </a:p>
        </p:txBody>
      </p:sp>
      <p:sp>
        <p:nvSpPr>
          <p:cNvPr id="17" name="~hdrRounded Rectangle 16"/>
          <p:cNvSpPr/>
          <p:nvPr/>
        </p:nvSpPr>
        <p:spPr>
          <a:xfrm>
            <a:off x="608076" y="1408176"/>
            <a:ext cx="658368" cy="45720"/>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15</a:t>
            </a:r>
          </a:p>
        </p:txBody>
      </p:sp>
      <p:sp>
        <p:nvSpPr>
          <p:cNvPr id="24" name="Rounded Rectangle 23"/>
          <p:cNvSpPr/>
          <p:nvPr/>
        </p:nvSpPr>
        <p:spPr>
          <a:xfrm>
            <a:off x="603504" y="1828800"/>
            <a:ext cx="2540431" cy="3063240"/>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1340229" y="2012594"/>
            <a:ext cx="1066981" cy="30632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rson-2-fill.png"/>
          <p:cNvPicPr>
            <a:picLocks noChangeAspect="1"/>
          </p:cNvPicPr>
          <p:nvPr/>
        </p:nvPicPr>
        <p:blipFill>
          <a:blip r:embed="rId3"/>
          <a:stretch>
            <a:fillRect/>
          </a:stretch>
        </p:blipFill>
        <p:spPr>
          <a:xfrm>
            <a:off x="1599399" y="2204720"/>
            <a:ext cx="548640" cy="345440"/>
          </a:xfrm>
          <a:prstGeom prst="rect">
            <a:avLst/>
          </a:prstGeom>
        </p:spPr>
      </p:pic>
      <p:sp>
        <p:nvSpPr>
          <p:cNvPr id="27" name="TextBox 26"/>
          <p:cNvSpPr txBox="1"/>
          <p:nvPr/>
        </p:nvSpPr>
        <p:spPr>
          <a:xfrm>
            <a:off x="713232" y="2816352"/>
            <a:ext cx="2320975" cy="640080"/>
          </a:xfrm>
          <a:prstGeom prst="rect">
            <a:avLst/>
          </a:prstGeom>
          <a:noFill/>
        </p:spPr>
        <p:txBody>
          <a:bodyPr wrap="square" anchor="t" lIns="0" rIns="0" tIns="0" bIns="0">
            <a:spAutoFit/>
          </a:bodyPr>
          <a:lstStyle/>
          <a:p>
            <a:pPr algn="ctr"/>
            <a:r>
              <a:rPr sz="1400" b="1" i="0">
                <a:solidFill>
                  <a:srgbClr val="101631"/>
                </a:solidFill>
                <a:latin typeface="Segoe UI"/>
              </a:rPr>
              <a:t>Nhắc khéo, không trách móc</a:t>
            </a:r>
          </a:p>
        </p:txBody>
      </p:sp>
      <p:sp>
        <p:nvSpPr>
          <p:cNvPr id="28" name="TextBox 27"/>
          <p:cNvSpPr txBox="1"/>
          <p:nvPr/>
        </p:nvSpPr>
        <p:spPr>
          <a:xfrm>
            <a:off x="786384"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Segoe UI"/>
              </a:rPr>
              <a:t>Một lời nhắc nhẹ nhàng và tôn trọng sẽ dễ nghe hơn nhiều.</a:t>
            </a:r>
          </a:p>
        </p:txBody>
      </p:sp>
      <p:sp>
        <p:nvSpPr>
          <p:cNvPr id="29" name="Rounded Rectangle 28"/>
          <p:cNvSpPr/>
          <p:nvPr/>
        </p:nvSpPr>
        <p:spPr>
          <a:xfrm>
            <a:off x="3418255" y="1828800"/>
            <a:ext cx="2540431" cy="3063240"/>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rot="20880000">
            <a:off x="4154981" y="2012594"/>
            <a:ext cx="1066981" cy="30632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heart-fill.png"/>
          <p:cNvPicPr>
            <a:picLocks noChangeAspect="1"/>
          </p:cNvPicPr>
          <p:nvPr/>
        </p:nvPicPr>
        <p:blipFill>
          <a:blip r:embed="rId4"/>
          <a:stretch>
            <a:fillRect/>
          </a:stretch>
        </p:blipFill>
        <p:spPr>
          <a:xfrm>
            <a:off x="4414151" y="2143264"/>
            <a:ext cx="548640" cy="468351"/>
          </a:xfrm>
          <a:prstGeom prst="rect">
            <a:avLst/>
          </a:prstGeom>
        </p:spPr>
      </p:pic>
      <p:sp>
        <p:nvSpPr>
          <p:cNvPr id="32" name="TextBox 31"/>
          <p:cNvSpPr txBox="1"/>
          <p:nvPr/>
        </p:nvSpPr>
        <p:spPr>
          <a:xfrm>
            <a:off x="3527983" y="2816352"/>
            <a:ext cx="2320975" cy="640080"/>
          </a:xfrm>
          <a:prstGeom prst="rect">
            <a:avLst/>
          </a:prstGeom>
          <a:noFill/>
        </p:spPr>
        <p:txBody>
          <a:bodyPr wrap="square" anchor="t" lIns="0" rIns="0" tIns="0" bIns="0">
            <a:spAutoFit/>
          </a:bodyPr>
          <a:lstStyle/>
          <a:p>
            <a:pPr algn="ctr"/>
            <a:r>
              <a:rPr sz="1400" b="1" i="0">
                <a:solidFill>
                  <a:srgbClr val="101631"/>
                </a:solidFill>
                <a:latin typeface="Segoe UI"/>
              </a:rPr>
              <a:t>Quan tâm đúng lúc</a:t>
            </a:r>
          </a:p>
        </p:txBody>
      </p:sp>
      <p:sp>
        <p:nvSpPr>
          <p:cNvPr id="33" name="TextBox 32"/>
          <p:cNvSpPr txBox="1"/>
          <p:nvPr/>
        </p:nvSpPr>
        <p:spPr>
          <a:xfrm>
            <a:off x="3601135"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Segoe UI"/>
              </a:rPr>
              <a:t>Bạn ốm, bạn buồn… hãy chia sẻ và động viên trước tiên.</a:t>
            </a:r>
          </a:p>
        </p:txBody>
      </p:sp>
      <p:sp>
        <p:nvSpPr>
          <p:cNvPr id="34" name="Rounded Rectangle 33"/>
          <p:cNvSpPr/>
          <p:nvPr/>
        </p:nvSpPr>
        <p:spPr>
          <a:xfrm>
            <a:off x="6233007" y="1828800"/>
            <a:ext cx="2540431" cy="3063240"/>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rot="20880000">
            <a:off x="6969732" y="2012594"/>
            <a:ext cx="1066981" cy="30632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person-badge-plus.png"/>
          <p:cNvPicPr>
            <a:picLocks noChangeAspect="1"/>
          </p:cNvPicPr>
          <p:nvPr/>
        </p:nvPicPr>
        <p:blipFill>
          <a:blip r:embed="rId5"/>
          <a:stretch>
            <a:fillRect/>
          </a:stretch>
        </p:blipFill>
        <p:spPr>
          <a:xfrm>
            <a:off x="7228903" y="2127504"/>
            <a:ext cx="548640" cy="499871"/>
          </a:xfrm>
          <a:prstGeom prst="rect">
            <a:avLst/>
          </a:prstGeom>
        </p:spPr>
      </p:pic>
      <p:sp>
        <p:nvSpPr>
          <p:cNvPr id="37" name="TextBox 36"/>
          <p:cNvSpPr txBox="1"/>
          <p:nvPr/>
        </p:nvSpPr>
        <p:spPr>
          <a:xfrm>
            <a:off x="6342735" y="2816352"/>
            <a:ext cx="2320975" cy="640080"/>
          </a:xfrm>
          <a:prstGeom prst="rect">
            <a:avLst/>
          </a:prstGeom>
          <a:noFill/>
        </p:spPr>
        <p:txBody>
          <a:bodyPr wrap="square" anchor="t" lIns="0" rIns="0" tIns="0" bIns="0">
            <a:spAutoFit/>
          </a:bodyPr>
          <a:lstStyle/>
          <a:p>
            <a:pPr algn="ctr"/>
            <a:r>
              <a:rPr sz="1400" b="1" i="0">
                <a:solidFill>
                  <a:srgbClr val="101631"/>
                </a:solidFill>
                <a:latin typeface="Segoe UI"/>
              </a:rPr>
              <a:t>Đón bạn mới cởi mở</a:t>
            </a:r>
          </a:p>
        </p:txBody>
      </p:sp>
      <p:sp>
        <p:nvSpPr>
          <p:cNvPr id="38" name="TextBox 37"/>
          <p:cNvSpPr txBox="1"/>
          <p:nvPr/>
        </p:nvSpPr>
        <p:spPr>
          <a:xfrm>
            <a:off x="6415887"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Segoe UI"/>
              </a:rPr>
              <a:t>Giúp bạn hòa nhập từ việc nhỏ: chào hỏi, rủ chơi, cùng học.</a:t>
            </a:r>
          </a:p>
        </p:txBody>
      </p:sp>
      <p:sp>
        <p:nvSpPr>
          <p:cNvPr id="39" name="Rounded Rectangle 38"/>
          <p:cNvSpPr/>
          <p:nvPr/>
        </p:nvSpPr>
        <p:spPr>
          <a:xfrm>
            <a:off x="9047759" y="1828800"/>
            <a:ext cx="2540431" cy="3063240"/>
          </a:xfrm>
          <a:prstGeom prst="roundRect">
            <a:avLst>
              <a:gd name="adj" fmla="val 18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rot="20880000">
            <a:off x="9784484" y="2012594"/>
            <a:ext cx="1066981" cy="30632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2-fill.png"/>
          <p:cNvPicPr>
            <a:picLocks noChangeAspect="1"/>
          </p:cNvPicPr>
          <p:nvPr/>
        </p:nvPicPr>
        <p:blipFill>
          <a:blip r:embed="rId3"/>
          <a:stretch>
            <a:fillRect/>
          </a:stretch>
        </p:blipFill>
        <p:spPr>
          <a:xfrm>
            <a:off x="10043655" y="2204720"/>
            <a:ext cx="548640" cy="345440"/>
          </a:xfrm>
          <a:prstGeom prst="rect">
            <a:avLst/>
          </a:prstGeom>
        </p:spPr>
      </p:pic>
      <p:sp>
        <p:nvSpPr>
          <p:cNvPr id="42" name="TextBox 41"/>
          <p:cNvSpPr txBox="1"/>
          <p:nvPr/>
        </p:nvSpPr>
        <p:spPr>
          <a:xfrm>
            <a:off x="9157487" y="2816352"/>
            <a:ext cx="2320975" cy="640080"/>
          </a:xfrm>
          <a:prstGeom prst="rect">
            <a:avLst/>
          </a:prstGeom>
          <a:noFill/>
        </p:spPr>
        <p:txBody>
          <a:bodyPr wrap="square" anchor="t" lIns="0" rIns="0" tIns="0" bIns="0">
            <a:spAutoFit/>
          </a:bodyPr>
          <a:lstStyle/>
          <a:p>
            <a:pPr algn="ctr"/>
            <a:r>
              <a:rPr sz="1400" b="1" i="0">
                <a:solidFill>
                  <a:srgbClr val="101631"/>
                </a:solidFill>
                <a:latin typeface="Segoe UI"/>
              </a:rPr>
              <a:t>Từ “tôi” đến “chúng ta”</a:t>
            </a:r>
          </a:p>
        </p:txBody>
      </p:sp>
      <p:sp>
        <p:nvSpPr>
          <p:cNvPr id="43" name="TextBox 42"/>
          <p:cNvSpPr txBox="1"/>
          <p:nvPr/>
        </p:nvSpPr>
        <p:spPr>
          <a:xfrm>
            <a:off x="9230639"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Segoe UI"/>
              </a:rPr>
              <a:t>Việc chung là của chung: cùng làm, cùng chịu trách nhiệm.</a:t>
            </a:r>
          </a:p>
        </p:txBody>
      </p:sp>
      <p:sp>
        <p:nvSpPr>
          <p:cNvPr id="44" name="TextBox 43"/>
          <p:cNvSpPr txBox="1"/>
          <p:nvPr/>
        </p:nvSpPr>
        <p:spPr>
          <a:xfrm>
            <a:off x="603504" y="5303520"/>
            <a:ext cx="10984687" cy="457200"/>
          </a:xfrm>
          <a:prstGeom prst="rect">
            <a:avLst/>
          </a:prstGeom>
          <a:noFill/>
        </p:spPr>
        <p:txBody>
          <a:bodyPr wrap="square" anchor="t" lIns="0" rIns="0" tIns="0" bIns="0">
            <a:spAutoFit/>
          </a:bodyPr>
          <a:lstStyle/>
          <a:p>
            <a:pPr algn="ctr"/>
            <a:r>
              <a:rPr sz="1450" b="1" i="0">
                <a:solidFill>
                  <a:srgbClr val="101631"/>
                </a:solidFill>
                <a:latin typeface="Segoe UI"/>
              </a:rPr>
              <a:t>Ứng xử đẹp không chỉ nằm ở lời nói, mà ở hành động mỗi ngày.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par>
                          <p:cTn id="1050" presetID="10" presetClass="entr" presetSubtype="0" fill="hold" grpId="0" nodeType="withEffect">
                            <p:stCondLst>
                              <p:cond delay="0"/>
                            </p:stCondLst>
                            <p:childTnLst>
                              <p:set>
                                <p:cBhvr>
                                  <p:cTn id="1051" dur="1" fill="hold">
                                    <p:stCondLst>
                                      <p:cond delay="0"/>
                                    </p:stCondLst>
                                  </p:cTn>
                                  <p:tgtEl>
                                    <p:spTgt spid="40"/>
                                  </p:tgtEl>
                                  <p:attrNameLst>
                                    <p:attrName>style.visibility</p:attrName>
                                  </p:attrNameLst>
                                </p:cBhvr>
                                <p:to>
                                  <p:strVal val="visible"/>
                                </p:to>
                              </p:set>
                              <p:animEffect transition="in" filter="fade">
                                <p:cBhvr>
                                  <p:cTn id="1052" dur="700"/>
                                  <p:tgtEl>
                                    <p:spTgt spid="40"/>
                                  </p:tgtEl>
                                </p:cBhvr>
                              </p:animEffect>
                            </p:childTnLst>
                          </p:cTn>
                        </p:par>
                        <p:par>
                          <p:cTn id="1053" presetID="10" presetClass="entr" presetSubtype="0" fill="hold" grpId="0" nodeType="withEffect">
                            <p:stCondLst>
                              <p:cond delay="0"/>
                            </p:stCondLst>
                            <p:childTnLst>
                              <p:set>
                                <p:cBhvr>
                                  <p:cTn id="1054" dur="1" fill="hold">
                                    <p:stCondLst>
                                      <p:cond delay="0"/>
                                    </p:stCondLst>
                                  </p:cTn>
                                  <p:tgtEl>
                                    <p:spTgt spid="41"/>
                                  </p:tgtEl>
                                  <p:attrNameLst>
                                    <p:attrName>style.visibility</p:attrName>
                                  </p:attrNameLst>
                                </p:cBhvr>
                                <p:to>
                                  <p:strVal val="visible"/>
                                </p:to>
                              </p:set>
                              <p:animEffect transition="in" filter="fade">
                                <p:cBhvr>
                                  <p:cTn id="1055" dur="700"/>
                                  <p:tgtEl>
                                    <p:spTgt spid="41"/>
                                  </p:tgtEl>
                                </p:cBhvr>
                              </p:animEffect>
                            </p:childTnLst>
                          </p:cTn>
                        </p:par>
                        <p:par>
                          <p:cTn id="1056" presetID="10" presetClass="entr" presetSubtype="0" fill="hold" grpId="0" nodeType="withEffect">
                            <p:stCondLst>
                              <p:cond delay="0"/>
                            </p:stCondLst>
                            <p:childTnLst>
                              <p:set>
                                <p:cBhvr>
                                  <p:cTn id="1057" dur="1" fill="hold">
                                    <p:stCondLst>
                                      <p:cond delay="0"/>
                                    </p:stCondLst>
                                  </p:cTn>
                                  <p:tgtEl>
                                    <p:spTgt spid="42"/>
                                  </p:tgtEl>
                                  <p:attrNameLst>
                                    <p:attrName>style.visibility</p:attrName>
                                  </p:attrNameLst>
                                </p:cBhvr>
                                <p:to>
                                  <p:strVal val="visible"/>
                                </p:to>
                              </p:set>
                              <p:animEffect transition="in" filter="fade">
                                <p:cBhvr>
                                  <p:cTn id="1058" dur="700"/>
                                  <p:tgtEl>
                                    <p:spTgt spid="42"/>
                                  </p:tgtEl>
                                </p:cBhvr>
                              </p:animEffect>
                            </p:childTnLst>
                          </p:cTn>
                        </p:par>
                        <p:par>
                          <p:cTn id="1059" presetID="10" presetClass="entr" presetSubtype="0" fill="hold" grpId="0" nodeType="withEffect">
                            <p:stCondLst>
                              <p:cond delay="0"/>
                            </p:stCondLst>
                            <p:childTnLst>
                              <p:set>
                                <p:cBhvr>
                                  <p:cTn id="1060" dur="1" fill="hold">
                                    <p:stCondLst>
                                      <p:cond delay="0"/>
                                    </p:stCondLst>
                                  </p:cTn>
                                  <p:tgtEl>
                                    <p:spTgt spid="43"/>
                                  </p:tgtEl>
                                  <p:attrNameLst>
                                    <p:attrName>style.visibility</p:attrName>
                                  </p:attrNameLst>
                                </p:cBhvr>
                                <p:to>
                                  <p:strVal val="visible"/>
                                </p:to>
                              </p:set>
                              <p:animEffect transition="in" filter="fade">
                                <p:cBhvr>
                                  <p:cTn id="1061" dur="700"/>
                                  <p:tgtEl>
                                    <p:spTgt spid="43"/>
                                  </p:tgtEl>
                                </p:cBhvr>
                              </p:animEffect>
                            </p:childTnLst>
                          </p:cTn>
                        </p:par>
                        <p:par>
                          <p:cTn id="1062" presetID="10" presetClass="entr" presetSubtype="0" fill="hold" grpId="0" nodeType="withEffect">
                            <p:stCondLst>
                              <p:cond delay="0"/>
                            </p:stCondLst>
                            <p:childTnLst>
                              <p:set>
                                <p:cBhvr>
                                  <p:cTn id="1063" dur="1" fill="hold">
                                    <p:stCondLst>
                                      <p:cond delay="0"/>
                                    </p:stCondLst>
                                  </p:cTn>
                                  <p:tgtEl>
                                    <p:spTgt spid="44"/>
                                  </p:tgtEl>
                                  <p:attrNameLst>
                                    <p:attrName>style.visibility</p:attrName>
                                  </p:attrNameLst>
                                </p:cBhvr>
                                <p:to>
                                  <p:strVal val="visible"/>
                                </p:to>
                              </p:set>
                              <p:animEffect transition="in" filter="fade">
                                <p:cBhvr>
                                  <p:cTn id="1064" dur="700"/>
                                  <p:tgtEl>
                                    <p:spTgt spid="4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heart-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E1F8B"/>
                </a:solidFill>
                <a:latin typeface="Segoe UI"/>
              </a:rPr>
              <a:t>THÔNG ĐIỆP CỦA CHỦ ĐỀ</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700" b="1" i="0" spc="20">
                <a:solidFill>
                  <a:srgbClr val="101631"/>
                </a:solidFill>
                <a:latin typeface="Segoe UI"/>
              </a:rPr>
              <a:t>Mỗi bạn một thế mạnh — lớp học gắn kết</a:t>
            </a:r>
          </a:p>
        </p:txBody>
      </p:sp>
      <p:sp>
        <p:nvSpPr>
          <p:cNvPr id="17" name="~hdrRounded Rectangle 16"/>
          <p:cNvSpPr/>
          <p:nvPr/>
        </p:nvSpPr>
        <p:spPr>
          <a:xfrm>
            <a:off x="608076" y="1408176"/>
            <a:ext cx="658368" cy="45720"/>
          </a:xfrm>
          <a:prstGeom prst="roundRect">
            <a:avLst>
              <a:gd name="adj" fmla="val 50000"/>
            </a:avLst>
          </a:prstGeom>
          <a:effectLst/>
          <a:solidFill>
            <a:srgbClr val="DE1F8B">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16</a:t>
            </a:r>
          </a:p>
        </p:txBody>
      </p:sp>
      <p:sp>
        <p:nvSpPr>
          <p:cNvPr id="24" name="Oval 23"/>
          <p:cNvSpPr/>
          <p:nvPr/>
        </p:nvSpPr>
        <p:spPr>
          <a:xfrm>
            <a:off x="1234439" y="2011680"/>
            <a:ext cx="3108960" cy="3108960"/>
          </a:xfrm>
          <a:prstGeom prst="ellipse">
            <a:avLst/>
          </a:prstGeom>
          <a:effectLst/>
          <a:solidFill>
            <a:srgbClr val="FFFFFF">
              <a:alpha val="24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554479" y="2331720"/>
            <a:ext cx="2468880" cy="2468880"/>
          </a:xfrm>
          <a:prstGeom prst="ellipse">
            <a:avLst/>
          </a:prstGeom>
          <a:effectLst/>
          <a:solidFill>
            <a:srgbClr val="FFFFFF">
              <a:alpha val="20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74519" y="2651760"/>
            <a:ext cx="1828800" cy="1828800"/>
          </a:xfrm>
          <a:prstGeom prst="ellipse">
            <a:avLst/>
          </a:prstGeom>
          <a:effectLst/>
          <a:solidFill>
            <a:srgbClr val="FFFFFF">
              <a:alpha val="16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heart-circle-fill.png"/>
          <p:cNvPicPr>
            <a:picLocks noChangeAspect="1"/>
          </p:cNvPicPr>
          <p:nvPr/>
        </p:nvPicPr>
        <p:blipFill>
          <a:blip r:embed="rId2"/>
          <a:stretch>
            <a:fillRect/>
          </a:stretch>
        </p:blipFill>
        <p:spPr>
          <a:xfrm>
            <a:off x="2377439" y="3175253"/>
            <a:ext cx="822959" cy="781812"/>
          </a:xfrm>
          <a:prstGeom prst="rect">
            <a:avLst/>
          </a:prstGeom>
        </p:spPr>
      </p:pic>
      <p:pic>
        <p:nvPicPr>
          <p:cNvPr id="28" name="Picture 27" descr="bubble-left-fill.png"/>
          <p:cNvPicPr>
            <a:picLocks noChangeAspect="1"/>
          </p:cNvPicPr>
          <p:nvPr/>
        </p:nvPicPr>
        <p:blipFill>
          <a:blip r:embed="rId3"/>
          <a:stretch>
            <a:fillRect/>
          </a:stretch>
        </p:blipFill>
        <p:spPr>
          <a:xfrm>
            <a:off x="868680" y="2913888"/>
            <a:ext cx="502920" cy="435864"/>
          </a:xfrm>
          <a:prstGeom prst="rect">
            <a:avLst/>
          </a:prstGeom>
        </p:spPr>
      </p:pic>
      <p:pic>
        <p:nvPicPr>
          <p:cNvPr id="29" name="Picture 28" descr="ear.png"/>
          <p:cNvPicPr>
            <a:picLocks noChangeAspect="1"/>
          </p:cNvPicPr>
          <p:nvPr/>
        </p:nvPicPr>
        <p:blipFill>
          <a:blip r:embed="rId4"/>
          <a:stretch>
            <a:fillRect/>
          </a:stretch>
        </p:blipFill>
        <p:spPr>
          <a:xfrm>
            <a:off x="4387405" y="2286000"/>
            <a:ext cx="414909" cy="502920"/>
          </a:xfrm>
          <a:prstGeom prst="rect">
            <a:avLst/>
          </a:prstGeom>
        </p:spPr>
      </p:pic>
      <p:pic>
        <p:nvPicPr>
          <p:cNvPr id="30" name="Picture 29" descr="person-2-fill.png"/>
          <p:cNvPicPr>
            <a:picLocks noChangeAspect="1"/>
          </p:cNvPicPr>
          <p:nvPr/>
        </p:nvPicPr>
        <p:blipFill>
          <a:blip r:embed="rId5"/>
          <a:stretch>
            <a:fillRect/>
          </a:stretch>
        </p:blipFill>
        <p:spPr>
          <a:xfrm>
            <a:off x="4709160" y="4299373"/>
            <a:ext cx="502920" cy="316653"/>
          </a:xfrm>
          <a:prstGeom prst="rect">
            <a:avLst/>
          </a:prstGeom>
        </p:spPr>
      </p:pic>
      <p:pic>
        <p:nvPicPr>
          <p:cNvPr id="31" name="Picture 30" descr="sparkles.png"/>
          <p:cNvPicPr>
            <a:picLocks noChangeAspect="1"/>
          </p:cNvPicPr>
          <p:nvPr/>
        </p:nvPicPr>
        <p:blipFill>
          <a:blip r:embed="rId6"/>
          <a:stretch>
            <a:fillRect/>
          </a:stretch>
        </p:blipFill>
        <p:spPr>
          <a:xfrm>
            <a:off x="898615" y="4892040"/>
            <a:ext cx="443048" cy="502920"/>
          </a:xfrm>
          <a:prstGeom prst="rect">
            <a:avLst/>
          </a:prstGeom>
        </p:spPr>
      </p:pic>
      <p:sp>
        <p:nvSpPr>
          <p:cNvPr id="32" name="Rounded Rectangle 31"/>
          <p:cNvSpPr/>
          <p:nvPr/>
        </p:nvSpPr>
        <p:spPr>
          <a:xfrm>
            <a:off x="640080" y="3383280"/>
            <a:ext cx="962910"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Segoe UI"/>
              </a:rPr>
              <a:t>Trò chuyện</a:t>
            </a:r>
          </a:p>
        </p:txBody>
      </p:sp>
      <p:sp>
        <p:nvSpPr>
          <p:cNvPr id="33" name="Rounded Rectangle 32"/>
          <p:cNvSpPr/>
          <p:nvPr/>
        </p:nvSpPr>
        <p:spPr>
          <a:xfrm>
            <a:off x="3977639" y="2880360"/>
            <a:ext cx="916431"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Segoe UI"/>
              </a:rPr>
              <a:t>Lắng nghe</a:t>
            </a:r>
          </a:p>
        </p:txBody>
      </p:sp>
      <p:sp>
        <p:nvSpPr>
          <p:cNvPr id="34" name="Rounded Rectangle 33"/>
          <p:cNvSpPr/>
          <p:nvPr/>
        </p:nvSpPr>
        <p:spPr>
          <a:xfrm>
            <a:off x="4160520" y="4846320"/>
            <a:ext cx="875982"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Segoe UI"/>
              </a:rPr>
              <a:t>Cùng chơi</a:t>
            </a:r>
          </a:p>
        </p:txBody>
      </p:sp>
      <p:sp>
        <p:nvSpPr>
          <p:cNvPr id="35" name="Rounded Rectangle 34"/>
          <p:cNvSpPr/>
          <p:nvPr/>
        </p:nvSpPr>
        <p:spPr>
          <a:xfrm>
            <a:off x="640080" y="5440680"/>
            <a:ext cx="963104"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Segoe UI"/>
              </a:rPr>
              <a:t>Cổ vũ nhau</a:t>
            </a:r>
          </a:p>
        </p:txBody>
      </p:sp>
      <p:sp>
        <p:nvSpPr>
          <p:cNvPr id="36" name="TextBox 35"/>
          <p:cNvSpPr txBox="1"/>
          <p:nvPr/>
        </p:nvSpPr>
        <p:spPr>
          <a:xfrm>
            <a:off x="6263640" y="1828800"/>
            <a:ext cx="5349240" cy="3017520"/>
          </a:xfrm>
          <a:prstGeom prst="rect">
            <a:avLst/>
          </a:prstGeom>
          <a:noFill/>
        </p:spPr>
        <p:txBody>
          <a:bodyPr wrap="square" anchor="t" lIns="0" rIns="0" tIns="0" bIns="0">
            <a:spAutoFit/>
          </a:bodyPr>
          <a:lstStyle/>
          <a:p>
            <a:pPr algn="l">
              <a:lnSpc>
                <a:spcPct val="128000"/>
              </a:lnSpc>
              <a:spcAft>
                <a:spcPts val="1200"/>
              </a:spcAft>
            </a:pPr>
            <a:r>
              <a:rPr sz="1500" b="1" i="0">
                <a:solidFill>
                  <a:srgbClr val="101631"/>
                </a:solidFill>
                <a:latin typeface="Segoe UI"/>
              </a:rPr>
              <a:t>Cũng như một chiếc điện thoại cao cấp, mỗi phần đều có vai trò riêng của nó.</a:t>
            </a:r>
          </a:p>
          <a:p>
            <a:pPr algn="l">
              <a:lnSpc>
                <a:spcPct val="132000"/>
              </a:lnSpc>
              <a:spcAft>
                <a:spcPts val="1200"/>
              </a:spcAft>
            </a:pPr>
            <a:r>
              <a:rPr sz="1350" b="0" i="0">
                <a:solidFill>
                  <a:srgbClr val="4E5879"/>
                </a:solidFill>
                <a:latin typeface="Segoe UI"/>
              </a:rPr>
              <a:t>Lớp mình cũng vậy: bạn giỏi lên kế hoạch, bạn khéo lắng nghe, bạn nhiệt tình giúp đỡ… Mỗi người một điểm mạnh.</a:t>
            </a:r>
          </a:p>
          <a:p>
            <a:pPr algn="l">
              <a:lnSpc>
                <a:spcPct val="132000"/>
              </a:lnSpc>
            </a:pPr>
            <a:r>
              <a:rPr sz="1350" b="0" i="0">
                <a:solidFill>
                  <a:srgbClr val="4E5879"/>
                </a:solidFill>
                <a:latin typeface="Segoe UI"/>
              </a:rPr>
              <a:t>Khi ai cũng được phát huy thế mạnh và sẵn sàng hỗ trợ nhau, việc gì khó đến mấy chúng ta cũng làm được.</a:t>
            </a:r>
          </a:p>
        </p:txBody>
      </p:sp>
      <p:sp>
        <p:nvSpPr>
          <p:cNvPr id="37" name="Rounded Rectangle 36"/>
          <p:cNvSpPr/>
          <p:nvPr/>
        </p:nvSpPr>
        <p:spPr>
          <a:xfrm>
            <a:off x="6263640" y="5029200"/>
            <a:ext cx="5349240" cy="1234440"/>
          </a:xfrm>
          <a:prstGeom prst="roundRect">
            <a:avLst>
              <a:gd name="adj" fmla="val 20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rot="20880000">
            <a:off x="7814919" y="5103266"/>
            <a:ext cx="2246680" cy="123444"/>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19672" y="5230368"/>
            <a:ext cx="4846320" cy="868680"/>
          </a:xfrm>
          <a:prstGeom prst="rect">
            <a:avLst/>
          </a:prstGeom>
          <a:noFill/>
        </p:spPr>
        <p:txBody>
          <a:bodyPr wrap="square" anchor="t" lIns="0" rIns="0" tIns="0" bIns="0">
            <a:spAutoFit/>
          </a:bodyPr>
          <a:lstStyle/>
          <a:p>
            <a:pPr algn="l">
              <a:lnSpc>
                <a:spcPct val="125000"/>
              </a:lnSpc>
            </a:pPr>
            <a:r>
              <a:rPr sz="1350" b="1" i="0">
                <a:solidFill>
                  <a:srgbClr val="101631"/>
                </a:solidFill>
                <a:latin typeface="Segoe UI"/>
              </a:rPr>
              <a:t>Tuần này, mỗi bạn chọn một điểm mạnh của mình để góp cho lớp nhé?</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par>
                          <p:cTn id="1038" presetID="10" presetClass="entr" presetSubtype="0" fill="hold" grpId="0" nodeType="withEffect">
                            <p:stCondLst>
                              <p:cond delay="0"/>
                            </p:stCondLst>
                            <p:childTnLst>
                              <p:set>
                                <p:cBhvr>
                                  <p:cTn id="1039" dur="1" fill="hold">
                                    <p:stCondLst>
                                      <p:cond delay="0"/>
                                    </p:stCondLst>
                                  </p:cTn>
                                  <p:tgtEl>
                                    <p:spTgt spid="36"/>
                                  </p:tgtEl>
                                  <p:attrNameLst>
                                    <p:attrName>style.visibility</p:attrName>
                                  </p:attrNameLst>
                                </p:cBhvr>
                                <p:to>
                                  <p:strVal val="visible"/>
                                </p:to>
                              </p:set>
                              <p:animEffect transition="in" filter="fade">
                                <p:cBhvr>
                                  <p:cTn id="1040" dur="700"/>
                                  <p:tgtEl>
                                    <p:spTgt spid="36"/>
                                  </p:tgtEl>
                                </p:cBhvr>
                              </p:animEffect>
                            </p:childTnLst>
                          </p:cTn>
                        </p:par>
                        <p:par>
                          <p:cTn id="1041" presetID="10" presetClass="entr" presetSubtype="0" fill="hold" grpId="0" nodeType="withEffect">
                            <p:stCondLst>
                              <p:cond delay="0"/>
                            </p:stCondLst>
                            <p:childTnLst>
                              <p:set>
                                <p:cBhvr>
                                  <p:cTn id="1042" dur="1" fill="hold">
                                    <p:stCondLst>
                                      <p:cond delay="0"/>
                                    </p:stCondLst>
                                  </p:cTn>
                                  <p:tgtEl>
                                    <p:spTgt spid="37"/>
                                  </p:tgtEl>
                                  <p:attrNameLst>
                                    <p:attrName>style.visibility</p:attrName>
                                  </p:attrNameLst>
                                </p:cBhvr>
                                <p:to>
                                  <p:strVal val="visible"/>
                                </p:to>
                              </p:set>
                              <p:animEffect transition="in" filter="fade">
                                <p:cBhvr>
                                  <p:cTn id="1043" dur="700"/>
                                  <p:tgtEl>
                                    <p:spTgt spid="37"/>
                                  </p:tgtEl>
                                </p:cBhvr>
                              </p:animEffect>
                            </p:childTnLst>
                          </p:cTn>
                        </p:par>
                        <p:par>
                          <p:cTn id="1044" presetID="10" presetClass="entr" presetSubtype="0" fill="hold" grpId="0" nodeType="withEffect">
                            <p:stCondLst>
                              <p:cond delay="0"/>
                            </p:stCondLst>
                            <p:childTnLst>
                              <p:set>
                                <p:cBhvr>
                                  <p:cTn id="1045" dur="1" fill="hold">
                                    <p:stCondLst>
                                      <p:cond delay="0"/>
                                    </p:stCondLst>
                                  </p:cTn>
                                  <p:tgtEl>
                                    <p:spTgt spid="38"/>
                                  </p:tgtEl>
                                  <p:attrNameLst>
                                    <p:attrName>style.visibility</p:attrName>
                                  </p:attrNameLst>
                                </p:cBhvr>
                                <p:to>
                                  <p:strVal val="visible"/>
                                </p:to>
                              </p:set>
                              <p:animEffect transition="in" filter="fade">
                                <p:cBhvr>
                                  <p:cTn id="1046" dur="700"/>
                                  <p:tgtEl>
                                    <p:spTgt spid="38"/>
                                  </p:tgtEl>
                                </p:cBhvr>
                              </p:animEffect>
                            </p:childTnLst>
                          </p:cTn>
                        </p:par>
                        <p:par>
                          <p:cTn id="1047" presetID="10" presetClass="entr" presetSubtype="0" fill="hold" grpId="0" nodeType="withEffect">
                            <p:stCondLst>
                              <p:cond delay="0"/>
                            </p:stCondLst>
                            <p:childTnLst>
                              <p:set>
                                <p:cBhvr>
                                  <p:cTn id="1048" dur="1" fill="hold">
                                    <p:stCondLst>
                                      <p:cond delay="0"/>
                                    </p:stCondLst>
                                  </p:cTn>
                                  <p:tgtEl>
                                    <p:spTgt spid="39"/>
                                  </p:tgtEl>
                                  <p:attrNameLst>
                                    <p:attrName>style.visibility</p:attrName>
                                  </p:attrNameLst>
                                </p:cBhvr>
                                <p:to>
                                  <p:strVal val="visible"/>
                                </p:to>
                              </p:set>
                              <p:animEffect transition="in" filter="fade">
                                <p:cBhvr>
                                  <p:cTn id="1049" dur="700"/>
                                  <p:tgtEl>
                                    <p:spTgt spid="3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checkmark-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Segoe UI"/>
              </a:rPr>
              <a:t>LỜI HỨA NHỎ · VIỆC LÀM TO</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Segoe UI"/>
              </a:rPr>
              <a:t>Tuần này, lớp mình cùng cam kết nhé!</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Segoe UI"/>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Segoe UI"/>
              </a:rPr>
              <a:t>17</a:t>
            </a:r>
          </a:p>
        </p:txBody>
      </p:sp>
      <p:sp>
        <p:nvSpPr>
          <p:cNvPr id="24" name="Rounded Rectangle 23"/>
          <p:cNvSpPr/>
          <p:nvPr/>
        </p:nvSpPr>
        <p:spPr>
          <a:xfrm>
            <a:off x="603504" y="1828800"/>
            <a:ext cx="10984687" cy="3474720"/>
          </a:xfrm>
          <a:prstGeom prst="roundRect">
            <a:avLst>
              <a:gd name="adj" fmla="val 16000"/>
            </a:avLst>
          </a:prstGeom>
          <a:solidFill>
            <a:srgbClr val="FFFFFF">
              <a:alpha val="46000"/>
            </a:srgbClr>
          </a:solidFill>
          <a:ln w="13970" cap="flat" cmpd="sng" algn="ctr">
            <a:solidFill>
              <a:srgbClr val="FFFFFF">
                <a:alpha val="78000"/>
              </a:srgbClr>
            </a:solidFill>
          </a:ln>
          <a:effectLst>
            <a:outerShdw blurRad="114300" dist="44450" dir="5400000" rotWithShape="0">
              <a:srgbClr val="33406E">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rot="20880000">
            <a:off x="3789063" y="2037283"/>
            <a:ext cx="4613568" cy="347472"/>
          </a:xfrm>
          <a:prstGeom prst="ellipse">
            <a:avLst/>
          </a:prstGeom>
          <a:effectLst/>
          <a:solidFill>
            <a:srgbClr val="FFFFFF">
              <a:alpha val="6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0120" y="2313432"/>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0A66E0"/>
                </a:solidFill>
                <a:latin typeface="Segoe UI"/>
              </a:rPr>
              <a:t>1</a:t>
            </a:r>
          </a:p>
        </p:txBody>
      </p:sp>
      <p:sp>
        <p:nvSpPr>
          <p:cNvPr id="27" name="TextBox 26"/>
          <p:cNvSpPr txBox="1"/>
          <p:nvPr/>
        </p:nvSpPr>
        <p:spPr>
          <a:xfrm>
            <a:off x="1792224" y="2395728"/>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Segoe UI"/>
              </a:rPr>
              <a:t>Chủ động chào, mỉm cười và hỏi thăm ít nhất một bạn mỗi ngày.</a:t>
            </a:r>
          </a:p>
        </p:txBody>
      </p:sp>
      <p:sp>
        <p:nvSpPr>
          <p:cNvPr id="28" name="Oval 27"/>
          <p:cNvSpPr/>
          <p:nvPr/>
        </p:nvSpPr>
        <p:spPr>
          <a:xfrm>
            <a:off x="960120" y="2990088"/>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0E9E96"/>
                </a:solidFill>
                <a:latin typeface="Segoe UI"/>
              </a:rPr>
              <a:t>2</a:t>
            </a:r>
          </a:p>
        </p:txBody>
      </p:sp>
      <p:sp>
        <p:nvSpPr>
          <p:cNvPr id="29" name="TextBox 28"/>
          <p:cNvSpPr txBox="1"/>
          <p:nvPr/>
        </p:nvSpPr>
        <p:spPr>
          <a:xfrm>
            <a:off x="1792224" y="3072384"/>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Segoe UI"/>
              </a:rPr>
              <a:t>Sẵn sàng giúp đỡ bạn trong học tập hoặc khi bạn gặp khó khăn.</a:t>
            </a:r>
          </a:p>
        </p:txBody>
      </p:sp>
      <p:sp>
        <p:nvSpPr>
          <p:cNvPr id="30" name="Oval 29"/>
          <p:cNvSpPr/>
          <p:nvPr/>
        </p:nvSpPr>
        <p:spPr>
          <a:xfrm>
            <a:off x="960120" y="3666744"/>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A24AD6"/>
                </a:solidFill>
                <a:latin typeface="Segoe UI"/>
              </a:rPr>
              <a:t>3</a:t>
            </a:r>
          </a:p>
        </p:txBody>
      </p:sp>
      <p:sp>
        <p:nvSpPr>
          <p:cNvPr id="31" name="TextBox 30"/>
          <p:cNvSpPr txBox="1"/>
          <p:nvPr/>
        </p:nvSpPr>
        <p:spPr>
          <a:xfrm>
            <a:off x="1792224" y="3749039"/>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Segoe UI"/>
              </a:rPr>
              <a:t>Khi làm việc nhóm: nhắc khéo, lắng nghe, không để ai bị bỏ rơi.</a:t>
            </a:r>
          </a:p>
        </p:txBody>
      </p:sp>
      <p:sp>
        <p:nvSpPr>
          <p:cNvPr id="32" name="Oval 31"/>
          <p:cNvSpPr/>
          <p:nvPr/>
        </p:nvSpPr>
        <p:spPr>
          <a:xfrm>
            <a:off x="960120" y="4343400"/>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D97600"/>
                </a:solidFill>
                <a:latin typeface="Segoe UI"/>
              </a:rPr>
              <a:t>4</a:t>
            </a:r>
          </a:p>
        </p:txBody>
      </p:sp>
      <p:sp>
        <p:nvSpPr>
          <p:cNvPr id="33" name="TextBox 32"/>
          <p:cNvSpPr txBox="1"/>
          <p:nvPr/>
        </p:nvSpPr>
        <p:spPr>
          <a:xfrm>
            <a:off x="1792224" y="4425696"/>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Segoe UI"/>
              </a:rPr>
              <a:t>Nếu băn khoăn điều gì, mạnh dạn trao đổi với thầy cô.</a:t>
            </a:r>
          </a:p>
        </p:txBody>
      </p:sp>
      <p:pic>
        <p:nvPicPr>
          <p:cNvPr id="34" name="Picture 33" descr="checkmark-circle-fill.png"/>
          <p:cNvPicPr>
            <a:picLocks noChangeAspect="1"/>
          </p:cNvPicPr>
          <p:nvPr/>
        </p:nvPicPr>
        <p:blipFill>
          <a:blip r:embed="rId2"/>
          <a:stretch>
            <a:fillRect/>
          </a:stretch>
        </p:blipFill>
        <p:spPr>
          <a:xfrm>
            <a:off x="10719511" y="2262682"/>
            <a:ext cx="530352" cy="503834"/>
          </a:xfrm>
          <a:prstGeom prst="rect">
            <a:avLst/>
          </a:prstGeom>
        </p:spPr>
      </p:pic>
      <p:sp>
        <p:nvSpPr>
          <p:cNvPr id="35" name="Rounded Rectangle 34"/>
          <p:cNvSpPr/>
          <p:nvPr/>
        </p:nvSpPr>
        <p:spPr>
          <a:xfrm>
            <a:off x="2709265" y="5806440"/>
            <a:ext cx="6773164" cy="438912"/>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1" i="0" spc="20">
                <a:solidFill>
                  <a:srgbClr val="101631"/>
                </a:solidFill>
                <a:latin typeface="Segoe UI"/>
              </a:rPr>
              <a:t>Chọn một việc thôi cũng được — tuần sau chúng em sẽ hỏi kết quả nha!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24"/>
                                  </p:tgtEl>
                                  <p:attrNameLst>
                                    <p:attrName>style.visibility</p:attrName>
                                  </p:attrNameLst>
                                </p:cBhvr>
                                <p:to>
                                  <p:strVal val="visible"/>
                                </p:to>
                              </p:set>
                              <p:animEffect transition="in" filter="fade">
                                <p:cBhvr>
                                  <p:cTn id="1004" dur="700"/>
                                  <p:tgtEl>
                                    <p:spTgt spid="2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25"/>
                                  </p:tgtEl>
                                  <p:attrNameLst>
                                    <p:attrName>style.visibility</p:attrName>
                                  </p:attrNameLst>
                                </p:cBhvr>
                                <p:to>
                                  <p:strVal val="visible"/>
                                </p:to>
                              </p:set>
                              <p:animEffect transition="in" filter="fade">
                                <p:cBhvr>
                                  <p:cTn id="1007" dur="700"/>
                                  <p:tgtEl>
                                    <p:spTgt spid="2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26"/>
                                  </p:tgtEl>
                                  <p:attrNameLst>
                                    <p:attrName>style.visibility</p:attrName>
                                  </p:attrNameLst>
                                </p:cBhvr>
                                <p:to>
                                  <p:strVal val="visible"/>
                                </p:to>
                              </p:set>
                              <p:animEffect transition="in" filter="fade">
                                <p:cBhvr>
                                  <p:cTn id="1010" dur="700"/>
                                  <p:tgtEl>
                                    <p:spTgt spid="2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27"/>
                                  </p:tgtEl>
                                  <p:attrNameLst>
                                    <p:attrName>style.visibility</p:attrName>
                                  </p:attrNameLst>
                                </p:cBhvr>
                                <p:to>
                                  <p:strVal val="visible"/>
                                </p:to>
                              </p:set>
                              <p:animEffect transition="in" filter="fade">
                                <p:cBhvr>
                                  <p:cTn id="1013" dur="700"/>
                                  <p:tgtEl>
                                    <p:spTgt spid="2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28"/>
                                  </p:tgtEl>
                                  <p:attrNameLst>
                                    <p:attrName>style.visibility</p:attrName>
                                  </p:attrNameLst>
                                </p:cBhvr>
                                <p:to>
                                  <p:strVal val="visible"/>
                                </p:to>
                              </p:set>
                              <p:animEffect transition="in" filter="fade">
                                <p:cBhvr>
                                  <p:cTn id="1016" dur="700"/>
                                  <p:tgtEl>
                                    <p:spTgt spid="2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29"/>
                                  </p:tgtEl>
                                  <p:attrNameLst>
                                    <p:attrName>style.visibility</p:attrName>
                                  </p:attrNameLst>
                                </p:cBhvr>
                                <p:to>
                                  <p:strVal val="visible"/>
                                </p:to>
                              </p:set>
                              <p:animEffect transition="in" filter="fade">
                                <p:cBhvr>
                                  <p:cTn id="1019" dur="700"/>
                                  <p:tgtEl>
                                    <p:spTgt spid="2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30"/>
                                  </p:tgtEl>
                                  <p:attrNameLst>
                                    <p:attrName>style.visibility</p:attrName>
                                  </p:attrNameLst>
                                </p:cBhvr>
                                <p:to>
                                  <p:strVal val="visible"/>
                                </p:to>
                              </p:set>
                              <p:animEffect transition="in" filter="fade">
                                <p:cBhvr>
                                  <p:cTn id="1022" dur="700"/>
                                  <p:tgtEl>
                                    <p:spTgt spid="3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31"/>
                                  </p:tgtEl>
                                  <p:attrNameLst>
                                    <p:attrName>style.visibility</p:attrName>
                                  </p:attrNameLst>
                                </p:cBhvr>
                                <p:to>
                                  <p:strVal val="visible"/>
                                </p:to>
                              </p:set>
                              <p:animEffect transition="in" filter="fade">
                                <p:cBhvr>
                                  <p:cTn id="1025" dur="700"/>
                                  <p:tgtEl>
                                    <p:spTgt spid="3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32"/>
                                  </p:tgtEl>
                                  <p:attrNameLst>
                                    <p:attrName>style.visibility</p:attrName>
                                  </p:attrNameLst>
                                </p:cBhvr>
                                <p:to>
                                  <p:strVal val="visible"/>
                                </p:to>
                              </p:set>
                              <p:animEffect transition="in" filter="fade">
                                <p:cBhvr>
                                  <p:cTn id="1028" dur="700"/>
                                  <p:tgtEl>
                                    <p:spTgt spid="3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33"/>
                                  </p:tgtEl>
                                  <p:attrNameLst>
                                    <p:attrName>style.visibility</p:attrName>
                                  </p:attrNameLst>
                                </p:cBhvr>
                                <p:to>
                                  <p:strVal val="visible"/>
                                </p:to>
                              </p:set>
                              <p:animEffect transition="in" filter="fade">
                                <p:cBhvr>
                                  <p:cTn id="1031" dur="700"/>
                                  <p:tgtEl>
                                    <p:spTgt spid="3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34"/>
                                  </p:tgtEl>
                                  <p:attrNameLst>
                                    <p:attrName>style.visibility</p:attrName>
                                  </p:attrNameLst>
                                </p:cBhvr>
                                <p:to>
                                  <p:strVal val="visible"/>
                                </p:to>
                              </p:set>
                              <p:animEffect transition="in" filter="fade">
                                <p:cBhvr>
                                  <p:cTn id="1034" dur="700"/>
                                  <p:tgtEl>
                                    <p:spTgt spid="34"/>
                                  </p:tgtEl>
                                </p:cBhvr>
                              </p:animEffect>
                            </p:childTnLst>
                          </p:cTn>
                        </p:par>
                        <p:par>
                          <p:cTn id="1035" presetID="10" presetClass="entr" presetSubtype="0" fill="hold" grpId="0" nodeType="withEffect">
                            <p:stCondLst>
                              <p:cond delay="0"/>
                            </p:stCondLst>
                            <p:childTnLst>
                              <p:set>
                                <p:cBhvr>
                                  <p:cTn id="1036" dur="1" fill="hold">
                                    <p:stCondLst>
                                      <p:cond delay="0"/>
                                    </p:stCondLst>
                                  </p:cTn>
                                  <p:tgtEl>
                                    <p:spTgt spid="35"/>
                                  </p:tgtEl>
                                  <p:attrNameLst>
                                    <p:attrName>style.visibility</p:attrName>
                                  </p:attrNameLst>
                                </p:cBhvr>
                                <p:to>
                                  <p:strVal val="visible"/>
                                </p:to>
                              </p:set>
                              <p:animEffect transition="in" filter="fade">
                                <p:cBhvr>
                                  <p:cTn id="1037" dur="700"/>
                                  <p:tgtEl>
                                    <p:spTgt spid="35"/>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090007" y="777239"/>
            <a:ext cx="2011680" cy="2011680"/>
          </a:xfrm>
          <a:prstGeom prst="ellipse">
            <a:avLst/>
          </a:prstGeom>
          <a:effectLst/>
          <a:solidFill>
            <a:srgbClr val="FFFFFF">
              <a:alpha val="26000"/>
            </a:srgbClr>
          </a:solidFill>
          <a:ln w="16510" cap="flat" cmpd="sng" algn="ctr">
            <a:solidFill>
              <a:srgbClr val="FFFFFF">
                <a:alpha val="7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318607" y="1005840"/>
            <a:ext cx="1554480" cy="1554480"/>
          </a:xfrm>
          <a:prstGeom prst="ellipse">
            <a:avLst/>
          </a:prstGeom>
          <a:effectLst/>
          <a:solidFill>
            <a:srgbClr val="FFFFFF">
              <a:alpha val="22000"/>
            </a:srgbClr>
          </a:solidFill>
          <a:ln w="16510" cap="flat" cmpd="sng" algn="ctr">
            <a:solidFill>
              <a:srgbClr val="FFFFFF">
                <a:alpha val="7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eart-circle-fill.png"/>
          <p:cNvPicPr>
            <a:picLocks noChangeAspect="1"/>
          </p:cNvPicPr>
          <p:nvPr/>
        </p:nvPicPr>
        <p:blipFill>
          <a:blip r:embed="rId2"/>
          <a:stretch>
            <a:fillRect/>
          </a:stretch>
        </p:blipFill>
        <p:spPr>
          <a:xfrm>
            <a:off x="5730087" y="1435608"/>
            <a:ext cx="731520" cy="694944"/>
          </a:xfrm>
          <a:prstGeom prst="rect">
            <a:avLst/>
          </a:prstGeom>
        </p:spPr>
      </p:pic>
      <p:pic>
        <p:nvPicPr>
          <p:cNvPr id="17" name="Picture 16" descr="sparkles.png"/>
          <p:cNvPicPr>
            <a:picLocks noChangeAspect="1"/>
          </p:cNvPicPr>
          <p:nvPr/>
        </p:nvPicPr>
        <p:blipFill>
          <a:blip r:embed="rId3"/>
          <a:stretch>
            <a:fillRect/>
          </a:stretch>
        </p:blipFill>
        <p:spPr>
          <a:xfrm>
            <a:off x="6895947" y="1005840"/>
            <a:ext cx="338328" cy="384048"/>
          </a:xfrm>
          <a:prstGeom prst="rect">
            <a:avLst/>
          </a:prstGeom>
        </p:spPr>
      </p:pic>
      <p:pic>
        <p:nvPicPr>
          <p:cNvPr id="18" name="Picture 17" descr="star-fill.png"/>
          <p:cNvPicPr>
            <a:picLocks noChangeAspect="1"/>
          </p:cNvPicPr>
          <p:nvPr/>
        </p:nvPicPr>
        <p:blipFill>
          <a:blip r:embed="rId4"/>
          <a:stretch>
            <a:fillRect/>
          </a:stretch>
        </p:blipFill>
        <p:spPr>
          <a:xfrm>
            <a:off x="4861407" y="885305"/>
            <a:ext cx="365760" cy="332509"/>
          </a:xfrm>
          <a:prstGeom prst="rect">
            <a:avLst/>
          </a:prstGeom>
        </p:spPr>
      </p:pic>
      <p:sp>
        <p:nvSpPr>
          <p:cNvPr id="19" name="TextBox 18"/>
          <p:cNvSpPr txBox="1"/>
          <p:nvPr/>
        </p:nvSpPr>
        <p:spPr>
          <a:xfrm>
            <a:off x="1097280" y="3145536"/>
            <a:ext cx="9994392" cy="548640"/>
          </a:xfrm>
          <a:prstGeom prst="rect">
            <a:avLst/>
          </a:prstGeom>
          <a:noFill/>
        </p:spPr>
        <p:txBody>
          <a:bodyPr wrap="square" anchor="t" lIns="0" rIns="0" tIns="0" bIns="0">
            <a:spAutoFit/>
          </a:bodyPr>
          <a:lstStyle/>
          <a:p>
            <a:pPr algn="ctr"/>
            <a:r>
              <a:rPr sz="2700" b="1" i="0">
                <a:solidFill>
                  <a:srgbClr val="101631"/>
                </a:solidFill>
                <a:latin typeface="Segoe UI"/>
              </a:rPr>
              <a:t>Cảm ơn thầy cô và các bạn đã lắng nghe!</a:t>
            </a:r>
          </a:p>
        </p:txBody>
      </p:sp>
      <p:sp>
        <p:nvSpPr>
          <p:cNvPr id="20" name="TextBox 19"/>
          <p:cNvSpPr txBox="1"/>
          <p:nvPr/>
        </p:nvSpPr>
        <p:spPr>
          <a:xfrm>
            <a:off x="1463040" y="3977639"/>
            <a:ext cx="9262872" cy="457200"/>
          </a:xfrm>
          <a:prstGeom prst="rect">
            <a:avLst/>
          </a:prstGeom>
          <a:noFill/>
        </p:spPr>
        <p:txBody>
          <a:bodyPr wrap="square" anchor="t" lIns="0" rIns="0" tIns="0" bIns="0">
            <a:spAutoFit/>
          </a:bodyPr>
          <a:lstStyle/>
          <a:p>
            <a:pPr algn="ctr"/>
            <a:r>
              <a:rPr sz="1500" b="0" i="1">
                <a:solidFill>
                  <a:srgbClr val="4E5879"/>
                </a:solidFill>
                <a:latin typeface="Segoe UI"/>
              </a:rPr>
              <a:t>Chúc lớp mình luôn hòa đồng, hợp tác và cùng nhau tiến bộ mỗi ngày.</a:t>
            </a:r>
          </a:p>
        </p:txBody>
      </p:sp>
      <p:sp>
        <p:nvSpPr>
          <p:cNvPr id="21" name="Rounded Rectangle 20"/>
          <p:cNvSpPr/>
          <p:nvPr/>
        </p:nvSpPr>
        <p:spPr>
          <a:xfrm>
            <a:off x="4021459" y="4709160"/>
            <a:ext cx="1785455"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Segoe UI"/>
              </a:rPr>
              <a:t>[Tên em / nhóm em]</a:t>
            </a:r>
          </a:p>
        </p:txBody>
      </p:sp>
      <p:sp>
        <p:nvSpPr>
          <p:cNvPr id="22" name="Rounded Rectangle 21"/>
          <p:cNvSpPr/>
          <p:nvPr/>
        </p:nvSpPr>
        <p:spPr>
          <a:xfrm>
            <a:off x="6044658" y="4709160"/>
            <a:ext cx="821182"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Segoe UI"/>
              </a:rPr>
              <a:t>Lớp [..]</a:t>
            </a:r>
          </a:p>
        </p:txBody>
      </p:sp>
      <p:sp>
        <p:nvSpPr>
          <p:cNvPr id="23" name="Rounded Rectangle 22"/>
          <p:cNvSpPr/>
          <p:nvPr/>
        </p:nvSpPr>
        <p:spPr>
          <a:xfrm>
            <a:off x="7103584" y="4709160"/>
            <a:ext cx="1066650"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Segoe UI"/>
              </a:rPr>
              <a:t>Trường [..]</a:t>
            </a:r>
          </a:p>
        </p:txBody>
      </p:sp>
      <p:sp>
        <p:nvSpPr>
          <p:cNvPr id="24" name="TextBox 23"/>
          <p:cNvSpPr txBox="1"/>
          <p:nvPr/>
        </p:nvSpPr>
        <p:spPr>
          <a:xfrm>
            <a:off x="1463040" y="5577840"/>
            <a:ext cx="9262872" cy="365760"/>
          </a:xfrm>
          <a:prstGeom prst="rect">
            <a:avLst/>
          </a:prstGeom>
          <a:noFill/>
        </p:spPr>
        <p:txBody>
          <a:bodyPr wrap="square" anchor="t" lIns="0" rIns="0" tIns="0" bIns="0">
            <a:spAutoFit/>
          </a:bodyPr>
          <a:lstStyle/>
          <a:p>
            <a:pPr algn="ctr"/>
            <a:r>
              <a:rPr sz="1300" b="0" i="0">
                <a:solidFill>
                  <a:srgbClr val="8A93B4"/>
                </a:solidFill>
                <a:latin typeface="Segoe UI"/>
              </a:rPr>
              <a:t>Các bạn có câu hỏi gì cho nhóm em không? Chúng em sẵn sàng trao đổi ạ!</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01" fill="hold">
                      <p:stCondLst>
                        <p:cond delay="indefinite"/>
                      </p:stCondLst>
                      <p:childTnLst>
                        <p:par>
                          <p:cTn id="1002" presetID="10" presetClass="entr" presetSubtype="0" fill="hold" grpId="0" nodeType="clickEffect">
                            <p:stCondLst>
                              <p:cond delay="0"/>
                            </p:stCondLst>
                            <p:childTnLst>
                              <p:set>
                                <p:cBhvr>
                                  <p:cTn id="1003" dur="1" fill="hold">
                                    <p:stCondLst>
                                      <p:cond delay="0"/>
                                    </p:stCondLst>
                                  </p:cTn>
                                  <p:tgtEl>
                                    <p:spTgt spid="14"/>
                                  </p:tgtEl>
                                  <p:attrNameLst>
                                    <p:attrName>style.visibility</p:attrName>
                                  </p:attrNameLst>
                                </p:cBhvr>
                                <p:to>
                                  <p:strVal val="visible"/>
                                </p:to>
                              </p:set>
                              <p:animEffect transition="in" filter="fade">
                                <p:cBhvr>
                                  <p:cTn id="1004" dur="700"/>
                                  <p:tgtEl>
                                    <p:spTgt spid="14"/>
                                  </p:tgtEl>
                                </p:cBhvr>
                              </p:animEffect>
                            </p:childTnLst>
                          </p:cTn>
                        </p:par>
                        <p:par>
                          <p:cTn id="1005" presetID="10" presetClass="entr" presetSubtype="0" fill="hold" grpId="0" nodeType="withEffect">
                            <p:stCondLst>
                              <p:cond delay="0"/>
                            </p:stCondLst>
                            <p:childTnLst>
                              <p:set>
                                <p:cBhvr>
                                  <p:cTn id="1006" dur="1" fill="hold">
                                    <p:stCondLst>
                                      <p:cond delay="0"/>
                                    </p:stCondLst>
                                  </p:cTn>
                                  <p:tgtEl>
                                    <p:spTgt spid="15"/>
                                  </p:tgtEl>
                                  <p:attrNameLst>
                                    <p:attrName>style.visibility</p:attrName>
                                  </p:attrNameLst>
                                </p:cBhvr>
                                <p:to>
                                  <p:strVal val="visible"/>
                                </p:to>
                              </p:set>
                              <p:animEffect transition="in" filter="fade">
                                <p:cBhvr>
                                  <p:cTn id="1007" dur="700"/>
                                  <p:tgtEl>
                                    <p:spTgt spid="15"/>
                                  </p:tgtEl>
                                </p:cBhvr>
                              </p:animEffect>
                            </p:childTnLst>
                          </p:cTn>
                        </p:par>
                        <p:par>
                          <p:cTn id="1008" presetID="10" presetClass="entr" presetSubtype="0" fill="hold" grpId="0" nodeType="withEffect">
                            <p:stCondLst>
                              <p:cond delay="0"/>
                            </p:stCondLst>
                            <p:childTnLst>
                              <p:set>
                                <p:cBhvr>
                                  <p:cTn id="1009" dur="1" fill="hold">
                                    <p:stCondLst>
                                      <p:cond delay="0"/>
                                    </p:stCondLst>
                                  </p:cTn>
                                  <p:tgtEl>
                                    <p:spTgt spid="16"/>
                                  </p:tgtEl>
                                  <p:attrNameLst>
                                    <p:attrName>style.visibility</p:attrName>
                                  </p:attrNameLst>
                                </p:cBhvr>
                                <p:to>
                                  <p:strVal val="visible"/>
                                </p:to>
                              </p:set>
                              <p:animEffect transition="in" filter="fade">
                                <p:cBhvr>
                                  <p:cTn id="1010" dur="700"/>
                                  <p:tgtEl>
                                    <p:spTgt spid="16"/>
                                  </p:tgtEl>
                                </p:cBhvr>
                              </p:animEffect>
                            </p:childTnLst>
                          </p:cTn>
                        </p:par>
                        <p:par>
                          <p:cTn id="1011" presetID="10" presetClass="entr" presetSubtype="0" fill="hold" grpId="0" nodeType="withEffect">
                            <p:stCondLst>
                              <p:cond delay="0"/>
                            </p:stCondLst>
                            <p:childTnLst>
                              <p:set>
                                <p:cBhvr>
                                  <p:cTn id="1012" dur="1" fill="hold">
                                    <p:stCondLst>
                                      <p:cond delay="0"/>
                                    </p:stCondLst>
                                  </p:cTn>
                                  <p:tgtEl>
                                    <p:spTgt spid="17"/>
                                  </p:tgtEl>
                                  <p:attrNameLst>
                                    <p:attrName>style.visibility</p:attrName>
                                  </p:attrNameLst>
                                </p:cBhvr>
                                <p:to>
                                  <p:strVal val="visible"/>
                                </p:to>
                              </p:set>
                              <p:animEffect transition="in" filter="fade">
                                <p:cBhvr>
                                  <p:cTn id="1013" dur="700"/>
                                  <p:tgtEl>
                                    <p:spTgt spid="17"/>
                                  </p:tgtEl>
                                </p:cBhvr>
                              </p:animEffect>
                            </p:childTnLst>
                          </p:cTn>
                        </p:par>
                        <p:par>
                          <p:cTn id="1014" presetID="10" presetClass="entr" presetSubtype="0" fill="hold" grpId="0" nodeType="withEffect">
                            <p:stCondLst>
                              <p:cond delay="0"/>
                            </p:stCondLst>
                            <p:childTnLst>
                              <p:set>
                                <p:cBhvr>
                                  <p:cTn id="1015" dur="1" fill="hold">
                                    <p:stCondLst>
                                      <p:cond delay="0"/>
                                    </p:stCondLst>
                                  </p:cTn>
                                  <p:tgtEl>
                                    <p:spTgt spid="18"/>
                                  </p:tgtEl>
                                  <p:attrNameLst>
                                    <p:attrName>style.visibility</p:attrName>
                                  </p:attrNameLst>
                                </p:cBhvr>
                                <p:to>
                                  <p:strVal val="visible"/>
                                </p:to>
                              </p:set>
                              <p:animEffect transition="in" filter="fade">
                                <p:cBhvr>
                                  <p:cTn id="1016" dur="700"/>
                                  <p:tgtEl>
                                    <p:spTgt spid="18"/>
                                  </p:tgtEl>
                                </p:cBhvr>
                              </p:animEffect>
                            </p:childTnLst>
                          </p:cTn>
                        </p:par>
                        <p:par>
                          <p:cTn id="1017" presetID="10" presetClass="entr" presetSubtype="0" fill="hold" grpId="0" nodeType="withEffect">
                            <p:stCondLst>
                              <p:cond delay="0"/>
                            </p:stCondLst>
                            <p:childTnLst>
                              <p:set>
                                <p:cBhvr>
                                  <p:cTn id="1018" dur="1" fill="hold">
                                    <p:stCondLst>
                                      <p:cond delay="0"/>
                                    </p:stCondLst>
                                  </p:cTn>
                                  <p:tgtEl>
                                    <p:spTgt spid="19"/>
                                  </p:tgtEl>
                                  <p:attrNameLst>
                                    <p:attrName>style.visibility</p:attrName>
                                  </p:attrNameLst>
                                </p:cBhvr>
                                <p:to>
                                  <p:strVal val="visible"/>
                                </p:to>
                              </p:set>
                              <p:animEffect transition="in" filter="fade">
                                <p:cBhvr>
                                  <p:cTn id="1019" dur="700"/>
                                  <p:tgtEl>
                                    <p:spTgt spid="19"/>
                                  </p:tgtEl>
                                </p:cBhvr>
                              </p:animEffect>
                            </p:childTnLst>
                          </p:cTn>
                        </p:par>
                        <p:par>
                          <p:cTn id="1020" presetID="10" presetClass="entr" presetSubtype="0" fill="hold" grpId="0" nodeType="withEffect">
                            <p:stCondLst>
                              <p:cond delay="0"/>
                            </p:stCondLst>
                            <p:childTnLst>
                              <p:set>
                                <p:cBhvr>
                                  <p:cTn id="1021" dur="1" fill="hold">
                                    <p:stCondLst>
                                      <p:cond delay="0"/>
                                    </p:stCondLst>
                                  </p:cTn>
                                  <p:tgtEl>
                                    <p:spTgt spid="20"/>
                                  </p:tgtEl>
                                  <p:attrNameLst>
                                    <p:attrName>style.visibility</p:attrName>
                                  </p:attrNameLst>
                                </p:cBhvr>
                                <p:to>
                                  <p:strVal val="visible"/>
                                </p:to>
                              </p:set>
                              <p:animEffect transition="in" filter="fade">
                                <p:cBhvr>
                                  <p:cTn id="1022" dur="700"/>
                                  <p:tgtEl>
                                    <p:spTgt spid="20"/>
                                  </p:tgtEl>
                                </p:cBhvr>
                              </p:animEffect>
                            </p:childTnLst>
                          </p:cTn>
                        </p:par>
                        <p:par>
                          <p:cTn id="1023" presetID="10" presetClass="entr" presetSubtype="0" fill="hold" grpId="0" nodeType="withEffect">
                            <p:stCondLst>
                              <p:cond delay="0"/>
                            </p:stCondLst>
                            <p:childTnLst>
                              <p:set>
                                <p:cBhvr>
                                  <p:cTn id="1024" dur="1" fill="hold">
                                    <p:stCondLst>
                                      <p:cond delay="0"/>
                                    </p:stCondLst>
                                  </p:cTn>
                                  <p:tgtEl>
                                    <p:spTgt spid="21"/>
                                  </p:tgtEl>
                                  <p:attrNameLst>
                                    <p:attrName>style.visibility</p:attrName>
                                  </p:attrNameLst>
                                </p:cBhvr>
                                <p:to>
                                  <p:strVal val="visible"/>
                                </p:to>
                              </p:set>
                              <p:animEffect transition="in" filter="fade">
                                <p:cBhvr>
                                  <p:cTn id="1025" dur="700"/>
                                  <p:tgtEl>
                                    <p:spTgt spid="21"/>
                                  </p:tgtEl>
                                </p:cBhvr>
                              </p:animEffect>
                            </p:childTnLst>
                          </p:cTn>
                        </p:par>
                        <p:par>
                          <p:cTn id="1026" presetID="10" presetClass="entr" presetSubtype="0" fill="hold" grpId="0" nodeType="withEffect">
                            <p:stCondLst>
                              <p:cond delay="0"/>
                            </p:stCondLst>
                            <p:childTnLst>
                              <p:set>
                                <p:cBhvr>
                                  <p:cTn id="1027" dur="1" fill="hold">
                                    <p:stCondLst>
                                      <p:cond delay="0"/>
                                    </p:stCondLst>
                                  </p:cTn>
                                  <p:tgtEl>
                                    <p:spTgt spid="22"/>
                                  </p:tgtEl>
                                  <p:attrNameLst>
                                    <p:attrName>style.visibility</p:attrName>
                                  </p:attrNameLst>
                                </p:cBhvr>
                                <p:to>
                                  <p:strVal val="visible"/>
                                </p:to>
                              </p:set>
                              <p:animEffect transition="in" filter="fade">
                                <p:cBhvr>
                                  <p:cTn id="1028" dur="700"/>
                                  <p:tgtEl>
                                    <p:spTgt spid="22"/>
                                  </p:tgtEl>
                                </p:cBhvr>
                              </p:animEffect>
                            </p:childTnLst>
                          </p:cTn>
                        </p:par>
                        <p:par>
                          <p:cTn id="1029" presetID="10" presetClass="entr" presetSubtype="0" fill="hold" grpId="0" nodeType="withEffect">
                            <p:stCondLst>
                              <p:cond delay="0"/>
                            </p:stCondLst>
                            <p:childTnLst>
                              <p:set>
                                <p:cBhvr>
                                  <p:cTn id="1030" dur="1" fill="hold">
                                    <p:stCondLst>
                                      <p:cond delay="0"/>
                                    </p:stCondLst>
                                  </p:cTn>
                                  <p:tgtEl>
                                    <p:spTgt spid="23"/>
                                  </p:tgtEl>
                                  <p:attrNameLst>
                                    <p:attrName>style.visibility</p:attrName>
                                  </p:attrNameLst>
                                </p:cBhvr>
                                <p:to>
                                  <p:strVal val="visible"/>
                                </p:to>
                              </p:set>
                              <p:animEffect transition="in" filter="fade">
                                <p:cBhvr>
                                  <p:cTn id="1031" dur="700"/>
                                  <p:tgtEl>
                                    <p:spTgt spid="23"/>
                                  </p:tgtEl>
                                </p:cBhvr>
                              </p:animEffect>
                            </p:childTnLst>
                          </p:cTn>
                        </p:par>
                        <p:par>
                          <p:cTn id="1032" presetID="10" presetClass="entr" presetSubtype="0" fill="hold" grpId="0" nodeType="withEffect">
                            <p:stCondLst>
                              <p:cond delay="0"/>
                            </p:stCondLst>
                            <p:childTnLst>
                              <p:set>
                                <p:cBhvr>
                                  <p:cTn id="1033" dur="1" fill="hold">
                                    <p:stCondLst>
                                      <p:cond delay="0"/>
                                    </p:stCondLst>
                                  </p:cTn>
                                  <p:tgtEl>
                                    <p:spTgt spid="24"/>
                                  </p:tgtEl>
                                  <p:attrNameLst>
                                    <p:attrName>style.visibility</p:attrName>
                                  </p:attrNameLst>
                                </p:cBhvr>
                                <p:to>
                                  <p:strVal val="visible"/>
                                </p:to>
                              </p:set>
                              <p:animEffect transition="in" filter="fade">
                                <p:cBhvr>
                                  <p:cTn id="1034" dur="700"/>
                                  <p:tgtEl>
                                    <p:spTgt spid="24"/>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Phát triển mối quan hệ hòa đồng, hợp tác với thầy cô và bạn bè (bản sáng)</dc:title>
  <dc:subject>Hoạt động trải nghiệm, hướng nghiệp</dc:subject>
  <dc:creator>Học sinh trình bày – HĐTN THCS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vi-VN</dc:language>
</cp:coreProperties>
</file>